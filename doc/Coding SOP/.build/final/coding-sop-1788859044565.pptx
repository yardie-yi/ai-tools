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55f88b215340f7" /><Relationship Type="http://schemas.openxmlformats.org/officeDocument/2006/relationships/extended-properties" Target="/docProps/app.xml" Id="R3746fabfe64246d0" /><Relationship Type="http://schemas.openxmlformats.org/officeDocument/2006/relationships/officeDocument" Target="/ppt/presentation.xml" Id="R2bc164b7973042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052a8262724207"/>
  </p:sldMasterIdLst>
  <p:notesMasterIdLst>
    <p:notesMasterId xmlns:r="http://schemas.openxmlformats.org/officeDocument/2006/relationships" r:id="Rd09675465c3c40eb"/>
  </p:notesMasterIdLst>
  <p:sldIdLst>
    <p:sldId xmlns:r="http://schemas.openxmlformats.org/officeDocument/2006/relationships" id="256" r:id="R5972ffec95544f1d"/>
    <p:sldId xmlns:r="http://schemas.openxmlformats.org/officeDocument/2006/relationships" id="257" r:id="Ra94f233c3a2a494b"/>
    <p:sldId xmlns:r="http://schemas.openxmlformats.org/officeDocument/2006/relationships" id="258" r:id="Rb72a4d0e0cf64788"/>
    <p:sldId xmlns:r="http://schemas.openxmlformats.org/officeDocument/2006/relationships" id="259" r:id="Rd6581db3b9b5440b"/>
    <p:sldId xmlns:r="http://schemas.openxmlformats.org/officeDocument/2006/relationships" id="260" r:id="Rf09fba88c94b436d"/>
    <p:sldId xmlns:r="http://schemas.openxmlformats.org/officeDocument/2006/relationships" id="261" r:id="Rc7ea94acf5bb4637"/>
    <p:sldId xmlns:r="http://schemas.openxmlformats.org/officeDocument/2006/relationships" id="262" r:id="R2838c66c2edc45ef"/>
    <p:sldId xmlns:r="http://schemas.openxmlformats.org/officeDocument/2006/relationships" id="263" r:id="Rcdc2b09abff445b6"/>
    <p:sldId xmlns:r="http://schemas.openxmlformats.org/officeDocument/2006/relationships" id="264" r:id="R08eb927cfa9e4f01"/>
    <p:sldId xmlns:r="http://schemas.openxmlformats.org/officeDocument/2006/relationships" id="265" r:id="R9fd81a152161447b"/>
    <p:sldId xmlns:r="http://schemas.openxmlformats.org/officeDocument/2006/relationships" id="266" r:id="R7c1018f905ae488d"/>
    <p:sldId xmlns:r="http://schemas.openxmlformats.org/officeDocument/2006/relationships" id="267" r:id="R8a77ad68b00e4a5b"/>
    <p:sldId xmlns:r="http://schemas.openxmlformats.org/officeDocument/2006/relationships" id="268" r:id="Rf89bca59f40b4a1c"/>
    <p:sldId xmlns:r="http://schemas.openxmlformats.org/officeDocument/2006/relationships" id="269" r:id="Rd4fb5915c2d74b9e"/>
    <p:sldId xmlns:r="http://schemas.openxmlformats.org/officeDocument/2006/relationships" id="270" r:id="R309e6031a7134bb5"/>
    <p:sldId xmlns:r="http://schemas.openxmlformats.org/officeDocument/2006/relationships" id="271" r:id="R5bdecc9aeebd4dad"/>
    <p:sldId xmlns:r="http://schemas.openxmlformats.org/officeDocument/2006/relationships" id="272" r:id="R86f80b49ee5e4013"/>
    <p:sldId xmlns:r="http://schemas.openxmlformats.org/officeDocument/2006/relationships" id="273" r:id="R6df73e6372344aca"/>
    <p:sldId xmlns:r="http://schemas.openxmlformats.org/officeDocument/2006/relationships" id="274" r:id="Rf9e3d207fd6044a3"/>
    <p:sldId xmlns:r="http://schemas.openxmlformats.org/officeDocument/2006/relationships" id="275" r:id="R4474b82be533467e"/>
    <p:sldId xmlns:r="http://schemas.openxmlformats.org/officeDocument/2006/relationships" id="276" r:id="R0dd42c69c136426e"/>
    <p:sldId xmlns:r="http://schemas.openxmlformats.org/officeDocument/2006/relationships" id="277" r:id="Rc22b82de544c48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bad292a578447d" /><Relationship Type="http://schemas.openxmlformats.org/officeDocument/2006/relationships/slideMaster" Target="/ppt/slideMasters/slideMaster1.xml" Id="R2b052a8262724207" /><Relationship Type="http://schemas.openxmlformats.org/officeDocument/2006/relationships/notesMaster" Target="/ppt/notesMasters/notesMaster1.xml" Id="Rd09675465c3c40eb" /><Relationship Type="http://schemas.openxmlformats.org/officeDocument/2006/relationships/presProps" Target="/ppt/presProps.xml" Id="R74df7a4bbb0c482a" /><Relationship Type="http://schemas.openxmlformats.org/officeDocument/2006/relationships/tableStyles" Target="/ppt/tableStyles.xml" Id="Rc00fd012c04342d2" /><Relationship Type="http://schemas.openxmlformats.org/officeDocument/2006/relationships/slide" Target="/ppt/slides/slide1.xml" Id="R5972ffec95544f1d" /><Relationship Type="http://schemas.openxmlformats.org/officeDocument/2006/relationships/slide" Target="/ppt/slides/slide2.xml" Id="Ra94f233c3a2a494b" /><Relationship Type="http://schemas.openxmlformats.org/officeDocument/2006/relationships/slide" Target="/ppt/slides/slide3.xml" Id="Rb72a4d0e0cf64788" /><Relationship Type="http://schemas.openxmlformats.org/officeDocument/2006/relationships/slide" Target="/ppt/slides/slide4.xml" Id="Rd6581db3b9b5440b" /><Relationship Type="http://schemas.openxmlformats.org/officeDocument/2006/relationships/slide" Target="/ppt/slides/slide5.xml" Id="Rf09fba88c94b436d" /><Relationship Type="http://schemas.openxmlformats.org/officeDocument/2006/relationships/slide" Target="/ppt/slides/slide6.xml" Id="Rc7ea94acf5bb4637" /><Relationship Type="http://schemas.openxmlformats.org/officeDocument/2006/relationships/slide" Target="/ppt/slides/slide7.xml" Id="R2838c66c2edc45ef" /><Relationship Type="http://schemas.openxmlformats.org/officeDocument/2006/relationships/slide" Target="/ppt/slides/slide8.xml" Id="Rcdc2b09abff445b6" /><Relationship Type="http://schemas.openxmlformats.org/officeDocument/2006/relationships/slide" Target="/ppt/slides/slide9.xml" Id="R08eb927cfa9e4f01" /><Relationship Type="http://schemas.openxmlformats.org/officeDocument/2006/relationships/slide" Target="/ppt/slides/slide10.xml" Id="R9fd81a152161447b" /><Relationship Type="http://schemas.openxmlformats.org/officeDocument/2006/relationships/slide" Target="/ppt/slides/slide11.xml" Id="R7c1018f905ae488d" /><Relationship Type="http://schemas.openxmlformats.org/officeDocument/2006/relationships/slide" Target="/ppt/slides/slide12.xml" Id="R8a77ad68b00e4a5b" /><Relationship Type="http://schemas.openxmlformats.org/officeDocument/2006/relationships/slide" Target="/ppt/slides/slide13.xml" Id="Rf89bca59f40b4a1c" /><Relationship Type="http://schemas.openxmlformats.org/officeDocument/2006/relationships/slide" Target="/ppt/slides/slide14.xml" Id="Rd4fb5915c2d74b9e" /><Relationship Type="http://schemas.openxmlformats.org/officeDocument/2006/relationships/slide" Target="/ppt/slides/slide15.xml" Id="R309e6031a7134bb5" /><Relationship Type="http://schemas.openxmlformats.org/officeDocument/2006/relationships/slide" Target="/ppt/slides/slide16.xml" Id="R5bdecc9aeebd4dad" /><Relationship Type="http://schemas.openxmlformats.org/officeDocument/2006/relationships/slide" Target="/ppt/slides/slide17.xml" Id="R86f80b49ee5e4013" /><Relationship Type="http://schemas.openxmlformats.org/officeDocument/2006/relationships/slide" Target="/ppt/slides/slide18.xml" Id="R6df73e6372344aca" /><Relationship Type="http://schemas.openxmlformats.org/officeDocument/2006/relationships/slide" Target="/ppt/slides/slide19.xml" Id="Rf9e3d207fd6044a3" /><Relationship Type="http://schemas.openxmlformats.org/officeDocument/2006/relationships/slide" Target="/ppt/slides/slide20.xml" Id="R4474b82be533467e" /><Relationship Type="http://schemas.openxmlformats.org/officeDocument/2006/relationships/slide" Target="/ppt/slides/slide21.xml" Id="R0dd42c69c136426e" /><Relationship Type="http://schemas.openxmlformats.org/officeDocument/2006/relationships/slide" Target="/ppt/slides/slide22.xml" Id="Rc22b82de544c48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627143f10b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8012eb2d7429c" /><Relationship Type="http://schemas.openxmlformats.org/officeDocument/2006/relationships/notesMaster" Target="/ppt/notesMasters/notesMaster1.xml" Id="R08eec6f5d283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173bc2cf8b4bed" /><Relationship Type="http://schemas.openxmlformats.org/officeDocument/2006/relationships/notesMaster" Target="/ppt/notesMasters/notesMaster1.xml" Id="R58490eb47d6c48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d427e0f6914209" /><Relationship Type="http://schemas.openxmlformats.org/officeDocument/2006/relationships/notesMaster" Target="/ppt/notesMasters/notesMaster1.xml" Id="R9b2e09744ebf40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fc9493750d446d" /><Relationship Type="http://schemas.openxmlformats.org/officeDocument/2006/relationships/notesMaster" Target="/ppt/notesMasters/notesMaster1.xml" Id="R07483bf7fc3744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16fb7d69a94a44" /><Relationship Type="http://schemas.openxmlformats.org/officeDocument/2006/relationships/notesMaster" Target="/ppt/notesMasters/notesMaster1.xml" Id="R0bbe1e485db64b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05c4ced3b8488c" /><Relationship Type="http://schemas.openxmlformats.org/officeDocument/2006/relationships/notesMaster" Target="/ppt/notesMasters/notesMaster1.xml" Id="R37e4278894da4c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7d81bcee44e15" /><Relationship Type="http://schemas.openxmlformats.org/officeDocument/2006/relationships/notesMaster" Target="/ppt/notesMasters/notesMaster1.xml" Id="R2153b3d2d78840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6dcd1d29324d72" /><Relationship Type="http://schemas.openxmlformats.org/officeDocument/2006/relationships/notesMaster" Target="/ppt/notesMasters/notesMaster1.xml" Id="Ra131e661c1a143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dc5141d2144c0e" /><Relationship Type="http://schemas.openxmlformats.org/officeDocument/2006/relationships/notesMaster" Target="/ppt/notesMasters/notesMaster1.xml" Id="Re0e8f049a41b4d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a24b3b56944962" /><Relationship Type="http://schemas.openxmlformats.org/officeDocument/2006/relationships/notesMaster" Target="/ppt/notesMasters/notesMaster1.xml" Id="R20c85f92932f4b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d650c2591e4d84" /><Relationship Type="http://schemas.openxmlformats.org/officeDocument/2006/relationships/notesMaster" Target="/ppt/notesMasters/notesMaster1.xml" Id="R2ce9fb8d181941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8eab2923464022" /><Relationship Type="http://schemas.openxmlformats.org/officeDocument/2006/relationships/notesMaster" Target="/ppt/notesMasters/notesMaster1.xml" Id="R4c9edb1138e941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7017b8627e4cc8" /><Relationship Type="http://schemas.openxmlformats.org/officeDocument/2006/relationships/notesMaster" Target="/ppt/notesMasters/notesMaster1.xml" Id="Rf0ddefe8a0a142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c245e7ef394375" /><Relationship Type="http://schemas.openxmlformats.org/officeDocument/2006/relationships/notesMaster" Target="/ppt/notesMasters/notesMaster1.xml" Id="R85cc074607434e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3529f40a664b10" /><Relationship Type="http://schemas.openxmlformats.org/officeDocument/2006/relationships/notesMaster" Target="/ppt/notesMasters/notesMaster1.xml" Id="Rfb537d70a91141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3d6020c7584f8f" /><Relationship Type="http://schemas.openxmlformats.org/officeDocument/2006/relationships/notesMaster" Target="/ppt/notesMasters/notesMaster1.xml" Id="Rd2e9a8e3206440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d0fd5cf35741fd" /><Relationship Type="http://schemas.openxmlformats.org/officeDocument/2006/relationships/notesMaster" Target="/ppt/notesMasters/notesMaster1.xml" Id="R8c451b4fb4b846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fbeac3cbc54879" /><Relationship Type="http://schemas.openxmlformats.org/officeDocument/2006/relationships/notesMaster" Target="/ppt/notesMasters/notesMaster1.xml" Id="Rc0491e8b732c47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4b3f03ff374065" /><Relationship Type="http://schemas.openxmlformats.org/officeDocument/2006/relationships/notesMaster" Target="/ppt/notesMasters/notesMaster1.xml" Id="Rc47fdf7b71fe4d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69f590af584b15" /><Relationship Type="http://schemas.openxmlformats.org/officeDocument/2006/relationships/notesMaster" Target="/ppt/notesMasters/notesMaster1.xml" Id="R525e45659a5143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0f1e903c0c403b" /><Relationship Type="http://schemas.openxmlformats.org/officeDocument/2006/relationships/notesMaster" Target="/ppt/notesMasters/notesMaster1.xml" Id="R70d2d9cd06f140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f4d430088c480d" /><Relationship Type="http://schemas.openxmlformats.org/officeDocument/2006/relationships/notesMaster" Target="/ppt/notesMasters/notesMaster1.xml" Id="R823e74c2d35b4a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 25–35 分钟。先介绍轻量规则与关键门控，再讲完整流程，最后用 UART 接收队列案例串联。本材料的嵌入式案例、参数和任务编号均为教学设计，没有对应的真实项目测试结果。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SOP 是标准操作流程。AI 可以执行阅读、实现、运行检查和审查等工作；开发者仍需确定系统边界和工程取舍。一个任务的完成要依据验收证据，不能只依据 Agent 声称完成。流程需要与风险匹配，简单任务减少步骤，复杂任务保留清晰的阶段边界。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量流程指令会占用上下文并增加维护成本，因此项目规则应简洁、明确且适用。但规则精简不意味着删除系统约束、必要验证或人工确认。工具名可以更换，需求对齐、产物可检查、验证和最终把关仍构成工作链路。这里不对工具价格或模型能力作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对齐可使用 grill-me 或 grill-with-docs。to-spec 将结果形成规格，人工确认后才进入拆分。to-tickets 生成垂直切片和依赖关系。implement 可由每个 ticket 对应的执行者在隔离工作目录中完成，内部执行 TDD 和代码审查。所有切片集成后还需 PR 级审查和人工 CR。这些是工作流中的 skill 名称，不是通用 Shell 命令。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文件改动并不自动属于低风险。一个中断处理函数、内存边界或公共协议字段，即使只改一行，也可能需要完整流程。轻流程适合边界清楚、局部、验证成本低的任务。两种流程都保留实现前方案确认以及实现后的测试。实际执行遵循项目已建立的授权约定，避免对同一已确认范围反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不要把可能原因当成已知事实。先描述触发场景、期待行为、实际行为和约束，再让 Agent 列出缺失信息。grill-with-docs 可在对齐过程中记录 ADR 和术语表，避免多轮对话中术语变化或决策丢失。ADR 是架构决策记录，应包含选项、选择原因以及适用边界。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 需要既描述要做什么，也描述如何判定完成。人工评审重点是需求是否正确、限制是否合理、关键取舍是否可接受、测试是否覆盖关键失败模式。模糊的“更稳定”“性能更好”不能直接作为验收标准；若缺参数，应指定参数的确定方式，而不是让 Agent 自行编造。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垂直切片应跨越完成某个行为所需的实现与测试，而不是把所有头文件、所有实现、所有测试分别分给三个 Agent。独立交付指切片有明确行为和验收价值；存在依赖时仍需等待上游满足。若多个 ticket 不断修改同一接口，应先稳定契约或串行执行。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下面是教学依赖图。A 先建立观测与计数行为，B 在其基础上处理满队列策略，C 使用可观测接口组织回放。B 和 C 可并行的前提是接口稳定且文件责任不冲突；否则继续拆分或串行。D 需要在整合版本上执行。worktree 只隔离文件与分支状态，不能消除逻辑依赖。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协调者负责派发、依赖状态和集成。执行者只领取本 ticket 必要的上下文，包括确认的 Spec、接口契约、允许修改的文件、相关代码和验收条件。worktree 不是权限沙箱；环境变量、外部服务、共享输出目录和设备仍可能发生冲突。集成必须基于明确版本重新运行检查。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 需要因缺少目标行为而失败，环境报错不算有效 RED。GREEN 用最小实现满足测试，然后在验证保护下整理代码。代码审查发现问题后，必要时增加失败用例并修复。测试是否足够需要结合变更风险判断。对无法在主机模拟的中断和 DMA 时序，必须保留目标板验证项。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所有函数均为概念伪代码。预算可以是时间、迭代次数或连续失败上限，由项目定义。环境阻塞必须报告，不能把未执行测试当成通过。这里将本地审查通过定义为切片就绪，后续仍需集成和人工审查。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查新增代码时先问是否真的需要该逻辑，再检查已有实现和标准库。避免只会增加阅读负担的包装、没有实际扩展需求的接口和重复的防御逻辑。但是，对于硬件输入、协议数据、内存边界、错误返回值的必要检查不能因为追求短 diff 而删除。注释应解释意图、契约、约束和失败处理。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Ensemble Review 指让不同模型交叉审查同一段改动。统一输入应包含当前 diff、已确认 Spec、必要周边代码和测试证据；减少实现过程中的自我辩解上下文。多个模型可能有共同盲区，意见数量不是正确性证据，也不能保证发现全部缺陷。每条意见应复核定位、触发条件、影响与可行修复。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局部 ticket 审查可能遗漏共享状态、接口语义和初始化顺序等跨切片问题。PR 级审查围绕整体 diff 与 Spec，确认集成行为和回归影响。人工 CR 是第二道门控，负责判断取舍、证据是否充分以及剩余风险是否可接受。合并、部署和发布按团队授权执行，不因本地测试通过而自动视为已发布。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同时打开更多 Agent 会提高代码进入审查队列的速度，但不必然提高交付速度。应观察待审数量、等待时长和人工处理能力，根据队列积压调整并发。给每个交付包提供需求映射、测试结果和已归并的意见，可以减少人工阅读重复内容的时间。这里只给出定性控制原则，不提供未经测量的固定并发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假设在持续 UART 输入和高负载任务并存时，接收队列达到容量上限。第一步仍是确认这是否为真实设备行为。本案例用来演示需求、切片和验证的组织方法，不能作为驱动根因结论。候选原因包括消费者处理不及时、输入突发或交接错误，均需用可区分原因的证据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验收是教学设计。满队列时采用何种策略必须由实际产品需求决定，丢新数据、丢旧数据、流控或背压并非普遍可互换。若产品要求无损，则必须重新设计吞吐与流控，不能直接选择丢弃。时间上限、压力持续时间和输入速率在板型、测量条件确认后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这是抽象行为示例，不是可直接用于 FreeRTOS 的代码。真实实现要选择 ISR 安全的接口，正确配置中断优先级、调度通知、内存可见性以及缓冲区生命周期。统计加法的并发安全和溢出处理也需要设计。无板端测量时不能声称满足中断执行预算。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交付包可以采用如下目录职责。真实目录名称和命令依据项目决定。测试记录需要包含版本、工具链、配置、命令、结果和日志位置。主机测试通过仅说明对应逻辑在主机环境满足测试，不能覆盖实际中断、DMA 和硬件时序。没有运行过的验证一律保持未执行状态。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可用这张表进行任务复盘。不断改错方向常对应边界不明确；多个 Agent 同时改接口说明依赖或责任未分清；测试全绿但集成失败说明验收层次不足；review 意见太多需要归并与证据复核。不能仅通过继续增加提示词和并发来处理这些问题。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建议从一个可复现的局部任务开始，定义适合团队的任务模板和验收记录。首次运行可由一个主 Agent 完成，不必为了流程形式增加并行。只有当切片独立且审查容量允许时再并行。复盘时记录返工位置、未解决风险和审查等待情况，再决定精简或增加什么约束。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fcb33aedd4b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d5c61a8194197" /><Relationship Type="http://schemas.openxmlformats.org/officeDocument/2006/relationships/slideLayout" Target="/ppt/slideLayouts/slideLayout1.xml" Id="Ra758f357a331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8f357a331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d00b66dbd475e" /><Relationship Type="http://schemas.openxmlformats.org/officeDocument/2006/relationships/image" Target="/ppt/media/image.png" Id="Rce91ea90bf194bae" /><Relationship Type="http://schemas.openxmlformats.org/officeDocument/2006/relationships/notesSlide" Target="/ppt/notesSlides/notesSlide1.xml" Id="Rfa248b2192ee43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c73677bd34ebf" /><Relationship Type="http://schemas.openxmlformats.org/officeDocument/2006/relationships/notesSlide" Target="/ppt/notesSlides/notesSlide2.xml" Id="R4b4b942b40b846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9c77783fc4892" /><Relationship Type="http://schemas.openxmlformats.org/officeDocument/2006/relationships/notesSlide" Target="/ppt/notesSlides/notesSlide3.xml" Id="Raf3eee284e3248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60059e15648ce" /><Relationship Type="http://schemas.openxmlformats.org/officeDocument/2006/relationships/notesSlide" Target="/ppt/notesSlides/notesSlide4.xml" Id="R6afbefad40dd40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137cd3c024b2d" /><Relationship Type="http://schemas.openxmlformats.org/officeDocument/2006/relationships/notesSlide" Target="/ppt/notesSlides/notesSlide5.xml" Id="R5a051d2a51534a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ef4bea32d47fd" /><Relationship Type="http://schemas.openxmlformats.org/officeDocument/2006/relationships/notesSlide" Target="/ppt/notesSlides/notesSlide6.xml" Id="R6b4b28076cb8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471191fd3439d" /><Relationship Type="http://schemas.openxmlformats.org/officeDocument/2006/relationships/notesSlide" Target="/ppt/notesSlides/notesSlide7.xml" Id="R3ccae0a35d4747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a44d70f7c46c6" /><Relationship Type="http://schemas.openxmlformats.org/officeDocument/2006/relationships/notesSlide" Target="/ppt/notesSlides/notesSlide8.xml" Id="R508de98c3e8d46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6fc31a27249bc" /><Relationship Type="http://schemas.openxmlformats.org/officeDocument/2006/relationships/notesSlide" Target="/ppt/notesSlides/notesSlide9.xml" Id="R7d5a9f00809a4d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1451b82e6412c" /><Relationship Type="http://schemas.openxmlformats.org/officeDocument/2006/relationships/notesSlide" Target="/ppt/notesSlides/notesSlide10.xml" Id="R0399443f679948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b25707dd4c4b" /><Relationship Type="http://schemas.openxmlformats.org/officeDocument/2006/relationships/notesSlide" Target="/ppt/notesSlides/notesSlide11.xml" Id="Ra8a6b9d83c0e46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b60a31f744e8e" /><Relationship Type="http://schemas.openxmlformats.org/officeDocument/2006/relationships/notesSlide" Target="/ppt/notesSlides/notesSlide12.xml" Id="R20fa1a68104743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fed7f66f647a5" /><Relationship Type="http://schemas.openxmlformats.org/officeDocument/2006/relationships/notesSlide" Target="/ppt/notesSlides/notesSlide13.xml" Id="R8ced56cf768c48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5869ebe274c7e" /><Relationship Type="http://schemas.openxmlformats.org/officeDocument/2006/relationships/notesSlide" Target="/ppt/notesSlides/notesSlide14.xml" Id="Rf8000a2fda684b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7dfc242df43f5" /><Relationship Type="http://schemas.openxmlformats.org/officeDocument/2006/relationships/notesSlide" Target="/ppt/notesSlides/notesSlide15.xml" Id="Re1821c94d3fe45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5253241ee4fc1" /><Relationship Type="http://schemas.openxmlformats.org/officeDocument/2006/relationships/notesSlide" Target="/ppt/notesSlides/notesSlide16.xml" Id="R2c9d374d151346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b3e68c74c4131" /><Relationship Type="http://schemas.openxmlformats.org/officeDocument/2006/relationships/notesSlide" Target="/ppt/notesSlides/notesSlide17.xml" Id="R3cc86836ee8842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b89847e5644b5" /><Relationship Type="http://schemas.openxmlformats.org/officeDocument/2006/relationships/notesSlide" Target="/ppt/notesSlides/notesSlide18.xml" Id="Ra4c504c057c346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ba008198b4751" /><Relationship Type="http://schemas.openxmlformats.org/officeDocument/2006/relationships/notesSlide" Target="/ppt/notesSlides/notesSlide19.xml" Id="Rdaf62d201b3a45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a4c4b990f461e" /><Relationship Type="http://schemas.openxmlformats.org/officeDocument/2006/relationships/notesSlide" Target="/ppt/notesSlides/notesSlide20.xml" Id="Rb6f7cac95af847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1d35276344f1" /><Relationship Type="http://schemas.openxmlformats.org/officeDocument/2006/relationships/notesSlide" Target="/ppt/notesSlides/notesSlide21.xml" Id="R84e8434651c046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c8a140d444cfa" /><Relationship Type="http://schemas.openxmlformats.org/officeDocument/2006/relationships/notesSlide" Target="/ppt/notesSlides/notesSlide22.xml" Id="R2352a5a923904a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1ea90bf194bae"/>
          <a:stretch xmlns:a="http://schemas.openxmlformats.org/drawingml/2006/main"/>
        </p:blipFill>
        <p:spPr>
          <a:xfrm xmlns:a="http://schemas.openxmlformats.org/drawingml/2006/main">
            <a:off x="4667250" y="1130300"/>
            <a:ext cx="7524750" cy="5016500"/>
          </a:xfrm>
          <a:prstGeom xmlns:a="http://schemas.openxmlformats.org/drawingml/2006/main" prst="rect">
            <a:avLst/>
          </a:prstGeom>
        </p:spPr>
      </p:pic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50F06BBA-D75E-4141-BAFD-B911EA86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5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Coding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6CC195A4-A208-411D-B22E-017C5F7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667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FA87949-D8F2-4529-8BB3-99E03DD7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672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AI 协作开发的标准工作流程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7D363510-32A9-49C8-B9AE-92EC6E46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958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需求对齐 · 任务拆分 · 验证与审查</a:t>
            </a:r>
          </a:p>
        </p:txBody>
      </p:sp>
    </p:spTree>
    <p:extLst>
      <p:ext uri="{BB962C8B-B14F-4D97-AF65-F5344CB8AC3E}">
        <p14:creationId xmlns:p14="http://schemas.microsoft.com/office/powerpoint/2010/main" val="1468519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xt-5">
            <a:extLst xmlns:a="http://schemas.openxmlformats.org/drawingml/2006/main">
              <a:ext uri="{FF2B5EF4-FFF2-40B4-BE49-F238E27FC236}">
                <a16:creationId xmlns:a16="http://schemas.microsoft.com/office/drawing/2014/main" id="{6B6BB487-12C9-446B-922F-ADC8E9CC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Coding SOP 的工作对象</a:t>
            </a:r>
          </a:p>
        </p:txBody>
      </p:sp>
      <p:sp>
        <p:nvSpPr>
          <p:cNvPr id="2" name="txt-6">
            <a:extLst xmlns:a="http://schemas.openxmlformats.org/drawingml/2006/main">
              <a:ext uri="{FF2B5EF4-FFF2-40B4-BE49-F238E27FC236}">
                <a16:creationId xmlns:a16="http://schemas.microsoft.com/office/drawing/2014/main" id="{79433F44-CECA-4685-AF93-9AAB9C5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把一次开发任务组织成有输入、有产物、有通过条件的过程</a:t>
            </a:r>
          </a:p>
        </p:txBody>
      </p:sp>
      <p:sp>
        <p:nvSpPr>
          <p:cNvPr id="3" name="txt-7">
            <a:extLst xmlns:a="http://schemas.openxmlformats.org/drawingml/2006/main">
              <a:ext uri="{FF2B5EF4-FFF2-40B4-BE49-F238E27FC236}">
                <a16:creationId xmlns:a16="http://schemas.microsoft.com/office/drawing/2014/main" id="{074A159B-6E91-4470-9A37-2FE52E17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xt-8">
            <a:extLst xmlns:a="http://schemas.openxmlformats.org/drawingml/2006/main">
              <a:ext uri="{FF2B5EF4-FFF2-40B4-BE49-F238E27FC236}">
                <a16:creationId xmlns:a16="http://schemas.microsoft.com/office/drawing/2014/main" id="{99BEC376-BED2-4FA9-9C95-C8CED22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完成标准：实现满足已确认的验收条件</a:t>
            </a:r>
          </a:p>
        </p:txBody>
      </p:sp>
      <p:sp>
        <p:nvSpPr>
          <p:cNvPr id="5" name="txt-9">
            <a:extLst xmlns:a="http://schemas.openxmlformats.org/drawingml/2006/main">
              <a:ext uri="{FF2B5EF4-FFF2-40B4-BE49-F238E27FC236}">
                <a16:creationId xmlns:a16="http://schemas.microsoft.com/office/drawing/2014/main" id="{C889CCA2-85D8-46B5-AA75-6C8DBE9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xt-10">
            <a:extLst xmlns:a="http://schemas.openxmlformats.org/drawingml/2006/main">
              <a:ext uri="{FF2B5EF4-FFF2-40B4-BE49-F238E27FC236}">
                <a16:creationId xmlns:a16="http://schemas.microsoft.com/office/drawing/2014/main" id="{97BE2D2E-188B-4BFC-B213-3A330C36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定义任务</a:t>
            </a:r>
          </a:p>
        </p:txBody>
      </p:sp>
      <p:sp>
        <p:nvSpPr>
          <p:cNvPr id="7" name="txt-11">
            <a:extLst xmlns:a="http://schemas.openxmlformats.org/drawingml/2006/main">
              <a:ext uri="{FF2B5EF4-FFF2-40B4-BE49-F238E27FC236}">
                <a16:creationId xmlns:a16="http://schemas.microsoft.com/office/drawing/2014/main" id="{3285E257-3C11-4164-84C3-30D2510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004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明确目标、范围、约束和不能改变的行为。</a:t>
            </a:r>
          </a:p>
        </p:txBody>
      </p:sp>
      <p:sp>
        <p:nvSpPr>
          <p:cNvPr id="8" name="txt-12">
            <a:extLst xmlns:a="http://schemas.openxmlformats.org/drawingml/2006/main">
              <a:ext uri="{FF2B5EF4-FFF2-40B4-BE49-F238E27FC236}">
                <a16:creationId xmlns:a16="http://schemas.microsoft.com/office/drawing/2014/main" id="{CC1158F1-2CE5-43CF-9A3A-7D612D0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xt-13">
            <a:extLst xmlns:a="http://schemas.openxmlformats.org/drawingml/2006/main">
              <a:ext uri="{FF2B5EF4-FFF2-40B4-BE49-F238E27FC236}">
                <a16:creationId xmlns:a16="http://schemas.microsoft.com/office/drawing/2014/main" id="{B2CD34BD-A175-46DA-B97C-35B1E413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组织执行</a:t>
            </a:r>
          </a:p>
        </p:txBody>
      </p:sp>
      <p:sp>
        <p:nvSpPr>
          <p:cNvPr id="10" name="txt-14">
            <a:extLst xmlns:a="http://schemas.openxmlformats.org/drawingml/2006/main">
              <a:ext uri="{FF2B5EF4-FFF2-40B4-BE49-F238E27FC236}">
                <a16:creationId xmlns:a16="http://schemas.microsoft.com/office/drawing/2014/main" id="{E3FDE44C-E3E8-4968-8365-F328AA63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7200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按可交付切片分工，用依赖关系决定执行顺序。</a:t>
            </a:r>
          </a:p>
        </p:txBody>
      </p:sp>
      <p:sp>
        <p:nvSpPr>
          <p:cNvPr id="11" name="txt-15">
            <a:extLst xmlns:a="http://schemas.openxmlformats.org/drawingml/2006/main">
              <a:ext uri="{FF2B5EF4-FFF2-40B4-BE49-F238E27FC236}">
                <a16:creationId xmlns:a16="http://schemas.microsoft.com/office/drawing/2014/main" id="{926002CA-DF82-4D96-BDD3-88FDB8A7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xt-16">
            <a:extLst xmlns:a="http://schemas.openxmlformats.org/drawingml/2006/main">
              <a:ext uri="{FF2B5EF4-FFF2-40B4-BE49-F238E27FC236}">
                <a16:creationId xmlns:a16="http://schemas.microsoft.com/office/drawing/2014/main" id="{F6BF8858-59E0-4D79-8C9B-0041A7F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核对结果</a:t>
            </a:r>
          </a:p>
        </p:txBody>
      </p:sp>
      <p:sp>
        <p:nvSpPr>
          <p:cNvPr id="13" name="txt-17">
            <a:extLst xmlns:a="http://schemas.openxmlformats.org/drawingml/2006/main">
              <a:ext uri="{FF2B5EF4-FFF2-40B4-BE49-F238E27FC236}">
                <a16:creationId xmlns:a16="http://schemas.microsoft.com/office/drawing/2014/main" id="{0687A14F-65C3-4E98-873B-4E977F65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5435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结合测试、差异审查与人工判断，确认交付边界。</a:t>
            </a:r>
          </a:p>
        </p:txBody>
      </p:sp>
    </p:spTree>
    <p:extLst>
      <p:ext uri="{BB962C8B-B14F-4D97-AF65-F5344CB8AC3E}">
        <p14:creationId xmlns:p14="http://schemas.microsoft.com/office/powerpoint/2010/main" val="1779757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xt-18">
            <a:extLst xmlns:a="http://schemas.openxmlformats.org/drawingml/2006/main">
              <a:ext uri="{FF2B5EF4-FFF2-40B4-BE49-F238E27FC236}">
                <a16:creationId xmlns:a16="http://schemas.microsoft.com/office/drawing/2014/main" id="{D0EEBF5B-B140-4B90-8B6E-7E030CE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轻量规则与关键门控</a:t>
            </a:r>
          </a:p>
        </p:txBody>
      </p:sp>
      <p:sp>
        <p:nvSpPr>
          <p:cNvPr id="2" name="txt-19">
            <a:extLst xmlns:a="http://schemas.openxmlformats.org/drawingml/2006/main">
              <a:ext uri="{FF2B5EF4-FFF2-40B4-BE49-F238E27FC236}">
                <a16:creationId xmlns:a16="http://schemas.microsoft.com/office/drawing/2014/main" id="{7518F1A5-5D62-4C13-BB52-E04BBEC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把上下文留给任务事实，把流程约束放在关键决策点</a:t>
            </a:r>
          </a:p>
        </p:txBody>
      </p:sp>
      <p:sp>
        <p:nvSpPr>
          <p:cNvPr id="3" name="txt-20">
            <a:extLst xmlns:a="http://schemas.openxmlformats.org/drawingml/2006/main">
              <a:ext uri="{FF2B5EF4-FFF2-40B4-BE49-F238E27FC236}">
                <a16:creationId xmlns:a16="http://schemas.microsoft.com/office/drawing/2014/main" id="{1ED81A75-6CB8-4919-A363-3CD3A52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xt-21">
            <a:extLst xmlns:a="http://schemas.openxmlformats.org/drawingml/2006/main">
              <a:ext uri="{FF2B5EF4-FFF2-40B4-BE49-F238E27FC236}">
                <a16:creationId xmlns:a16="http://schemas.microsoft.com/office/drawing/2014/main" id="{77DBC094-8EDB-40B2-9187-DC492B77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479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规则保持精简</a:t>
            </a:r>
          </a:p>
        </p:txBody>
      </p:sp>
      <p:sp>
        <p:nvSpPr>
          <p:cNvPr id="5" name="txt-22">
            <a:extLst xmlns:a="http://schemas.openxmlformats.org/drawingml/2006/main">
              <a:ext uri="{FF2B5EF4-FFF2-40B4-BE49-F238E27FC236}">
                <a16:creationId xmlns:a16="http://schemas.microsoft.com/office/drawing/2014/main" id="{5E49832C-3C6D-4967-88F0-48DFE0E3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5029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只加载当前任务需要的背景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优先复用已有接口和实现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删除重复说明与无意义抽象</a:t>
            </a:r>
          </a:p>
        </p:txBody>
      </p:sp>
      <p:sp>
        <p:nvSpPr>
          <p:cNvPr id="6" name="txt-23">
            <a:extLst xmlns:a="http://schemas.openxmlformats.org/drawingml/2006/main">
              <a:ext uri="{FF2B5EF4-FFF2-40B4-BE49-F238E27FC236}">
                <a16:creationId xmlns:a16="http://schemas.microsoft.com/office/drawing/2014/main" id="{6BD6C69E-F1BD-408B-8744-3B0EBA2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门控保持明确</a:t>
            </a:r>
          </a:p>
        </p:txBody>
      </p:sp>
      <p:sp>
        <p:nvSpPr>
          <p:cNvPr id="7" name="txt-24">
            <a:extLst xmlns:a="http://schemas.openxmlformats.org/drawingml/2006/main">
              <a:ext uri="{FF2B5EF4-FFF2-40B4-BE49-F238E27FC236}">
                <a16:creationId xmlns:a16="http://schemas.microsoft.com/office/drawing/2014/main" id="{761D3908-2257-4716-A1D3-8B2BFC5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76575"/>
            <a:ext cx="4953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实现前核对 Spec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实现后提供验证证据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交付前由人审查整体改动</a:t>
            </a:r>
          </a:p>
        </p:txBody>
      </p:sp>
      <p:sp>
        <p:nvSpPr>
          <p:cNvPr id="8" name="txt-25">
            <a:extLst xmlns:a="http://schemas.openxmlformats.org/drawingml/2006/main">
              <a:ext uri="{FF2B5EF4-FFF2-40B4-BE49-F238E27FC236}">
                <a16:creationId xmlns:a16="http://schemas.microsoft.com/office/drawing/2014/main" id="{B731AD77-FB46-48B5-BD21-B58661B1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工具按习惯选择；产物和通过条件需要在团队内保持一致。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649256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26">
            <a:extLst xmlns:a="http://schemas.openxmlformats.org/drawingml/2006/main">
              <a:ext uri="{FF2B5EF4-FFF2-40B4-BE49-F238E27FC236}">
                <a16:creationId xmlns:a16="http://schemas.microsoft.com/office/drawing/2014/main" id="{9234C0A1-7BE1-48B9-90D8-484E5AC3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完整 Coding SOP</a:t>
            </a:r>
          </a:p>
        </p:txBody>
      </p:sp>
      <p:sp>
        <p:nvSpPr>
          <p:cNvPr id="2" name="txt-27">
            <a:extLst xmlns:a="http://schemas.openxmlformats.org/drawingml/2006/main">
              <a:ext uri="{FF2B5EF4-FFF2-40B4-BE49-F238E27FC236}">
                <a16:creationId xmlns:a16="http://schemas.microsoft.com/office/drawing/2014/main" id="{AC7162B8-2597-441F-80A7-C892EE09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每个阶段都留下可供下一阶段使用的明确产物</a:t>
            </a:r>
          </a:p>
        </p:txBody>
      </p:sp>
      <p:sp>
        <p:nvSpPr>
          <p:cNvPr id="3" name="txt-28">
            <a:extLst xmlns:a="http://schemas.openxmlformats.org/drawingml/2006/main">
              <a:ext uri="{FF2B5EF4-FFF2-40B4-BE49-F238E27FC236}">
                <a16:creationId xmlns:a16="http://schemas.microsoft.com/office/drawing/2014/main" id="{1A43427B-B7E9-416E-B373-7F018E2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4591050"/>
                <a:gridCol w="4095750"/>
              </a:tblGrid>
              <a:tr h="60960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核心动作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 / 门控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0960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需求对齐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逐问澄清边界、约束和取舍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确定的问题定义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960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固化行为与验收标准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人工确认 ①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960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Tickets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按可交付行为垂直拆分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切片 + 依赖 DAG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960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Implement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隔离实现，执行 TDD 与审查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 + 验证证据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960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 与人工 CR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集成审查，再由人判断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人工确认 ②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738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xt-29">
            <a:extLst xmlns:a="http://schemas.openxmlformats.org/drawingml/2006/main">
              <a:ext uri="{FF2B5EF4-FFF2-40B4-BE49-F238E27FC236}">
                <a16:creationId xmlns:a16="http://schemas.microsoft.com/office/drawing/2014/main" id="{B4FB9ACA-CF48-4AD6-A010-07B3FCCE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轻流程与完整流程</a:t>
            </a:r>
          </a:p>
        </p:txBody>
      </p:sp>
      <p:sp>
        <p:nvSpPr>
          <p:cNvPr id="2" name="txt-30">
            <a:extLst xmlns:a="http://schemas.openxmlformats.org/drawingml/2006/main">
              <a:ext uri="{FF2B5EF4-FFF2-40B4-BE49-F238E27FC236}">
                <a16:creationId xmlns:a16="http://schemas.microsoft.com/office/drawing/2014/main" id="{A8A9F7B9-0E69-4660-BFF4-5A2268AB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按影响范围、边界确定性和验证成本选择</a:t>
            </a:r>
          </a:p>
        </p:txBody>
      </p:sp>
      <p:sp>
        <p:nvSpPr>
          <p:cNvPr id="3" name="txt-31">
            <a:extLst xmlns:a="http://schemas.openxmlformats.org/drawingml/2006/main">
              <a:ext uri="{FF2B5EF4-FFF2-40B4-BE49-F238E27FC236}">
                <a16:creationId xmlns:a16="http://schemas.microsoft.com/office/drawing/2014/main" id="{F210A253-822B-40A8-8B1A-A4BB09DB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00275"/>
                <a:gridCol w="4010025"/>
                <a:gridCol w="4762500"/>
              </a:tblGrid>
              <a:tr h="6572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轻流程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完整流程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572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任务边界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局部、明确、依赖少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跨模块或关键行为不确定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572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执行组织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 Agent 完成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 → tickets → 隔离执行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572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实现前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简短方案与确认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Spec 人工确认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572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实现后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相关测试 + 差异审查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切片测试 + 集成验证 + PR 审查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  <p:sp>
        <p:nvSpPr>
          <p:cNvPr id="5" name="txt-32">
            <a:extLst xmlns:a="http://schemas.openxmlformats.org/drawingml/2006/main">
              <a:ext uri="{FF2B5EF4-FFF2-40B4-BE49-F238E27FC236}">
                <a16:creationId xmlns:a16="http://schemas.microsoft.com/office/drawing/2014/main" id="{105E8EC3-8DE4-4AA5-8448-7130264B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rPr>
              <a:t>中断、并发、内存、协议兼容等关键改动，应按实际风险升级流程。</a:t>
            </a:r>
          </a:p>
        </p:txBody>
      </p:sp>
    </p:spTree>
    <p:extLst>
      <p:ext uri="{BB962C8B-B14F-4D97-AF65-F5344CB8AC3E}">
        <p14:creationId xmlns:p14="http://schemas.microsoft.com/office/powerpoint/2010/main" val="1101939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xt-33">
            <a:extLst xmlns:a="http://schemas.openxmlformats.org/drawingml/2006/main">
              <a:ext uri="{FF2B5EF4-FFF2-40B4-BE49-F238E27FC236}">
                <a16:creationId xmlns:a16="http://schemas.microsoft.com/office/drawing/2014/main" id="{C2CA6CFA-3C06-4FA6-9463-2A2803DF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需求对齐：把未知变成问题</a:t>
            </a:r>
          </a:p>
        </p:txBody>
      </p:sp>
      <p:sp>
        <p:nvSpPr>
          <p:cNvPr id="2" name="txt-34">
            <a:extLst xmlns:a="http://schemas.openxmlformats.org/drawingml/2006/main">
              <a:ext uri="{FF2B5EF4-FFF2-40B4-BE49-F238E27FC236}">
                <a16:creationId xmlns:a16="http://schemas.microsoft.com/office/drawing/2014/main" id="{24C2EC17-4D3A-4D03-80A9-74F12468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grill-me / grill-with-docs 用逐问方式补齐上下文</a:t>
            </a:r>
          </a:p>
        </p:txBody>
      </p:sp>
      <p:sp>
        <p:nvSpPr>
          <p:cNvPr id="3" name="txt-35">
            <a:extLst xmlns:a="http://schemas.openxmlformats.org/drawingml/2006/main">
              <a:ext uri="{FF2B5EF4-FFF2-40B4-BE49-F238E27FC236}">
                <a16:creationId xmlns:a16="http://schemas.microsoft.com/office/drawing/2014/main" id="{38D31006-A744-4C19-93B6-6E6DDF2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xt-36">
            <a:extLst xmlns:a="http://schemas.openxmlformats.org/drawingml/2006/main">
              <a:ext uri="{FF2B5EF4-FFF2-40B4-BE49-F238E27FC236}">
                <a16:creationId xmlns:a16="http://schemas.microsoft.com/office/drawing/2014/main" id="{55EF4212-6FD8-4416-9E44-785BB187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xt-37">
            <a:extLst xmlns:a="http://schemas.openxmlformats.org/drawingml/2006/main">
              <a:ext uri="{FF2B5EF4-FFF2-40B4-BE49-F238E27FC236}">
                <a16:creationId xmlns:a16="http://schemas.microsoft.com/office/drawing/2014/main" id="{0E5AA4C9-6E49-455F-96F7-EC6987D3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8597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现象与边界</a:t>
            </a:r>
          </a:p>
        </p:txBody>
      </p:sp>
      <p:sp>
        <p:nvSpPr>
          <p:cNvPr id="6" name="txt-38">
            <a:extLst xmlns:a="http://schemas.openxmlformats.org/drawingml/2006/main">
              <a:ext uri="{FF2B5EF4-FFF2-40B4-BE49-F238E27FC236}">
                <a16:creationId xmlns:a16="http://schemas.microsoft.com/office/drawing/2014/main" id="{2599291B-2617-4C35-8AF8-8137B0D2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2412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什么输入触发？期望是什么？哪些场景不受影响？</a:t>
            </a:r>
          </a:p>
        </p:txBody>
      </p:sp>
      <p:sp>
        <p:nvSpPr>
          <p:cNvPr id="7" name="txt-39">
            <a:extLst xmlns:a="http://schemas.openxmlformats.org/drawingml/2006/main">
              <a:ext uri="{FF2B5EF4-FFF2-40B4-BE49-F238E27FC236}">
                <a16:creationId xmlns:a16="http://schemas.microsoft.com/office/drawing/2014/main" id="{100D8E18-D17D-4A60-8C9B-FEC9473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xt-40">
            <a:extLst xmlns:a="http://schemas.openxmlformats.org/drawingml/2006/main">
              <a:ext uri="{FF2B5EF4-FFF2-40B4-BE49-F238E27FC236}">
                <a16:creationId xmlns:a16="http://schemas.microsoft.com/office/drawing/2014/main" id="{C4EA3D60-ADDC-4950-A9B1-9E994E5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289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系统约束</a:t>
            </a:r>
          </a:p>
        </p:txBody>
      </p:sp>
      <p:sp>
        <p:nvSpPr>
          <p:cNvPr id="9" name="txt-41">
            <a:extLst xmlns:a="http://schemas.openxmlformats.org/drawingml/2006/main">
              <a:ext uri="{FF2B5EF4-FFF2-40B4-BE49-F238E27FC236}">
                <a16:creationId xmlns:a16="http://schemas.microsoft.com/office/drawing/2014/main" id="{033ECFC9-E579-4E9A-957C-311F65A4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6710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时序、资源、兼容性和修改范围有哪些限制？</a:t>
            </a:r>
          </a:p>
        </p:txBody>
      </p:sp>
      <p:sp>
        <p:nvSpPr>
          <p:cNvPr id="10" name="txt-42">
            <a:extLst xmlns:a="http://schemas.openxmlformats.org/drawingml/2006/main">
              <a:ext uri="{FF2B5EF4-FFF2-40B4-BE49-F238E27FC236}">
                <a16:creationId xmlns:a16="http://schemas.microsoft.com/office/drawing/2014/main" id="{AF1EDE89-45FF-4520-90C6-91867F7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xt-43">
            <a:extLst xmlns:a="http://schemas.openxmlformats.org/drawingml/2006/main">
              <a:ext uri="{FF2B5EF4-FFF2-40B4-BE49-F238E27FC236}">
                <a16:creationId xmlns:a16="http://schemas.microsoft.com/office/drawing/2014/main" id="{8894C829-B50F-4A04-9B54-520882D8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7192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工程取舍</a:t>
            </a:r>
          </a:p>
        </p:txBody>
      </p:sp>
      <p:sp>
        <p:nvSpPr>
          <p:cNvPr id="12" name="txt-44">
            <a:extLst xmlns:a="http://schemas.openxmlformats.org/drawingml/2006/main">
              <a:ext uri="{FF2B5EF4-FFF2-40B4-BE49-F238E27FC236}">
                <a16:creationId xmlns:a16="http://schemas.microsoft.com/office/drawing/2014/main" id="{83D03756-B691-4D46-88BF-7E77221B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1007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哪些选项可接受？选定方案的代价由谁确认？</a:t>
            </a:r>
          </a:p>
        </p:txBody>
      </p:sp>
      <p:sp>
        <p:nvSpPr>
          <p:cNvPr id="13" name="txt-45">
            <a:extLst xmlns:a="http://schemas.openxmlformats.org/drawingml/2006/main">
              <a:ext uri="{FF2B5EF4-FFF2-40B4-BE49-F238E27FC236}">
                <a16:creationId xmlns:a16="http://schemas.microsoft.com/office/drawing/2014/main" id="{1A37D64C-DA8C-4075-8EED-3AC73906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xt-46">
            <a:extLst xmlns:a="http://schemas.openxmlformats.org/drawingml/2006/main">
              <a:ext uri="{FF2B5EF4-FFF2-40B4-BE49-F238E27FC236}">
                <a16:creationId xmlns:a16="http://schemas.microsoft.com/office/drawing/2014/main" id="{08B6386E-D098-459F-8A6B-C1DD3157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收敛条件</a:t>
            </a:r>
          </a:p>
        </p:txBody>
      </p:sp>
      <p:sp>
        <p:nvSpPr>
          <p:cNvPr id="15" name="txt-47">
            <a:extLst xmlns:a="http://schemas.openxmlformats.org/drawingml/2006/main">
              <a:ext uri="{FF2B5EF4-FFF2-40B4-BE49-F238E27FC236}">
                <a16:creationId xmlns:a16="http://schemas.microsoft.com/office/drawing/2014/main" id="{68291C74-7B50-4C1C-8A35-95B9AA56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53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关键未知项已解决，或形成有负责人和验证方法的待办。</a:t>
            </a:r>
          </a:p>
        </p:txBody>
      </p:sp>
    </p:spTree>
    <p:extLst>
      <p:ext uri="{BB962C8B-B14F-4D97-AF65-F5344CB8AC3E}">
        <p14:creationId xmlns:p14="http://schemas.microsoft.com/office/powerpoint/2010/main" val="1228147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48">
            <a:extLst xmlns:a="http://schemas.openxmlformats.org/drawingml/2006/main">
              <a:ext uri="{FF2B5EF4-FFF2-40B4-BE49-F238E27FC236}">
                <a16:creationId xmlns:a16="http://schemas.microsoft.com/office/drawing/2014/main" id="{21CF353E-D923-4F42-80C1-C184A6FF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Spec：第一道人工门控</a:t>
            </a:r>
          </a:p>
        </p:txBody>
      </p:sp>
      <p:sp>
        <p:nvSpPr>
          <p:cNvPr id="2" name="txt-49">
            <a:extLst xmlns:a="http://schemas.openxmlformats.org/drawingml/2006/main">
              <a:ext uri="{FF2B5EF4-FFF2-40B4-BE49-F238E27FC236}">
                <a16:creationId xmlns:a16="http://schemas.microsoft.com/office/drawing/2014/main" id="{3B5A6536-2C32-463B-8334-9FC94C6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to-spec 将对话结论变成可执行、可评审的约定</a:t>
            </a:r>
          </a:p>
        </p:txBody>
      </p:sp>
      <p:sp>
        <p:nvSpPr>
          <p:cNvPr id="3" name="txt-50">
            <a:extLst xmlns:a="http://schemas.openxmlformats.org/drawingml/2006/main">
              <a:ext uri="{FF2B5EF4-FFF2-40B4-BE49-F238E27FC236}">
                <a16:creationId xmlns:a16="http://schemas.microsoft.com/office/drawing/2014/main" id="{851F140A-F75E-4190-8CC2-99307E2E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86125"/>
                <a:gridCol w="7686675"/>
              </a:tblGrid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必需内容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审查问题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目标与非目标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本次解决什么？哪些行为不在范围内？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行为与接口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成功、失败、边界输入分别如何处理？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约束与取舍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时序、内存、兼容性要求是否可实现？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验收与验证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哪些检查能证明满足要求？在什么环境执行？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风险与退出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依赖什么假设？失败后如何恢复或回退？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487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xt-51">
            <a:extLst xmlns:a="http://schemas.openxmlformats.org/drawingml/2006/main">
              <a:ext uri="{FF2B5EF4-FFF2-40B4-BE49-F238E27FC236}">
                <a16:creationId xmlns:a16="http://schemas.microsoft.com/office/drawing/2014/main" id="{97A5ABA2-F2A5-45DB-8CD8-D3FDC16F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Ticket：按行为垂直切片</a:t>
            </a:r>
          </a:p>
        </p:txBody>
      </p:sp>
      <p:sp>
        <p:nvSpPr>
          <p:cNvPr id="2" name="txt-52">
            <a:extLst xmlns:a="http://schemas.openxmlformats.org/drawingml/2006/main">
              <a:ext uri="{FF2B5EF4-FFF2-40B4-BE49-F238E27FC236}">
                <a16:creationId xmlns:a16="http://schemas.microsoft.com/office/drawing/2014/main" id="{B0947E56-2BC2-4263-B861-A189B733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每个切片交付一段可验证的能力，并声明依赖</a:t>
            </a:r>
          </a:p>
        </p:txBody>
      </p:sp>
      <p:sp>
        <p:nvSpPr>
          <p:cNvPr id="3" name="txt-53">
            <a:extLst xmlns:a="http://schemas.openxmlformats.org/drawingml/2006/main">
              <a:ext uri="{FF2B5EF4-FFF2-40B4-BE49-F238E27FC236}">
                <a16:creationId xmlns:a16="http://schemas.microsoft.com/office/drawing/2014/main" id="{81B856FB-E4B5-470A-9F58-2AC3B75A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xt-54">
            <a:extLst xmlns:a="http://schemas.openxmlformats.org/drawingml/2006/main">
              <a:ext uri="{FF2B5EF4-FFF2-40B4-BE49-F238E27FC236}">
                <a16:creationId xmlns:a16="http://schemas.microsoft.com/office/drawing/2014/main" id="{E68D9F67-AB59-4256-9103-F182DE01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水平拆分</a:t>
            </a:r>
          </a:p>
        </p:txBody>
      </p:sp>
      <p:sp>
        <p:nvSpPr>
          <p:cNvPr id="5" name="txt-55">
            <a:extLst xmlns:a="http://schemas.openxmlformats.org/drawingml/2006/main">
              <a:ext uri="{FF2B5EF4-FFF2-40B4-BE49-F238E27FC236}">
                <a16:creationId xmlns:a16="http://schemas.microsoft.com/office/drawing/2014/main" id="{78FF0394-EAAE-4CA8-9464-5F8978D4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5048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任务 A：写所有接口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任务 B：补所有实现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任务 C：最后写测试</a:t>
            </a:r>
          </a:p>
        </p:txBody>
      </p:sp>
      <p:sp>
        <p:nvSpPr>
          <p:cNvPr id="6" name="txt-56">
            <a:extLst xmlns:a="http://schemas.openxmlformats.org/drawingml/2006/main">
              <a:ext uri="{FF2B5EF4-FFF2-40B4-BE49-F238E27FC236}">
                <a16:creationId xmlns:a16="http://schemas.microsoft.com/office/drawing/2014/main" id="{E7203AD8-5D6D-4CE9-A367-4BC2A469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4981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垂直切片</a:t>
            </a:r>
          </a:p>
        </p:txBody>
      </p:sp>
      <p:sp>
        <p:nvSpPr>
          <p:cNvPr id="7" name="txt-57">
            <a:extLst xmlns:a="http://schemas.openxmlformats.org/drawingml/2006/main">
              <a:ext uri="{FF2B5EF4-FFF2-40B4-BE49-F238E27FC236}">
                <a16:creationId xmlns:a16="http://schemas.microsoft.com/office/drawing/2014/main" id="{5806B72C-5E0E-40AF-959D-4AE657E6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62275"/>
            <a:ext cx="5048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任务 A：溢出可检测 + 测试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任务 B：溢出可恢复 + 测试</a:t>
            </a:r>
          </a:p>
          <a:p xmlns:a="http://schemas.openxmlformats.org/drawingml/2006/main">
            <a:pPr>
              <a:def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任务 C：目标场景回放 + 验证</a:t>
            </a:r>
          </a:p>
        </p:txBody>
      </p:sp>
      <p:sp>
        <p:nvSpPr>
          <p:cNvPr id="8" name="txt-58">
            <a:extLst xmlns:a="http://schemas.openxmlformats.org/drawingml/2006/main">
              <a:ext uri="{FF2B5EF4-FFF2-40B4-BE49-F238E27FC236}">
                <a16:creationId xmlns:a16="http://schemas.microsoft.com/office/drawing/2014/main" id="{B287724B-B302-4306-A6D5-3391DEE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一个 ticket 至少写清：行为、文件边界、依赖、验收、验证命令。</a:t>
            </a:r>
          </a:p>
        </p:txBody>
      </p:sp>
    </p:spTree>
    <p:extLst>
      <p:ext uri="{BB962C8B-B14F-4D97-AF65-F5344CB8AC3E}">
        <p14:creationId xmlns:p14="http://schemas.microsoft.com/office/powerpoint/2010/main" val="1374484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59">
            <a:extLst xmlns:a="http://schemas.openxmlformats.org/drawingml/2006/main">
              <a:ext uri="{FF2B5EF4-FFF2-40B4-BE49-F238E27FC236}">
                <a16:creationId xmlns:a16="http://schemas.microsoft.com/office/drawing/2014/main" id="{B0BD4B71-8C57-4F20-807A-200C5803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依赖关系决定并行边界</a:t>
            </a:r>
          </a:p>
        </p:txBody>
      </p:sp>
      <p:sp>
        <p:nvSpPr>
          <p:cNvPr id="2" name="txt-60">
            <a:extLst xmlns:a="http://schemas.openxmlformats.org/drawingml/2006/main">
              <a:ext uri="{FF2B5EF4-FFF2-40B4-BE49-F238E27FC236}">
                <a16:creationId xmlns:a16="http://schemas.microsoft.com/office/drawing/2014/main" id="{87BF1381-3389-4B56-BC24-31331359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DAG 是无环依赖图；可开始的任务必须已满足全部前置条件</a:t>
            </a:r>
          </a:p>
        </p:txBody>
      </p:sp>
      <p:sp>
        <p:nvSpPr>
          <p:cNvPr id="3" name="txt-61">
            <a:extLst xmlns:a="http://schemas.openxmlformats.org/drawingml/2006/main">
              <a:ext uri="{FF2B5EF4-FFF2-40B4-BE49-F238E27FC236}">
                <a16:creationId xmlns:a16="http://schemas.microsoft.com/office/drawing/2014/main" id="{E148026E-CA53-4493-A433-755F427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xt-62">
            <a:extLst xmlns:a="http://schemas.openxmlformats.org/drawingml/2006/main">
              <a:ext uri="{FF2B5EF4-FFF2-40B4-BE49-F238E27FC236}">
                <a16:creationId xmlns:a16="http://schemas.microsoft.com/office/drawing/2014/main" id="{1C941F2D-D6F2-4A78-B945-988D3764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# 教学依赖图：箭头表示前置条件，不代表真实执行结果</a:t>
            </a:r>
          </a:p>
        </p:txBody>
      </p:sp>
      <p:sp>
        <p:nvSpPr>
          <p:cNvPr id="5" name="txt-63">
            <a:extLst xmlns:a="http://schemas.openxmlformats.org/drawingml/2006/main">
              <a:ext uri="{FF2B5EF4-FFF2-40B4-BE49-F238E27FC236}">
                <a16:creationId xmlns:a16="http://schemas.microsoft.com/office/drawing/2014/main" id="{D55546CF-03EF-4B99-B2E4-533A733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860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A  溢出观测与计数 + 单元测试</a:t>
            </a:r>
          </a:p>
        </p:txBody>
      </p:sp>
      <p:sp>
        <p:nvSpPr>
          <p:cNvPr id="6" name="txt-64">
            <a:extLst xmlns:a="http://schemas.openxmlformats.org/drawingml/2006/main">
              <a:ext uri="{FF2B5EF4-FFF2-40B4-BE49-F238E27FC236}">
                <a16:creationId xmlns:a16="http://schemas.microsoft.com/office/drawing/2014/main" id="{7BEB0524-CFE7-468A-84DE-736CBF3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└─ A 验收后</a:t>
            </a:r>
          </a:p>
        </p:txBody>
      </p:sp>
      <p:sp>
        <p:nvSpPr>
          <p:cNvPr id="7" name="txt-65">
            <a:extLst xmlns:a="http://schemas.openxmlformats.org/drawingml/2006/main">
              <a:ext uri="{FF2B5EF4-FFF2-40B4-BE49-F238E27FC236}">
                <a16:creationId xmlns:a16="http://schemas.microsoft.com/office/drawing/2014/main" id="{7A22AB42-A8CC-4E67-B416-B9052BC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6707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├─ B  满队列策略 + 边界测试</a:t>
            </a:r>
          </a:p>
        </p:txBody>
      </p:sp>
      <p:sp>
        <p:nvSpPr>
          <p:cNvPr id="8" name="txt-66">
            <a:extLst xmlns:a="http://schemas.openxmlformats.org/drawingml/2006/main">
              <a:ext uri="{FF2B5EF4-FFF2-40B4-BE49-F238E27FC236}">
                <a16:creationId xmlns:a16="http://schemas.microsoft.com/office/drawing/2014/main" id="{4777B91A-425A-4FF5-81E8-19CD7B1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576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└─ C  输入回放 + 统计核对</a:t>
            </a:r>
          </a:p>
        </p:txBody>
      </p:sp>
      <p:sp>
        <p:nvSpPr>
          <p:cNvPr id="9" name="txt-67">
            <a:extLst xmlns:a="http://schemas.openxmlformats.org/drawingml/2006/main">
              <a:ext uri="{FF2B5EF4-FFF2-40B4-BE49-F238E27FC236}">
                <a16:creationId xmlns:a16="http://schemas.microsoft.com/office/drawing/2014/main" id="{7D1FE88F-3365-4243-9DFB-55D9EBA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481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B、C 完成并集成后</a:t>
            </a:r>
          </a:p>
        </p:txBody>
      </p:sp>
      <p:sp>
        <p:nvSpPr>
          <p:cNvPr id="10" name="txt-68">
            <a:extLst xmlns:a="http://schemas.openxmlformats.org/drawingml/2006/main">
              <a:ext uri="{FF2B5EF4-FFF2-40B4-BE49-F238E27FC236}">
                <a16:creationId xmlns:a16="http://schemas.microsoft.com/office/drawing/2014/main" id="{20B5E7E3-546F-405B-A537-69FCF07A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386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└─ D  目标板验证 + PR 整体审查</a:t>
            </a:r>
          </a:p>
        </p:txBody>
      </p:sp>
      <p:sp>
        <p:nvSpPr>
          <p:cNvPr id="11" name="txt-69">
            <a:extLst xmlns:a="http://schemas.openxmlformats.org/drawingml/2006/main">
              <a:ext uri="{FF2B5EF4-FFF2-40B4-BE49-F238E27FC236}">
                <a16:creationId xmlns:a16="http://schemas.microsoft.com/office/drawing/2014/main" id="{930A57EA-A79B-4681-9738-2DF4F3A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2917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# B、C 仅在接口和文件职责可分离时并行</a:t>
            </a:r>
          </a:p>
        </p:txBody>
      </p:sp>
      <p:sp>
        <p:nvSpPr>
          <p:cNvPr id="12" name="txt-70">
            <a:extLst xmlns:a="http://schemas.openxmlformats.org/drawingml/2006/main">
              <a:ext uri="{FF2B5EF4-FFF2-40B4-BE49-F238E27FC236}">
                <a16:creationId xmlns:a16="http://schemas.microsoft.com/office/drawing/2014/main" id="{6D9BE704-CDE4-40C7-BA5F-6EC9260D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rPr>
              <a:t>依赖未满足、共享接口变化或审查积压时，暂停派发新任务。</a:t>
            </a:r>
          </a:p>
        </p:txBody>
      </p:sp>
    </p:spTree>
    <p:extLst>
      <p:ext uri="{BB962C8B-B14F-4D97-AF65-F5344CB8AC3E}">
        <p14:creationId xmlns:p14="http://schemas.microsoft.com/office/powerpoint/2010/main" val="1576602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71">
            <a:extLst xmlns:a="http://schemas.openxmlformats.org/drawingml/2006/main">
              <a:ext uri="{FF2B5EF4-FFF2-40B4-BE49-F238E27FC236}">
                <a16:creationId xmlns:a16="http://schemas.microsoft.com/office/drawing/2014/main" id="{F8226142-947D-4089-8EA8-568F36D5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隔离执行与任务交接</a:t>
            </a:r>
          </a:p>
        </p:txBody>
      </p:sp>
      <p:sp>
        <p:nvSpPr>
          <p:cNvPr id="2" name="txt-72">
            <a:extLst xmlns:a="http://schemas.openxmlformats.org/drawingml/2006/main">
              <a:ext uri="{FF2B5EF4-FFF2-40B4-BE49-F238E27FC236}">
                <a16:creationId xmlns:a16="http://schemas.microsoft.com/office/drawing/2014/main" id="{0972ADA3-D474-4D95-8BF5-7087D523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一个 ticket 对应一个执行上下文，用 worktree 隔离修改</a:t>
            </a:r>
          </a:p>
        </p:txBody>
      </p:sp>
      <p:sp>
        <p:nvSpPr>
          <p:cNvPr id="3" name="txt-73">
            <a:extLst xmlns:a="http://schemas.openxmlformats.org/drawingml/2006/main">
              <a:ext uri="{FF2B5EF4-FFF2-40B4-BE49-F238E27FC236}">
                <a16:creationId xmlns:a16="http://schemas.microsoft.com/office/drawing/2014/main" id="{9163EC38-56E1-4C46-9963-B9610C16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57450"/>
                <a:gridCol w="8515350"/>
              </a:tblGrid>
              <a:tr h="6032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交接项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必须说明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032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 Spec、ticket、接口和相关代码版本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32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允许修改的文件、共享资源、不能修改的行为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32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独立工作目录与分支，明确构建和测试环境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32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提交、测试记录、审查结论、未解决事项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32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按依赖顺序整合，在同一版本上重新验证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2040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xt-74">
            <a:extLst xmlns:a="http://schemas.openxmlformats.org/drawingml/2006/main">
              <a:ext uri="{FF2B5EF4-FFF2-40B4-BE49-F238E27FC236}">
                <a16:creationId xmlns:a16="http://schemas.microsoft.com/office/drawing/2014/main" id="{AE8DDFF4-E135-4D78-9515-6CD8390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Implement 内部循环</a:t>
            </a:r>
          </a:p>
        </p:txBody>
      </p:sp>
      <p:sp>
        <p:nvSpPr>
          <p:cNvPr id="2" name="txt-75">
            <a:extLst xmlns:a="http://schemas.openxmlformats.org/drawingml/2006/main">
              <a:ext uri="{FF2B5EF4-FFF2-40B4-BE49-F238E27FC236}">
                <a16:creationId xmlns:a16="http://schemas.microsoft.com/office/drawing/2014/main" id="{D56AC259-E888-4237-AE11-511D952D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TDD：先确认测试能捕捉目标行为，再实现并整理</a:t>
            </a:r>
          </a:p>
        </p:txBody>
      </p:sp>
      <p:sp>
        <p:nvSpPr>
          <p:cNvPr id="3" name="txt-76">
            <a:extLst xmlns:a="http://schemas.openxmlformats.org/drawingml/2006/main">
              <a:ext uri="{FF2B5EF4-FFF2-40B4-BE49-F238E27FC236}">
                <a16:creationId xmlns:a16="http://schemas.microsoft.com/office/drawing/2014/main" id="{AB34AACF-FD0B-4725-AD63-71ED801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xt-77">
            <a:extLst xmlns:a="http://schemas.openxmlformats.org/drawingml/2006/main">
              <a:ext uri="{FF2B5EF4-FFF2-40B4-BE49-F238E27FC236}">
                <a16:creationId xmlns:a16="http://schemas.microsoft.com/office/drawing/2014/main" id="{1B37892D-8BE7-4397-965F-0670E9F1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xt-78">
            <a:extLst xmlns:a="http://schemas.openxmlformats.org/drawingml/2006/main">
              <a:ext uri="{FF2B5EF4-FFF2-40B4-BE49-F238E27FC236}">
                <a16:creationId xmlns:a16="http://schemas.microsoft.com/office/drawing/2014/main" id="{DD612FEC-AB7E-4847-810B-569CC2D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RED：定义失败证据</a:t>
            </a:r>
          </a:p>
        </p:txBody>
      </p:sp>
      <p:sp>
        <p:nvSpPr>
          <p:cNvPr id="6" name="txt-79">
            <a:extLst xmlns:a="http://schemas.openxmlformats.org/drawingml/2006/main">
              <a:ext uri="{FF2B5EF4-FFF2-40B4-BE49-F238E27FC236}">
                <a16:creationId xmlns:a16="http://schemas.microsoft.com/office/drawing/2014/main" id="{F2764DB0-009D-4E48-8973-3D5BACB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7650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编写针对目标行为的测试，确认失败原因与需求对应。</a:t>
            </a:r>
          </a:p>
        </p:txBody>
      </p:sp>
      <p:sp>
        <p:nvSpPr>
          <p:cNvPr id="7" name="txt-80">
            <a:extLst xmlns:a="http://schemas.openxmlformats.org/drawingml/2006/main">
              <a:ext uri="{FF2B5EF4-FFF2-40B4-BE49-F238E27FC236}">
                <a16:creationId xmlns:a16="http://schemas.microsoft.com/office/drawing/2014/main" id="{B74EF476-5000-443D-842F-D8F3F29C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xt-81">
            <a:extLst xmlns:a="http://schemas.openxmlformats.org/drawingml/2006/main">
              <a:ext uri="{FF2B5EF4-FFF2-40B4-BE49-F238E27FC236}">
                <a16:creationId xmlns:a16="http://schemas.microsoft.com/office/drawing/2014/main" id="{AB356A36-0021-4AA4-8596-84B325B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GREEN：完成最小实现</a:t>
            </a:r>
          </a:p>
        </p:txBody>
      </p:sp>
      <p:sp>
        <p:nvSpPr>
          <p:cNvPr id="9" name="txt-82">
            <a:extLst xmlns:a="http://schemas.openxmlformats.org/drawingml/2006/main">
              <a:ext uri="{FF2B5EF4-FFF2-40B4-BE49-F238E27FC236}">
                <a16:creationId xmlns:a16="http://schemas.microsoft.com/office/drawing/2014/main" id="{AFB199B8-7EE8-4290-B0B9-22D6925E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3852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优先复用现有能力，让目标测试通过。</a:t>
            </a:r>
          </a:p>
        </p:txBody>
      </p:sp>
      <p:sp>
        <p:nvSpPr>
          <p:cNvPr id="10" name="txt-83">
            <a:extLst xmlns:a="http://schemas.openxmlformats.org/drawingml/2006/main">
              <a:ext uri="{FF2B5EF4-FFF2-40B4-BE49-F238E27FC236}">
                <a16:creationId xmlns:a16="http://schemas.microsoft.com/office/drawing/2014/main" id="{CD558A98-3696-43A0-89CD-E8479EEE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xt-84">
            <a:extLst xmlns:a="http://schemas.openxmlformats.org/drawingml/2006/main">
              <a:ext uri="{FF2B5EF4-FFF2-40B4-BE49-F238E27FC236}">
                <a16:creationId xmlns:a16="http://schemas.microsoft.com/office/drawing/2014/main" id="{A6399073-5BCD-4BBE-90BE-10665475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REFACTOR：控制改动规模</a:t>
            </a:r>
          </a:p>
        </p:txBody>
      </p:sp>
      <p:sp>
        <p:nvSpPr>
          <p:cNvPr id="12" name="txt-85">
            <a:extLst xmlns:a="http://schemas.openxmlformats.org/drawingml/2006/main">
              <a:ext uri="{FF2B5EF4-FFF2-40B4-BE49-F238E27FC236}">
                <a16:creationId xmlns:a16="http://schemas.microsoft.com/office/drawing/2014/main" id="{FA00ED01-CB74-4D6D-9F41-8BE9A414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005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清理重复与多余抽象，保持测试通过。</a:t>
            </a:r>
          </a:p>
        </p:txBody>
      </p:sp>
      <p:sp>
        <p:nvSpPr>
          <p:cNvPr id="13" name="txt-86">
            <a:extLst xmlns:a="http://schemas.openxmlformats.org/drawingml/2006/main">
              <a:ext uri="{FF2B5EF4-FFF2-40B4-BE49-F238E27FC236}">
                <a16:creationId xmlns:a16="http://schemas.microsoft.com/office/drawing/2014/main" id="{573E31E2-26CA-487F-9611-8CE77E6D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xt-87">
            <a:extLst xmlns:a="http://schemas.openxmlformats.org/drawingml/2006/main">
              <a:ext uri="{FF2B5EF4-FFF2-40B4-BE49-F238E27FC236}">
                <a16:creationId xmlns:a16="http://schemas.microsoft.com/office/drawing/2014/main" id="{AFD3DD7E-C8F9-4F95-B54E-B78C1E9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2442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REVIEW：检查剩余风险</a:t>
            </a:r>
          </a:p>
        </p:txBody>
      </p:sp>
      <p:sp>
        <p:nvSpPr>
          <p:cNvPr id="15" name="txt-88">
            <a:extLst xmlns:a="http://schemas.openxmlformats.org/drawingml/2006/main">
              <a:ext uri="{FF2B5EF4-FFF2-40B4-BE49-F238E27FC236}">
                <a16:creationId xmlns:a16="http://schemas.microsoft.com/office/drawing/2014/main" id="{C41A1B3B-2030-405F-A420-B51833AB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6257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审查接口、边界和副作用；修复后重跑受影响检查。</a:t>
            </a:r>
          </a:p>
        </p:txBody>
      </p:sp>
    </p:spTree>
    <p:extLst>
      <p:ext uri="{BB962C8B-B14F-4D97-AF65-F5344CB8AC3E}">
        <p14:creationId xmlns:p14="http://schemas.microsoft.com/office/powerpoint/2010/main" val="587978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xt-89">
            <a:extLst xmlns:a="http://schemas.openxmlformats.org/drawingml/2006/main">
              <a:ext uri="{FF2B5EF4-FFF2-40B4-BE49-F238E27FC236}">
                <a16:creationId xmlns:a16="http://schemas.microsoft.com/office/drawing/2014/main" id="{F963820B-35D7-4562-A5E3-44DD95F7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实现循环伪代码</a:t>
            </a:r>
          </a:p>
        </p:txBody>
      </p:sp>
      <p:sp>
        <p:nvSpPr>
          <p:cNvPr id="2" name="txt-90">
            <a:extLst xmlns:a="http://schemas.openxmlformats.org/drawingml/2006/main">
              <a:ext uri="{FF2B5EF4-FFF2-40B4-BE49-F238E27FC236}">
                <a16:creationId xmlns:a16="http://schemas.microsoft.com/office/drawing/2014/main" id="{216CF501-69FB-465A-92C0-55752203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显式区分测试失败、环境阻塞与完成；循环需要停止条件</a:t>
            </a:r>
          </a:p>
        </p:txBody>
      </p:sp>
      <p:sp>
        <p:nvSpPr>
          <p:cNvPr id="3" name="txt-91">
            <a:extLst xmlns:a="http://schemas.openxmlformats.org/drawingml/2006/main">
              <a:ext uri="{FF2B5EF4-FFF2-40B4-BE49-F238E27FC236}">
                <a16:creationId xmlns:a16="http://schemas.microsoft.com/office/drawing/2014/main" id="{927FDFA9-31A5-422D-9D5F-0FB0658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xt-92">
            <a:extLst xmlns:a="http://schemas.openxmlformats.org/drawingml/2006/main">
              <a:ext uri="{FF2B5EF4-FFF2-40B4-BE49-F238E27FC236}">
                <a16:creationId xmlns:a16="http://schemas.microsoft.com/office/drawing/2014/main" id="{332DD6D0-CC62-4499-867E-FB5432C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# 概念伪代码：budget 是项目约定的迭代预算</a:t>
            </a:r>
          </a:p>
        </p:txBody>
      </p:sp>
      <p:sp>
        <p:nvSpPr>
          <p:cNvPr id="5" name="txt-93">
            <a:extLst xmlns:a="http://schemas.openxmlformats.org/drawingml/2006/main">
              <a:ext uri="{FF2B5EF4-FFF2-40B4-BE49-F238E27FC236}">
                <a16:creationId xmlns:a16="http://schemas.microsoft.com/office/drawing/2014/main" id="{F33BE03A-CC56-4B7A-8D4D-0FDA6CA7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while budget.has_remaining():</a:t>
            </a:r>
          </a:p>
        </p:txBody>
      </p:sp>
      <p:sp>
        <p:nvSpPr>
          <p:cNvPr id="6" name="txt-94">
            <a:extLst xmlns:a="http://schemas.openxmlformats.org/drawingml/2006/main">
              <a:ext uri="{FF2B5EF4-FFF2-40B4-BE49-F238E27FC236}">
                <a16:creationId xmlns:a16="http://schemas.microsoft.com/office/drawing/2014/main" id="{0C068016-576C-4E66-BF1D-3EDC1D9A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432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run = verify(ticket)           # 运行验收检查并保留原始结果</a:t>
            </a:r>
          </a:p>
        </p:txBody>
      </p:sp>
      <p:sp>
        <p:nvSpPr>
          <p:cNvPr id="7" name="txt-95">
            <a:extLst xmlns:a="http://schemas.openxmlformats.org/drawingml/2006/main">
              <a:ext uri="{FF2B5EF4-FFF2-40B4-BE49-F238E27FC236}">
                <a16:creationId xmlns:a16="http://schemas.microsoft.com/office/drawing/2014/main" id="{CF28972E-3D22-44AF-880A-6D9FAFE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67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if run.blocked: return BLOCKED # 环境缺失时停止，不伪报通过</a:t>
            </a:r>
          </a:p>
        </p:txBody>
      </p:sp>
      <p:sp>
        <p:nvSpPr>
          <p:cNvPr id="8" name="txt-96">
            <a:extLst xmlns:a="http://schemas.openxmlformats.org/drawingml/2006/main">
              <a:ext uri="{FF2B5EF4-FFF2-40B4-BE49-F238E27FC236}">
                <a16:creationId xmlns:a16="http://schemas.microsoft.com/office/drawing/2014/main" id="{984831E9-42B5-488E-A704-CDDB9EA0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if run.failed: fix_minimal(run) # 只修复有失败证据支撑的问题</a:t>
            </a:r>
          </a:p>
        </p:txBody>
      </p:sp>
      <p:sp>
        <p:nvSpPr>
          <p:cNvPr id="9" name="txt-97">
            <a:extLst xmlns:a="http://schemas.openxmlformats.org/drawingml/2006/main">
              <a:ext uri="{FF2B5EF4-FFF2-40B4-BE49-F238E27FC236}">
                <a16:creationId xmlns:a16="http://schemas.microsoft.com/office/drawing/2014/main" id="{AEC0EF78-E055-400E-840F-7771C2E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147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else:</a:t>
            </a:r>
          </a:p>
        </p:txBody>
      </p:sp>
      <p:sp>
        <p:nvSpPr>
          <p:cNvPr id="10" name="txt-98">
            <a:extLst xmlns:a="http://schemas.openxmlformats.org/drawingml/2006/main">
              <a:ext uri="{FF2B5EF4-FFF2-40B4-BE49-F238E27FC236}">
                <a16:creationId xmlns:a16="http://schemas.microsoft.com/office/drawing/2014/main" id="{06A73B0D-A1BF-499A-AF62-C9F96881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386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  review = inspect_diff()    # 核对边界与非预期副作用</a:t>
            </a:r>
          </a:p>
        </p:txBody>
      </p:sp>
      <p:sp>
        <p:nvSpPr>
          <p:cNvPr id="11" name="txt-99">
            <a:extLst xmlns:a="http://schemas.openxmlformats.org/drawingml/2006/main">
              <a:ext uri="{FF2B5EF4-FFF2-40B4-BE49-F238E27FC236}">
                <a16:creationId xmlns:a16="http://schemas.microsoft.com/office/drawing/2014/main" id="{CFE7F87E-875C-416A-8E26-61FDC586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62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  if review.clear: return READY_FOR_INTEGRATION</a:t>
            </a:r>
          </a:p>
        </p:txBody>
      </p:sp>
      <p:sp>
        <p:nvSpPr>
          <p:cNvPr id="12" name="txt-100">
            <a:extLst xmlns:a="http://schemas.openxmlformats.org/drawingml/2006/main">
              <a:ext uri="{FF2B5EF4-FFF2-40B4-BE49-F238E27FC236}">
                <a16:creationId xmlns:a16="http://schemas.microsoft.com/office/drawing/2014/main" id="{2C859156-1BC2-4C58-A4C0-CA2429E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86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  fix_confirmed(review)      # 先复核意见，再做必要修改</a:t>
            </a:r>
          </a:p>
        </p:txBody>
      </p:sp>
      <p:sp>
        <p:nvSpPr>
          <p:cNvPr id="13" name="txt-101">
            <a:extLst xmlns:a="http://schemas.openxmlformats.org/drawingml/2006/main">
              <a:ext uri="{FF2B5EF4-FFF2-40B4-BE49-F238E27FC236}">
                <a16:creationId xmlns:a16="http://schemas.microsoft.com/office/drawing/2014/main" id="{CC479776-18F5-4ADA-8C87-191C9C95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01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budget.consume()               # 防止无效修复无限循环</a:t>
            </a:r>
          </a:p>
        </p:txBody>
      </p:sp>
      <p:sp>
        <p:nvSpPr>
          <p:cNvPr id="14" name="txt-102">
            <a:extLst xmlns:a="http://schemas.openxmlformats.org/drawingml/2006/main">
              <a:ext uri="{FF2B5EF4-FFF2-40B4-BE49-F238E27FC236}">
                <a16:creationId xmlns:a16="http://schemas.microsoft.com/office/drawing/2014/main" id="{EDA396F5-14DA-4078-965A-BC6A8279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return NEEDS_DECISION               # 附失败证据与待决定的问题</a:t>
            </a:r>
          </a:p>
        </p:txBody>
      </p:sp>
    </p:spTree>
    <p:extLst>
      <p:ext uri="{BB962C8B-B14F-4D97-AF65-F5344CB8AC3E}">
        <p14:creationId xmlns:p14="http://schemas.microsoft.com/office/powerpoint/2010/main" val="20984466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xt-103">
            <a:extLst xmlns:a="http://schemas.openxmlformats.org/drawingml/2006/main">
              <a:ext uri="{FF2B5EF4-FFF2-40B4-BE49-F238E27FC236}">
                <a16:creationId xmlns:a16="http://schemas.microsoft.com/office/drawing/2014/main" id="{A21235DE-6959-47C7-B856-FF0383FB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控制无意义代码</a:t>
            </a:r>
          </a:p>
        </p:txBody>
      </p:sp>
      <p:sp>
        <p:nvSpPr>
          <p:cNvPr id="2" name="txt-104">
            <a:extLst xmlns:a="http://schemas.openxmlformats.org/drawingml/2006/main">
              <a:ext uri="{FF2B5EF4-FFF2-40B4-BE49-F238E27FC236}">
                <a16:creationId xmlns:a16="http://schemas.microsoft.com/office/drawing/2014/main" id="{20D8C9BE-C18B-49AA-8B65-9F3B1AE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ponytail 的审查思路：新代码存在的必要性必须说得清</a:t>
            </a:r>
          </a:p>
        </p:txBody>
      </p:sp>
      <p:sp>
        <p:nvSpPr>
          <p:cNvPr id="3" name="txt-105">
            <a:extLst xmlns:a="http://schemas.openxmlformats.org/drawingml/2006/main">
              <a:ext uri="{FF2B5EF4-FFF2-40B4-BE49-F238E27FC236}">
                <a16:creationId xmlns:a16="http://schemas.microsoft.com/office/drawing/2014/main" id="{7B225F85-3D6B-4DD2-A232-2E9631EC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xt-106">
            <a:extLst xmlns:a="http://schemas.openxmlformats.org/drawingml/2006/main">
              <a:ext uri="{FF2B5EF4-FFF2-40B4-BE49-F238E27FC236}">
                <a16:creationId xmlns:a16="http://schemas.microsoft.com/office/drawing/2014/main" id="{AC68F9FC-CBC7-4F54-9579-4586779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xt-107">
            <a:extLst xmlns:a="http://schemas.openxmlformats.org/drawingml/2006/main">
              <a:ext uri="{FF2B5EF4-FFF2-40B4-BE49-F238E27FC236}">
                <a16:creationId xmlns:a16="http://schemas.microsoft.com/office/drawing/2014/main" id="{AA8190A3-7574-4CF8-A6F4-CF6775D5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确认必要性</a:t>
            </a:r>
          </a:p>
        </p:txBody>
      </p:sp>
      <p:sp>
        <p:nvSpPr>
          <p:cNvPr id="6" name="txt-108">
            <a:extLst xmlns:a="http://schemas.openxmlformats.org/drawingml/2006/main">
              <a:ext uri="{FF2B5EF4-FFF2-40B4-BE49-F238E27FC236}">
                <a16:creationId xmlns:a16="http://schemas.microsoft.com/office/drawing/2014/main" id="{38482206-8BA7-4095-83F2-EA128E78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7650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这段逻辑对应哪个需求、失败模式或已确认约束？</a:t>
            </a:r>
          </a:p>
        </p:txBody>
      </p:sp>
      <p:sp>
        <p:nvSpPr>
          <p:cNvPr id="7" name="txt-109">
            <a:extLst xmlns:a="http://schemas.openxmlformats.org/drawingml/2006/main">
              <a:ext uri="{FF2B5EF4-FFF2-40B4-BE49-F238E27FC236}">
                <a16:creationId xmlns:a16="http://schemas.microsoft.com/office/drawing/2014/main" id="{B16F6DDB-0697-4FF6-87DD-9F60393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xt-110">
            <a:extLst xmlns:a="http://schemas.openxmlformats.org/drawingml/2006/main">
              <a:ext uri="{FF2B5EF4-FFF2-40B4-BE49-F238E27FC236}">
                <a16:creationId xmlns:a16="http://schemas.microsoft.com/office/drawing/2014/main" id="{12EBCE89-23D2-4A7D-9876-44E76385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优先复用</a:t>
            </a:r>
          </a:p>
        </p:txBody>
      </p:sp>
      <p:sp>
        <p:nvSpPr>
          <p:cNvPr id="9" name="txt-111">
            <a:extLst xmlns:a="http://schemas.openxmlformats.org/drawingml/2006/main">
              <a:ext uri="{FF2B5EF4-FFF2-40B4-BE49-F238E27FC236}">
                <a16:creationId xmlns:a16="http://schemas.microsoft.com/office/drawing/2014/main" id="{824F213C-FACF-4DD0-A6FA-AF9028B7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3852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代码库或标准库是否已有满足条件的实现？</a:t>
            </a:r>
          </a:p>
        </p:txBody>
      </p:sp>
      <p:sp>
        <p:nvSpPr>
          <p:cNvPr id="10" name="txt-112">
            <a:extLst xmlns:a="http://schemas.openxmlformats.org/drawingml/2006/main">
              <a:ext uri="{FF2B5EF4-FFF2-40B4-BE49-F238E27FC236}">
                <a16:creationId xmlns:a16="http://schemas.microsoft.com/office/drawing/2014/main" id="{24347DC6-18F9-4E05-A33C-F1A819C0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xt-113">
            <a:extLst xmlns:a="http://schemas.openxmlformats.org/drawingml/2006/main">
              <a:ext uri="{FF2B5EF4-FFF2-40B4-BE49-F238E27FC236}">
                <a16:creationId xmlns:a16="http://schemas.microsoft.com/office/drawing/2014/main" id="{4B898561-FD01-4186-AB19-9223FF91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减少额外层次</a:t>
            </a:r>
          </a:p>
        </p:txBody>
      </p:sp>
      <p:sp>
        <p:nvSpPr>
          <p:cNvPr id="12" name="txt-114">
            <a:extLst xmlns:a="http://schemas.openxmlformats.org/drawingml/2006/main">
              <a:ext uri="{FF2B5EF4-FFF2-40B4-BE49-F238E27FC236}">
                <a16:creationId xmlns:a16="http://schemas.microsoft.com/office/drawing/2014/main" id="{486319B9-C8AE-4BA4-AF91-1A4291A2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005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接口、配置项和封装是否解决了当前存在的问题？</a:t>
            </a:r>
          </a:p>
        </p:txBody>
      </p:sp>
      <p:sp>
        <p:nvSpPr>
          <p:cNvPr id="13" name="txt-115">
            <a:extLst xmlns:a="http://schemas.openxmlformats.org/drawingml/2006/main">
              <a:ext uri="{FF2B5EF4-FFF2-40B4-BE49-F238E27FC236}">
                <a16:creationId xmlns:a16="http://schemas.microsoft.com/office/drawing/2014/main" id="{7F59586E-CF6E-4496-8E46-3E171DB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xt-116">
            <a:extLst xmlns:a="http://schemas.openxmlformats.org/drawingml/2006/main">
              <a:ext uri="{FF2B5EF4-FFF2-40B4-BE49-F238E27FC236}">
                <a16:creationId xmlns:a16="http://schemas.microsoft.com/office/drawing/2014/main" id="{6A873266-EBCB-48B9-8F62-489287B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2442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保留有用注释</a:t>
            </a:r>
          </a:p>
        </p:txBody>
      </p:sp>
      <p:sp>
        <p:nvSpPr>
          <p:cNvPr id="15" name="txt-117">
            <a:extLst xmlns:a="http://schemas.openxmlformats.org/drawingml/2006/main">
              <a:ext uri="{FF2B5EF4-FFF2-40B4-BE49-F238E27FC236}">
                <a16:creationId xmlns:a16="http://schemas.microsoft.com/office/drawing/2014/main" id="{325527AC-2835-4772-9B88-FC17B382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6257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解释时序、所有权、边界与失败策略，避免重复代码字面。</a:t>
            </a:r>
          </a:p>
        </p:txBody>
      </p:sp>
    </p:spTree>
    <p:extLst>
      <p:ext uri="{BB962C8B-B14F-4D97-AF65-F5344CB8AC3E}">
        <p14:creationId xmlns:p14="http://schemas.microsoft.com/office/powerpoint/2010/main" val="4791192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xt-118">
            <a:extLst xmlns:a="http://schemas.openxmlformats.org/drawingml/2006/main">
              <a:ext uri="{FF2B5EF4-FFF2-40B4-BE49-F238E27FC236}">
                <a16:creationId xmlns:a16="http://schemas.microsoft.com/office/drawing/2014/main" id="{E3B2FEEE-4AFE-48FF-945D-8A3D8F76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多模型交叉审查</a:t>
            </a:r>
          </a:p>
        </p:txBody>
      </p:sp>
      <p:sp>
        <p:nvSpPr>
          <p:cNvPr id="2" name="txt-119">
            <a:extLst xmlns:a="http://schemas.openxmlformats.org/drawingml/2006/main">
              <a:ext uri="{FF2B5EF4-FFF2-40B4-BE49-F238E27FC236}">
                <a16:creationId xmlns:a16="http://schemas.microsoft.com/office/drawing/2014/main" id="{189E4AAB-578B-454C-BD43-542BA02F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使用干净上下文审查同一版本，将意见归并后再判断</a:t>
            </a:r>
          </a:p>
        </p:txBody>
      </p:sp>
      <p:sp>
        <p:nvSpPr>
          <p:cNvPr id="3" name="txt-120">
            <a:extLst xmlns:a="http://schemas.openxmlformats.org/drawingml/2006/main">
              <a:ext uri="{FF2B5EF4-FFF2-40B4-BE49-F238E27FC236}">
                <a16:creationId xmlns:a16="http://schemas.microsoft.com/office/drawing/2014/main" id="{C0D36209-3463-401B-A787-B38EE4E7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xt-121">
            <a:extLst xmlns:a="http://schemas.openxmlformats.org/drawingml/2006/main">
              <a:ext uri="{FF2B5EF4-FFF2-40B4-BE49-F238E27FC236}">
                <a16:creationId xmlns:a16="http://schemas.microsoft.com/office/drawing/2014/main" id="{EEF83356-8A8E-49D1-A45B-F4668BB0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669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同一 Spec + 同一 diff + 相同验收要求</a:t>
            </a:r>
          </a:p>
        </p:txBody>
      </p:sp>
      <p:sp>
        <p:nvSpPr>
          <p:cNvPr id="5" name="txt-122">
            <a:extLst xmlns:a="http://schemas.openxmlformats.org/drawingml/2006/main">
              <a:ext uri="{FF2B5EF4-FFF2-40B4-BE49-F238E27FC236}">
                <a16:creationId xmlns:a16="http://schemas.microsoft.com/office/drawing/2014/main" id="{972190AC-50F8-41D1-B6C4-EA8EEFE3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00375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独立审查 A    独立审查 B    独立审查 C</a:t>
            </a:r>
          </a:p>
        </p:txBody>
      </p:sp>
      <p:sp>
        <p:nvSpPr>
          <p:cNvPr id="6" name="txt-123">
            <a:extLst xmlns:a="http://schemas.openxmlformats.org/drawingml/2006/main">
              <a:ext uri="{FF2B5EF4-FFF2-40B4-BE49-F238E27FC236}">
                <a16:creationId xmlns:a16="http://schemas.microsoft.com/office/drawing/2014/main" id="{A82EB1F4-67D2-4BF7-BCB9-9619A33A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2430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归并重复意见 → 复核证据 → 修复 → 重新验证</a:t>
            </a:r>
          </a:p>
        </p:txBody>
      </p:sp>
      <p:sp>
        <p:nvSpPr>
          <p:cNvPr id="7" name="txt-124">
            <a:extLst xmlns:a="http://schemas.openxmlformats.org/drawingml/2006/main">
              <a:ext uri="{FF2B5EF4-FFF2-40B4-BE49-F238E27FC236}">
                <a16:creationId xmlns:a16="http://schemas.microsoft.com/office/drawing/2014/main" id="{EED6171D-6F0E-441D-A1FF-8588DC0F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725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人工决定接受、驳回或补充验证</a:t>
            </a:r>
          </a:p>
        </p:txBody>
      </p:sp>
      <p:sp>
        <p:nvSpPr>
          <p:cNvPr id="8" name="txt-125">
            <a:extLst xmlns:a="http://schemas.openxmlformats.org/drawingml/2006/main">
              <a:ext uri="{FF2B5EF4-FFF2-40B4-BE49-F238E27FC236}">
                <a16:creationId xmlns:a16="http://schemas.microsoft.com/office/drawing/2014/main" id="{20B6D4BD-D9E9-4D75-9704-4D82F8C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rPr>
              <a:t>“多个模型都说没问题”不能替代测试证据和人的工程判断。</a:t>
            </a:r>
          </a:p>
        </p:txBody>
      </p:sp>
    </p:spTree>
    <p:extLst>
      <p:ext uri="{BB962C8B-B14F-4D97-AF65-F5344CB8AC3E}">
        <p14:creationId xmlns:p14="http://schemas.microsoft.com/office/powerpoint/2010/main" val="19552878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xt-126">
            <a:extLst xmlns:a="http://schemas.openxmlformats.org/drawingml/2006/main">
              <a:ext uri="{FF2B5EF4-FFF2-40B4-BE49-F238E27FC236}">
                <a16:creationId xmlns:a16="http://schemas.microsoft.com/office/drawing/2014/main" id="{30628B7F-9739-4F88-9D40-AA03458E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PR 级审查与人工 CR</a:t>
            </a:r>
          </a:p>
        </p:txBody>
      </p:sp>
      <p:sp>
        <p:nvSpPr>
          <p:cNvPr id="2" name="txt-127">
            <a:extLst xmlns:a="http://schemas.openxmlformats.org/drawingml/2006/main">
              <a:ext uri="{FF2B5EF4-FFF2-40B4-BE49-F238E27FC236}">
                <a16:creationId xmlns:a16="http://schemas.microsoft.com/office/drawing/2014/main" id="{9DC08E97-1BA6-4410-952F-B42684FC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切片通过后，仍需审查整合版本的系统行为</a:t>
            </a:r>
          </a:p>
        </p:txBody>
      </p:sp>
      <p:sp>
        <p:nvSpPr>
          <p:cNvPr id="3" name="txt-128">
            <a:extLst xmlns:a="http://schemas.openxmlformats.org/drawingml/2006/main">
              <a:ext uri="{FF2B5EF4-FFF2-40B4-BE49-F238E27FC236}">
                <a16:creationId xmlns:a16="http://schemas.microsoft.com/office/drawing/2014/main" id="{EBDEB583-176E-4D36-AED5-FD729B21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81225"/>
                <a:gridCol w="4705350"/>
                <a:gridCol w="4086225"/>
              </a:tblGrid>
              <a:tr h="6286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关注内容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通过依据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286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Ticket 审查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本切片行为、边界与改动必要性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局部测试与审查问题关闭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 整体审查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跨模块接口、共享状态和回归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整合版本的验证证据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 CR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工程取舍、证据与残余风险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明确接受、退回或补充验证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28650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版本、配置、构建与回退说明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可复现的交付记录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  <p:sp>
        <p:nvSpPr>
          <p:cNvPr id="5" name="txt-129">
            <a:extLst xmlns:a="http://schemas.openxmlformats.org/drawingml/2006/main">
              <a:ext uri="{FF2B5EF4-FFF2-40B4-BE49-F238E27FC236}">
                <a16:creationId xmlns:a16="http://schemas.microsoft.com/office/drawing/2014/main" id="{1815FDB6-18B5-4B15-89F7-DE38369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局部通过不等于整体通过；未执行验证应保留为“未验证”。</a:t>
            </a:r>
          </a:p>
        </p:txBody>
      </p:sp>
    </p:spTree>
    <p:extLst>
      <p:ext uri="{BB962C8B-B14F-4D97-AF65-F5344CB8AC3E}">
        <p14:creationId xmlns:p14="http://schemas.microsoft.com/office/powerpoint/2010/main" val="1871068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xt-130">
            <a:extLst xmlns:a="http://schemas.openxmlformats.org/drawingml/2006/main">
              <a:ext uri="{FF2B5EF4-FFF2-40B4-BE49-F238E27FC236}">
                <a16:creationId xmlns:a16="http://schemas.microsoft.com/office/drawing/2014/main" id="{93CFBC21-4DBE-46D9-90C8-2B2BB18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Review 带宽与并发控制</a:t>
            </a:r>
          </a:p>
        </p:txBody>
      </p:sp>
      <p:sp>
        <p:nvSpPr>
          <p:cNvPr id="2" name="txt-131">
            <a:extLst xmlns:a="http://schemas.openxmlformats.org/drawingml/2006/main">
              <a:ext uri="{FF2B5EF4-FFF2-40B4-BE49-F238E27FC236}">
                <a16:creationId xmlns:a16="http://schemas.microsoft.com/office/drawing/2014/main" id="{1A61BACA-EFD0-4491-99EF-2AC5BA6F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派发速度应匹配人的审查能力</a:t>
            </a:r>
          </a:p>
        </p:txBody>
      </p:sp>
      <p:sp>
        <p:nvSpPr>
          <p:cNvPr id="3" name="txt-132">
            <a:extLst xmlns:a="http://schemas.openxmlformats.org/drawingml/2006/main">
              <a:ext uri="{FF2B5EF4-FFF2-40B4-BE49-F238E27FC236}">
                <a16:creationId xmlns:a16="http://schemas.microsoft.com/office/drawing/2014/main" id="{0536B589-8AF5-4365-982C-728B0B1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xt-133">
            <a:extLst xmlns:a="http://schemas.openxmlformats.org/drawingml/2006/main">
              <a:ext uri="{FF2B5EF4-FFF2-40B4-BE49-F238E27FC236}">
                <a16:creationId xmlns:a16="http://schemas.microsoft.com/office/drawing/2014/main" id="{6FB894EB-7226-4E7B-9C29-4362693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xt-134">
            <a:extLst xmlns:a="http://schemas.openxmlformats.org/drawingml/2006/main">
              <a:ext uri="{FF2B5EF4-FFF2-40B4-BE49-F238E27FC236}">
                <a16:creationId xmlns:a16="http://schemas.microsoft.com/office/drawing/2014/main" id="{471FEB3E-39CA-4FE8-AC4C-AD6CB802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限制在制任务</a:t>
            </a:r>
          </a:p>
        </p:txBody>
      </p:sp>
      <p:sp>
        <p:nvSpPr>
          <p:cNvPr id="6" name="txt-135">
            <a:extLst xmlns:a="http://schemas.openxmlformats.org/drawingml/2006/main">
              <a:ext uri="{FF2B5EF4-FFF2-40B4-BE49-F238E27FC236}">
                <a16:creationId xmlns:a16="http://schemas.microsoft.com/office/drawing/2014/main" id="{60F9E513-1475-4613-B13C-FB1B9E3E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7650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只派发依赖已满足、责任清楚且有审查容量的任务。</a:t>
            </a:r>
          </a:p>
        </p:txBody>
      </p:sp>
      <p:sp>
        <p:nvSpPr>
          <p:cNvPr id="7" name="txt-136">
            <a:extLst xmlns:a="http://schemas.openxmlformats.org/drawingml/2006/main">
              <a:ext uri="{FF2B5EF4-FFF2-40B4-BE49-F238E27FC236}">
                <a16:creationId xmlns:a16="http://schemas.microsoft.com/office/drawing/2014/main" id="{EC27E526-7820-41D7-805B-9BE82CB0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xt-137">
            <a:extLst xmlns:a="http://schemas.openxmlformats.org/drawingml/2006/main">
              <a:ext uri="{FF2B5EF4-FFF2-40B4-BE49-F238E27FC236}">
                <a16:creationId xmlns:a16="http://schemas.microsoft.com/office/drawing/2014/main" id="{482BA543-8E7D-4757-95B8-F3B2749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0037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减少待审体积</a:t>
            </a:r>
          </a:p>
        </p:txBody>
      </p:sp>
      <p:sp>
        <p:nvSpPr>
          <p:cNvPr id="9" name="txt-138">
            <a:extLst xmlns:a="http://schemas.openxmlformats.org/drawingml/2006/main">
              <a:ext uri="{FF2B5EF4-FFF2-40B4-BE49-F238E27FC236}">
                <a16:creationId xmlns:a16="http://schemas.microsoft.com/office/drawing/2014/main" id="{2AAF968D-0555-4AC4-ADF1-1DD3AD7F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3852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保持小切片与短 diff，避免顺手重构扩大审查面。</a:t>
            </a:r>
          </a:p>
        </p:txBody>
      </p:sp>
      <p:sp>
        <p:nvSpPr>
          <p:cNvPr id="10" name="txt-139">
            <a:extLst xmlns:a="http://schemas.openxmlformats.org/drawingml/2006/main">
              <a:ext uri="{FF2B5EF4-FFF2-40B4-BE49-F238E27FC236}">
                <a16:creationId xmlns:a16="http://schemas.microsoft.com/office/drawing/2014/main" id="{C2813F1B-A66A-4E18-A499-BDF310A9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xt-140">
            <a:extLst xmlns:a="http://schemas.openxmlformats.org/drawingml/2006/main">
              <a:ext uri="{FF2B5EF4-FFF2-40B4-BE49-F238E27FC236}">
                <a16:creationId xmlns:a16="http://schemas.microsoft.com/office/drawing/2014/main" id="{63E7EE0E-B0E3-4652-91D7-2947729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压缩重复阅读</a:t>
            </a:r>
          </a:p>
        </p:txBody>
      </p:sp>
      <p:sp>
        <p:nvSpPr>
          <p:cNvPr id="12" name="txt-141">
            <a:extLst xmlns:a="http://schemas.openxmlformats.org/drawingml/2006/main">
              <a:ext uri="{FF2B5EF4-FFF2-40B4-BE49-F238E27FC236}">
                <a16:creationId xmlns:a16="http://schemas.microsoft.com/office/drawing/2014/main" id="{758B351D-2ECA-4890-B1BF-D19253A8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005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交付时提供需求映射、失败条件、测试摘要和未决项。</a:t>
            </a:r>
          </a:p>
        </p:txBody>
      </p:sp>
      <p:sp>
        <p:nvSpPr>
          <p:cNvPr id="13" name="txt-142">
            <a:extLst xmlns:a="http://schemas.openxmlformats.org/drawingml/2006/main">
              <a:ext uri="{FF2B5EF4-FFF2-40B4-BE49-F238E27FC236}">
                <a16:creationId xmlns:a16="http://schemas.microsoft.com/office/drawing/2014/main" id="{1C4F90B6-B70A-47A8-AE10-0A2A1470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xt-143">
            <a:extLst xmlns:a="http://schemas.openxmlformats.org/drawingml/2006/main">
              <a:ext uri="{FF2B5EF4-FFF2-40B4-BE49-F238E27FC236}">
                <a16:creationId xmlns:a16="http://schemas.microsoft.com/office/drawing/2014/main" id="{06E6BA66-9A9B-458A-9532-FC40509D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24425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积压时先清队列</a:t>
            </a:r>
          </a:p>
        </p:txBody>
      </p:sp>
      <p:sp>
        <p:nvSpPr>
          <p:cNvPr id="15" name="txt-144">
            <a:extLst xmlns:a="http://schemas.openxmlformats.org/drawingml/2006/main">
              <a:ext uri="{FF2B5EF4-FFF2-40B4-BE49-F238E27FC236}">
                <a16:creationId xmlns:a16="http://schemas.microsoft.com/office/drawing/2014/main" id="{E8929AD9-640D-4DE6-AFAE-B8F079C4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62575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暂停派发，优先处理已有审查和集成问题。</a:t>
            </a:r>
          </a:p>
        </p:txBody>
      </p:sp>
    </p:spTree>
    <p:extLst>
      <p:ext uri="{BB962C8B-B14F-4D97-AF65-F5344CB8AC3E}">
        <p14:creationId xmlns:p14="http://schemas.microsoft.com/office/powerpoint/2010/main" val="3276092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145">
            <a:extLst xmlns:a="http://schemas.openxmlformats.org/drawingml/2006/main">
              <a:ext uri="{FF2B5EF4-FFF2-40B4-BE49-F238E27FC236}">
                <a16:creationId xmlns:a16="http://schemas.microsoft.com/office/drawing/2014/main" id="{6838059E-B4FE-4F52-B8E2-DBD5EFB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教学案例：UART 接收队列积压</a:t>
            </a:r>
          </a:p>
        </p:txBody>
      </p:sp>
      <p:sp>
        <p:nvSpPr>
          <p:cNvPr id="2" name="txt-146">
            <a:extLst xmlns:a="http://schemas.openxmlformats.org/drawingml/2006/main">
              <a:ext uri="{FF2B5EF4-FFF2-40B4-BE49-F238E27FC236}">
                <a16:creationId xmlns:a16="http://schemas.microsoft.com/office/drawing/2014/main" id="{27B02BAE-3F91-45B5-A6E3-F967DED6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目标是演示 SOP 的使用；以下现象和条件均为假设</a:t>
            </a:r>
          </a:p>
        </p:txBody>
      </p:sp>
      <p:sp>
        <p:nvSpPr>
          <p:cNvPr id="3" name="txt-147">
            <a:extLst xmlns:a="http://schemas.openxmlformats.org/drawingml/2006/main">
              <a:ext uri="{FF2B5EF4-FFF2-40B4-BE49-F238E27FC236}">
                <a16:creationId xmlns:a16="http://schemas.microsoft.com/office/drawing/2014/main" id="{4C2D8188-DB44-429A-80B8-940B8A1F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62225"/>
                <a:gridCol w="8410575"/>
              </a:tblGrid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本案例的教学设定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待确认现象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持续输入与任务高负载并存时，队列可能积压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待验证方向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消费不及时、输入突发、数据交接或所有权问题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本次目标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明确满队列行为，并让丢弃与恢复可观测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修改边界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不变更线上协议；保留中断执行预算约束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4838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未知项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实际负载、缓存策略、资源预算和板端结果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544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148">
            <a:extLst xmlns:a="http://schemas.openxmlformats.org/drawingml/2006/main">
              <a:ext uri="{FF2B5EF4-FFF2-40B4-BE49-F238E27FC236}">
                <a16:creationId xmlns:a16="http://schemas.microsoft.com/office/drawing/2014/main" id="{20851B22-1ACC-40F6-9277-BDDED49A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案例 Spec 与验收设计</a:t>
            </a:r>
          </a:p>
        </p:txBody>
      </p:sp>
      <p:sp>
        <p:nvSpPr>
          <p:cNvPr id="2" name="txt-149">
            <a:extLst xmlns:a="http://schemas.openxmlformats.org/drawingml/2006/main">
              <a:ext uri="{FF2B5EF4-FFF2-40B4-BE49-F238E27FC236}">
                <a16:creationId xmlns:a16="http://schemas.microsoft.com/office/drawing/2014/main" id="{D6289F39-ED34-4AA5-BBC7-1F50C52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先约定允许的行为，再决定修改方法</a:t>
            </a:r>
          </a:p>
        </p:txBody>
      </p:sp>
      <p:sp>
        <p:nvSpPr>
          <p:cNvPr id="3" name="txt-150">
            <a:extLst xmlns:a="http://schemas.openxmlformats.org/drawingml/2006/main">
              <a:ext uri="{FF2B5EF4-FFF2-40B4-BE49-F238E27FC236}">
                <a16:creationId xmlns:a16="http://schemas.microsoft.com/office/drawing/2014/main" id="{90E1EA83-1009-4C2C-9E73-229F15DF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47900"/>
                <a:gridCol w="6496050"/>
                <a:gridCol w="2228850"/>
              </a:tblGrid>
              <a:tr h="6064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验收项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待执行检查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运行环境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064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正常输入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输入输出对应，未出现非预期丢弃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 + 目标板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64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满队列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按确认策略处理，统计与实际结果一致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主机边界测试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64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恢复行为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积压解除后可继续接收，错误状态可恢复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 + 目标板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64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执行预算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记录中断 / 任务时间，核对项目预算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目标板测量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6425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回归范围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协议、低负载路径和复位行为保持约定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集成验证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236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xt-151">
            <a:extLst xmlns:a="http://schemas.openxmlformats.org/drawingml/2006/main">
              <a:ext uri="{FF2B5EF4-FFF2-40B4-BE49-F238E27FC236}">
                <a16:creationId xmlns:a16="http://schemas.microsoft.com/office/drawing/2014/main" id="{A77D9EC1-4809-4A4A-B8DF-F7A57B86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案例伪代码：满队列处理</a:t>
            </a:r>
          </a:p>
        </p:txBody>
      </p:sp>
      <p:sp>
        <p:nvSpPr>
          <p:cNvPr id="2" name="txt-152">
            <a:extLst xmlns:a="http://schemas.openxmlformats.org/drawingml/2006/main">
              <a:ext uri="{FF2B5EF4-FFF2-40B4-BE49-F238E27FC236}">
                <a16:creationId xmlns:a16="http://schemas.microsoft.com/office/drawing/2014/main" id="{9F5521CB-3EA2-49C9-A5E6-0F61B6C3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教学策略：保留已排队数据、丢弃新项并计数；须经需求确认</a:t>
            </a:r>
          </a:p>
        </p:txBody>
      </p:sp>
      <p:sp>
        <p:nvSpPr>
          <p:cNvPr id="3" name="txt-153">
            <a:extLst xmlns:a="http://schemas.openxmlformats.org/drawingml/2006/main">
              <a:ext uri="{FF2B5EF4-FFF2-40B4-BE49-F238E27FC236}">
                <a16:creationId xmlns:a16="http://schemas.microsoft.com/office/drawing/2014/main" id="{918DF741-191B-48F9-960E-EB409BB4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xt-154">
            <a:extLst xmlns:a="http://schemas.openxmlformats.org/drawingml/2006/main">
              <a:ext uri="{FF2B5EF4-FFF2-40B4-BE49-F238E27FC236}">
                <a16:creationId xmlns:a16="http://schemas.microsoft.com/office/drawing/2014/main" id="{679B0625-CF32-48D9-BD84-8A84BDA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# 伪代码：帧或缓冲区所有权必须已定义，避免悬空引用</a:t>
            </a:r>
          </a:p>
        </p:txBody>
      </p:sp>
      <p:sp>
        <p:nvSpPr>
          <p:cNvPr id="5" name="txt-155">
            <a:extLst xmlns:a="http://schemas.openxmlformats.org/drawingml/2006/main">
              <a:ext uri="{FF2B5EF4-FFF2-40B4-BE49-F238E27FC236}">
                <a16:creationId xmlns:a16="http://schemas.microsoft.com/office/drawing/2014/main" id="{89A985E4-C72C-4909-A4E1-669DC04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on_rx_item(item):</a:t>
            </a:r>
          </a:p>
        </p:txBody>
      </p:sp>
      <p:sp>
        <p:nvSpPr>
          <p:cNvPr id="6" name="txt-156">
            <a:extLst xmlns:a="http://schemas.openxmlformats.org/drawingml/2006/main">
              <a:ext uri="{FF2B5EF4-FFF2-40B4-BE49-F238E27FC236}">
                <a16:creationId xmlns:a16="http://schemas.microsoft.com/office/drawing/2014/main" id="{A8A8B8BB-64D4-4452-85C3-3F44394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432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result = queue.try_push(item)   # 非阻塞入队；真实接口须适配中断上下文</a:t>
            </a:r>
          </a:p>
        </p:txBody>
      </p:sp>
      <p:sp>
        <p:nvSpPr>
          <p:cNvPr id="7" name="txt-157">
            <a:extLst xmlns:a="http://schemas.openxmlformats.org/drawingml/2006/main">
              <a:ext uri="{FF2B5EF4-FFF2-40B4-BE49-F238E27FC236}">
                <a16:creationId xmlns:a16="http://schemas.microsoft.com/office/drawing/2014/main" id="{FD92F1DC-5A5B-4734-B1FD-07B02E6A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67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if result == FULL:</a:t>
            </a:r>
          </a:p>
        </p:txBody>
      </p:sp>
      <p:sp>
        <p:nvSpPr>
          <p:cNvPr id="8" name="txt-158">
            <a:extLst xmlns:a="http://schemas.openxmlformats.org/drawingml/2006/main">
              <a:ext uri="{FF2B5EF4-FFF2-40B4-BE49-F238E27FC236}">
                <a16:creationId xmlns:a16="http://schemas.microsoft.com/office/drawing/2014/main" id="{3050FF25-D94D-4B06-B71B-4D1313DA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  dropped.add(1)              # 概念计数；原子性与溢出策略需单独设计</a:t>
            </a:r>
          </a:p>
        </p:txBody>
      </p:sp>
      <p:sp>
        <p:nvSpPr>
          <p:cNvPr id="9" name="txt-159">
            <a:extLst xmlns:a="http://schemas.openxmlformats.org/drawingml/2006/main">
              <a:ext uri="{FF2B5EF4-FFF2-40B4-BE49-F238E27FC236}">
                <a16:creationId xmlns:a16="http://schemas.microsoft.com/office/drawing/2014/main" id="{6B94E895-CA1A-4346-8B29-55BB3996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147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  release_if_owned(item)      # 仅在本路径持有所有权时释放</a:t>
            </a:r>
          </a:p>
        </p:txBody>
      </p:sp>
      <p:sp>
        <p:nvSpPr>
          <p:cNvPr id="10" name="txt-160">
            <a:extLst xmlns:a="http://schemas.openxmlformats.org/drawingml/2006/main">
              <a:ext uri="{FF2B5EF4-FFF2-40B4-BE49-F238E27FC236}">
                <a16:creationId xmlns:a16="http://schemas.microsoft.com/office/drawing/2014/main" id="{1936D98F-765A-46E8-A103-145938A2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386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  return DROPPED              # 明确丢弃，不伪报接收成功</a:t>
            </a:r>
          </a:p>
        </p:txBody>
      </p:sp>
      <p:sp>
        <p:nvSpPr>
          <p:cNvPr id="11" name="txt-161">
            <a:extLst xmlns:a="http://schemas.openxmlformats.org/drawingml/2006/main">
              <a:ext uri="{FF2B5EF4-FFF2-40B4-BE49-F238E27FC236}">
                <a16:creationId xmlns:a16="http://schemas.microsoft.com/office/drawing/2014/main" id="{24A930A2-2C70-4D7B-AB81-BD9626BF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62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if result != OK:</a:t>
            </a:r>
          </a:p>
        </p:txBody>
      </p:sp>
      <p:sp>
        <p:nvSpPr>
          <p:cNvPr id="12" name="txt-162">
            <a:extLst xmlns:a="http://schemas.openxmlformats.org/drawingml/2006/main">
              <a:ext uri="{FF2B5EF4-FFF2-40B4-BE49-F238E27FC236}">
                <a16:creationId xmlns:a16="http://schemas.microsoft.com/office/drawing/2014/main" id="{F335F5DA-76CA-4A9A-8876-C68E844A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86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    return record_error(result) # 其他错误需单独记录，不能都归为队列满</a:t>
            </a:r>
          </a:p>
        </p:txBody>
      </p:sp>
      <p:sp>
        <p:nvSpPr>
          <p:cNvPr id="13" name="txt-163">
            <a:extLst xmlns:a="http://schemas.openxmlformats.org/drawingml/2006/main">
              <a:ext uri="{FF2B5EF4-FFF2-40B4-BE49-F238E27FC236}">
                <a16:creationId xmlns:a16="http://schemas.microsoft.com/office/drawing/2014/main" id="{8A4239E1-D335-479D-AA3A-15EB4E84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101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signal_consumer_if_needed()     # 按平台要求触发消费和调度</a:t>
            </a:r>
          </a:p>
        </p:txBody>
      </p:sp>
      <p:sp>
        <p:nvSpPr>
          <p:cNvPr id="14" name="txt-164">
            <a:extLst xmlns:a="http://schemas.openxmlformats.org/drawingml/2006/main">
              <a:ext uri="{FF2B5EF4-FFF2-40B4-BE49-F238E27FC236}">
                <a16:creationId xmlns:a16="http://schemas.microsoft.com/office/drawing/2014/main" id="{679F672C-9366-4F7A-9E0E-D0678872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    return ACCEPTED                 # 仅表示入队成功，不代表整帧业务成功</a:t>
            </a:r>
          </a:p>
        </p:txBody>
      </p:sp>
    </p:spTree>
    <p:extLst>
      <p:ext uri="{BB962C8B-B14F-4D97-AF65-F5344CB8AC3E}">
        <p14:creationId xmlns:p14="http://schemas.microsoft.com/office/powerpoint/2010/main" val="6510410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165">
            <a:extLst xmlns:a="http://schemas.openxmlformats.org/drawingml/2006/main">
              <a:ext uri="{FF2B5EF4-FFF2-40B4-BE49-F238E27FC236}">
                <a16:creationId xmlns:a16="http://schemas.microsoft.com/office/drawing/2014/main" id="{787CBEC7-C145-452E-BFA2-A66F7F1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案例交付包</a:t>
            </a:r>
          </a:p>
        </p:txBody>
      </p:sp>
      <p:sp>
        <p:nvSpPr>
          <p:cNvPr id="2" name="txt-166">
            <a:extLst xmlns:a="http://schemas.openxmlformats.org/drawingml/2006/main">
              <a:ext uri="{FF2B5EF4-FFF2-40B4-BE49-F238E27FC236}">
                <a16:creationId xmlns:a16="http://schemas.microsoft.com/office/drawing/2014/main" id="{275CCEE0-3950-4E66-A0E8-83DB7276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把改动、验收和当前证据关联起来，便于人工 CR</a:t>
            </a:r>
          </a:p>
        </p:txBody>
      </p:sp>
      <p:sp>
        <p:nvSpPr>
          <p:cNvPr id="3" name="txt-167">
            <a:extLst xmlns:a="http://schemas.openxmlformats.org/drawingml/2006/main">
              <a:ext uri="{FF2B5EF4-FFF2-40B4-BE49-F238E27FC236}">
                <a16:creationId xmlns:a16="http://schemas.microsoft.com/office/drawing/2014/main" id="{39585B76-30FA-41F1-876F-8C9B6F40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xt-168">
            <a:extLst xmlns:a="http://schemas.openxmlformats.org/drawingml/2006/main">
              <a:ext uri="{FF2B5EF4-FFF2-40B4-BE49-F238E27FC236}">
                <a16:creationId xmlns:a16="http://schemas.microsoft.com/office/drawing/2014/main" id="{FF2F008F-8E1F-49E1-AC58-44B09F57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E80"/>
                </a:solidFill>
                <a:latin typeface="Microsoft YaHei"/>
                <a:ea typeface="Microsoft YaHei"/>
                <a:cs typeface="Microsoft YaHei"/>
              </a:rPr>
              <a:t># 教学目录示意：名称可调整，产物责任应保留</a:t>
            </a:r>
          </a:p>
        </p:txBody>
      </p:sp>
      <p:sp>
        <p:nvSpPr>
          <p:cNvPr id="5" name="txt-169">
            <a:extLst xmlns:a="http://schemas.openxmlformats.org/drawingml/2006/main">
              <a:ext uri="{FF2B5EF4-FFF2-40B4-BE49-F238E27FC236}">
                <a16:creationId xmlns:a16="http://schemas.microsoft.com/office/drawing/2014/main" id="{0D42F3F8-75F7-452E-B6DA-3E3EDFC1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860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change/</a:t>
            </a:r>
          </a:p>
        </p:txBody>
      </p:sp>
      <p:sp>
        <p:nvSpPr>
          <p:cNvPr id="6" name="txt-170">
            <a:extLst xmlns:a="http://schemas.openxmlformats.org/drawingml/2006/main">
              <a:ext uri="{FF2B5EF4-FFF2-40B4-BE49-F238E27FC236}">
                <a16:creationId xmlns:a16="http://schemas.microsoft.com/office/drawing/2014/main" id="{7FE69F84-4AEC-4334-91E5-4BACAA45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├─ spec.md             # 目标、取舍与验收条件</a:t>
            </a:r>
          </a:p>
        </p:txBody>
      </p:sp>
      <p:sp>
        <p:nvSpPr>
          <p:cNvPr id="7" name="txt-171">
            <a:extLst xmlns:a="http://schemas.openxmlformats.org/drawingml/2006/main">
              <a:ext uri="{FF2B5EF4-FFF2-40B4-BE49-F238E27FC236}">
                <a16:creationId xmlns:a16="http://schemas.microsoft.com/office/drawing/2014/main" id="{71807EBF-CB45-41DF-B0D6-30921BD4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6707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├─ tickets/            # 各切片责任、依赖和完成状态</a:t>
            </a:r>
          </a:p>
        </p:txBody>
      </p:sp>
      <p:sp>
        <p:nvSpPr>
          <p:cNvPr id="8" name="txt-172">
            <a:extLst xmlns:a="http://schemas.openxmlformats.org/drawingml/2006/main">
              <a:ext uri="{FF2B5EF4-FFF2-40B4-BE49-F238E27FC236}">
                <a16:creationId xmlns:a16="http://schemas.microsoft.com/office/drawing/2014/main" id="{94BDD810-422F-4FDE-8F7F-08A74369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576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├─ diff-summary.md     # 修改位置与需求映射</a:t>
            </a:r>
          </a:p>
        </p:txBody>
      </p:sp>
      <p:sp>
        <p:nvSpPr>
          <p:cNvPr id="9" name="txt-173">
            <a:extLst xmlns:a="http://schemas.openxmlformats.org/drawingml/2006/main">
              <a:ext uri="{FF2B5EF4-FFF2-40B4-BE49-F238E27FC236}">
                <a16:creationId xmlns:a16="http://schemas.microsoft.com/office/drawing/2014/main" id="{8458AB48-BFBC-40DC-B30D-46F47E9B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4812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├─ verification.md     # 版本、环境、命令及真实结果</a:t>
            </a:r>
          </a:p>
        </p:txBody>
      </p:sp>
      <p:sp>
        <p:nvSpPr>
          <p:cNvPr id="10" name="txt-174">
            <a:extLst xmlns:a="http://schemas.openxmlformats.org/drawingml/2006/main">
              <a:ext uri="{FF2B5EF4-FFF2-40B4-BE49-F238E27FC236}">
                <a16:creationId xmlns:a16="http://schemas.microsoft.com/office/drawing/2014/main" id="{901C72C7-1DE3-4F16-B14E-AE94DAFF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3865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├─ review.md           # 归并后的意见、处置与未决项</a:t>
            </a:r>
          </a:p>
        </p:txBody>
      </p:sp>
      <p:sp>
        <p:nvSpPr>
          <p:cNvPr id="11" name="txt-175">
            <a:extLst xmlns:a="http://schemas.openxmlformats.org/drawingml/2006/main">
              <a:ext uri="{FF2B5EF4-FFF2-40B4-BE49-F238E27FC236}">
                <a16:creationId xmlns:a16="http://schemas.microsoft.com/office/drawing/2014/main" id="{8698D3CE-75E4-40CE-BABD-CFDB608C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29175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└─ recovery.md         # 回退前提与恢复步骤</a:t>
            </a:r>
          </a:p>
        </p:txBody>
      </p:sp>
      <p:sp>
        <p:nvSpPr>
          <p:cNvPr id="12" name="txt-176">
            <a:extLst xmlns:a="http://schemas.openxmlformats.org/drawingml/2006/main">
              <a:ext uri="{FF2B5EF4-FFF2-40B4-BE49-F238E27FC236}">
                <a16:creationId xmlns:a16="http://schemas.microsoft.com/office/drawing/2014/main" id="{A7CFB6F1-70A0-4C19-B8BA-17233435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B5C23"/>
                </a:solidFill>
                <a:latin typeface="Microsoft YaHei"/>
                <a:ea typeface="Microsoft YaHei"/>
                <a:cs typeface="Microsoft YaHei"/>
              </a:rPr>
              <a:t>本案例未执行实际测试；主机检查与目标板检查须分别记录。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860371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177">
            <a:extLst xmlns:a="http://schemas.openxmlformats.org/drawingml/2006/main">
              <a:ext uri="{FF2B5EF4-FFF2-40B4-BE49-F238E27FC236}">
                <a16:creationId xmlns:a16="http://schemas.microsoft.com/office/drawing/2014/main" id="{F705A79A-6B16-4F41-B374-55E1680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A32"/>
                </a:solidFill>
                <a:latin typeface="Microsoft YaHei"/>
                <a:ea typeface="Microsoft YaHei"/>
                <a:cs typeface="Microsoft YaHei"/>
              </a:rPr>
              <a:t>常见偏差与处理方式</a:t>
            </a:r>
          </a:p>
        </p:txBody>
      </p:sp>
      <p:sp>
        <p:nvSpPr>
          <p:cNvPr id="2" name="txt-178">
            <a:extLst xmlns:a="http://schemas.openxmlformats.org/drawingml/2006/main">
              <a:ext uri="{FF2B5EF4-FFF2-40B4-BE49-F238E27FC236}">
                <a16:creationId xmlns:a16="http://schemas.microsoft.com/office/drawing/2014/main" id="{C5F36909-256E-4CF5-A9B1-77398822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先定位产物和通过条件的缺口，再调整执行方式</a:t>
            </a:r>
          </a:p>
        </p:txBody>
      </p:sp>
      <p:sp>
        <p:nvSpPr>
          <p:cNvPr id="3" name="txt-179">
            <a:extLst xmlns:a="http://schemas.openxmlformats.org/drawingml/2006/main">
              <a:ext uri="{FF2B5EF4-FFF2-40B4-BE49-F238E27FC236}">
                <a16:creationId xmlns:a16="http://schemas.microsoft.com/office/drawing/2014/main" id="{ED1F1400-F1B3-4860-9D7D-25500DB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86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19425"/>
                <a:gridCol w="4152900"/>
                <a:gridCol w="3800475"/>
              </a:tblGrid>
              <a:tr h="608013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7E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处理动作</a:t>
                      </a:r>
                    </a:p>
                  </a:txBody>
                  <a:tcPr marL="91440" marR="91440" marT="45720" marB="45720" anchor="ctr">
                    <a:solidFill>
                      <a:srgbClr val="E0EBE6"/>
                    </a:solidFill>
                  </a:tcPr>
                </a:tc>
              </a:tr>
              <a:tr h="608013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越改越偏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 是否含边界和非目标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回到对齐，修订后确认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8013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并行互相覆盖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文件责任与接口依赖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稳定契约，调整拆分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8013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局部通过但集成失败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检查是否覆盖整合版本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补集成验证并重审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8013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 意见过载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重复意见与缺证据结论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归并、复核、按风险处理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  <a:tr h="608013"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没有设备仍写“通过”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结果状态是否区分未知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  <a:tc>
                  <a:txBody>
                    <a:bodyPr wrap="square" lIns="123825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保留未验证项并交接</a:t>
                      </a:r>
                    </a:p>
                  </a:txBody>
                  <a:tcPr marL="91440" marR="91440" marT="45720" marB="45720" anchor="ctr">
                    <a:solidFill>
                      <a:srgbClr val="F4F3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3287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-180">
            <a:extLst xmlns:a="http://schemas.openxmlformats.org/drawingml/2006/main">
              <a:ext uri="{FF2B5EF4-FFF2-40B4-BE49-F238E27FC236}">
                <a16:creationId xmlns:a16="http://schemas.microsoft.com/office/drawing/2014/main" id="{55F766D1-107B-4D1B-A85B-45DAE99D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4F3EE"/>
                </a:solidFill>
                <a:latin typeface="Microsoft YaHei"/>
                <a:ea typeface="Microsoft YaHei"/>
                <a:cs typeface="Microsoft YaHei"/>
              </a:rPr>
              <a:t>项目中的第一版 SOP</a:t>
            </a:r>
          </a:p>
        </p:txBody>
      </p:sp>
      <p:sp>
        <p:nvSpPr>
          <p:cNvPr id="2" name="txt-181">
            <a:extLst xmlns:a="http://schemas.openxmlformats.org/drawingml/2006/main">
              <a:ext uri="{FF2B5EF4-FFF2-40B4-BE49-F238E27FC236}">
                <a16:creationId xmlns:a16="http://schemas.microsoft.com/office/drawing/2014/main" id="{E12172AC-DA6D-44B4-B7A3-C3CA2E24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091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rPr>
              <a:t>选一个边界清楚的任务，运行完整链路并保留产物</a:t>
            </a:r>
          </a:p>
        </p:txBody>
      </p:sp>
      <p:sp>
        <p:nvSpPr>
          <p:cNvPr id="3" name="txt-182">
            <a:extLst xmlns:a="http://schemas.openxmlformats.org/drawingml/2006/main">
              <a:ext uri="{FF2B5EF4-FFF2-40B4-BE49-F238E27FC236}">
                <a16:creationId xmlns:a16="http://schemas.microsoft.com/office/drawing/2014/main" id="{66BAE516-65B1-4FFC-AB7A-CD2FA128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91275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txt-183">
            <a:extLst xmlns:a="http://schemas.openxmlformats.org/drawingml/2006/main">
              <a:ext uri="{FF2B5EF4-FFF2-40B4-BE49-F238E27FC236}">
                <a16:creationId xmlns:a16="http://schemas.microsoft.com/office/drawing/2014/main" id="{D1BAB09C-F95D-4021-9803-76194CC4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820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0D4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0D4C3"/>
                </a:solidFill>
                <a:latin typeface="Microsoft YaHei"/>
                <a:ea typeface="Microsoft YaHei"/>
                <a:cs typeface="Microsoft YaHei"/>
              </a:rPr>
              <a:t>对齐需求 → 确认 Spec → 拆分与实现</a:t>
            </a:r>
          </a:p>
        </p:txBody>
      </p:sp>
      <p:sp>
        <p:nvSpPr>
          <p:cNvPr id="5" name="txt-184">
            <a:extLst xmlns:a="http://schemas.openxmlformats.org/drawingml/2006/main">
              <a:ext uri="{FF2B5EF4-FFF2-40B4-BE49-F238E27FC236}">
                <a16:creationId xmlns:a16="http://schemas.microsoft.com/office/drawing/2014/main" id="{22AB865D-5FEE-4FBC-A144-05C485BC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20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4F3EE"/>
                </a:solidFill>
                <a:latin typeface="Microsoft YaHei"/>
                <a:ea typeface="Microsoft YaHei"/>
                <a:cs typeface="Microsoft YaHei"/>
              </a:rPr>
              <a:t>验证结果 → PR 审查 → 人工把关</a:t>
            </a:r>
          </a:p>
        </p:txBody>
      </p:sp>
      <p:sp>
        <p:nvSpPr>
          <p:cNvPr id="6" name="txt-185">
            <a:extLst xmlns:a="http://schemas.openxmlformats.org/drawingml/2006/main">
              <a:ext uri="{FF2B5EF4-FFF2-40B4-BE49-F238E27FC236}">
                <a16:creationId xmlns:a16="http://schemas.microsoft.com/office/drawing/2014/main" id="{AB663D9B-3BCF-48D2-B8E2-53B0FF2E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44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rPr>
              <a:t>先保证每一步有明确产物，再扩展并行规模。</a:t>
            </a:r>
          </a:p>
        </p:txBody>
      </p:sp>
      <p:sp>
        <p:nvSpPr>
          <p:cNvPr id="7" name="txt-186">
            <a:extLst xmlns:a="http://schemas.openxmlformats.org/drawingml/2006/main">
              <a:ext uri="{FF2B5EF4-FFF2-40B4-BE49-F238E27FC236}">
                <a16:creationId xmlns:a16="http://schemas.microsoft.com/office/drawing/2014/main" id="{F05B8FC2-4595-4399-A39F-02E0A621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744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AC7C6"/>
                </a:solidFill>
                <a:latin typeface="Microsoft YaHei"/>
                <a:ea typeface="Microsoft YaHei"/>
                <a:cs typeface="Microsoft YaHei"/>
              </a:rPr>
              <a:t>配套 HTML：流程图解、可交互演示、模板与注释伪代码</a:t>
            </a:r>
          </a:p>
        </p:txBody>
      </p:sp>
    </p:spTree>
    <p:extLst>
      <p:ext uri="{BB962C8B-B14F-4D97-AF65-F5344CB8AC3E}">
        <p14:creationId xmlns:p14="http://schemas.microsoft.com/office/powerpoint/2010/main" val="1225083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2026-09-08T09:17:23.7430000Z</dcterms:created>
  <dcterms:modified xsi:type="dcterms:W3CDTF">2026-09-08T09:17:23.7430000Z</dcterms:modified>
</coreProperties>
</file>