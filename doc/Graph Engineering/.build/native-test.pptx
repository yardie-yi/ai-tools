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今天的主题是如何组织AI工作的依赖关系。听众应能画出自己的工作流，区分可并行任务和必须等待的步骤，并为汇总结果定义验收条件。约25分钟分享，可在第6页切到配套HTML演示延迟，在第11页演示静默失败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将loop扩展为graph of loops。单次调用、串行链和循环都可以包含在执行图里。这里按工程复杂度解释，不是彼此取代的时代划分。图不一定是DAG，如果有反馈边就有环。用于耗时估计和调度时可以将局部循环限定次数或封装为有界节点。本文的Graph Engineering是工作流设计方法，并不要求图数据库。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节点描述为一个任务，将边描述为上游输出进入下游输入。工程补充：节点也可以是确定性代码、工具调用或人工检查，并非每个节点都需要模型。此处是执行依赖图；知识图谱的节点通常是实体、边是事实关系。两者可以结合，但解决的问题不同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节点必须有受约束的任务、明确输入和固定输出形状。以下是工程教学示例。输入以不可变commit固定代码版本。输出将finding与执行status分开，无发现不等于没运行。生产中还需校验字段、枚举、来源存在性，失败时有限重试。schema正确只是结构正确，不保证结论真实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出：后一个任务是否真正需要前一个任务的结果？例子是分别审查文件A和B。这里的关键补充是共用文件、API配额、硬件等资源也会形成约束。没有数据依赖只说明有并行的可能，还不能直接证明运行时无冲突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推导，不是性能实测。假设先做准备5秒，再执行三个互相独立的任务，耗时分别为20、30、40秒，最后汇总10秒。资源足够且无额外调度开销时，串行105秒，并行55秒，约1.91倍。若并行新增协调开销15秒，则70秒，约1.50倍。一般DAG的无资源争用下界是关键路径长度，有限并发还受总工作量/并发数约束。循环需先设定展开范围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的核心模式是fan out、reduce、synthesize，并在汇总前加入验证。拆分任务后，不同worker处理互补角度。普通代码完成去重和结构化整理。独立验证者核查证据。最后汇总通过检查的结果，但报告仍须披露失败任务和未验证结论。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普通代码reduce，并在大规模输出时分层fan-in。补充：按来源去重会误删同一来源的不同结论，应采用任务ID、文件位置、规则等适当的业务键。分批摘要也可能丢掉少数异常，因此保留证据引用和原始产物。简单本地代码不消耗模型推理token，但系统存储和后续读取仍有成本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验证者使用独立上下文，避免继承生产者的自我解释。独立不等于没有必要材料：验证者仍需任务要求、待审结论、代码版本、源文件和验收标准。给出正确性、时效性、来源真实性三个视角。工程补充：多数票不能代替测试，多个模型可能有相关性偏差。结论失败后可拒收或有限返工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列出三类问题：输出集中导致上下文溢出、共享资源导致伪独立、worker失败而最终报告看似完整。此表将对策转为工程动作。分层摘要仍需要追溯原始证据。独立worktree防止覆盖，但不保证合并没有语义冲突。完整性检查不能只数返回条数，还应验证job_id集合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补充。每个job用固定ID，完成指进入success、failed、cancelled等终态，不代表全部成功。明确区分成功且无发现、超时、schema失败、验证不通过。重复回包不能弥补缺失ID。尝试次数、截止时间、预算都要有上限。被判定为代码缺陷是发现，不应自动触发worker重试。使用配套HTML切换失败演示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拓扑结构不自动带来真实可靠的结论。节点互相看同一套报告，可能只是自洽。工程中的锚点可以是实际运行的测试、原始日志和固定验收规则。以下嵌入式例子是假设场景，不是项目实际记录。测试通过也只证明被测条件下的结果，需要考虑覆盖范围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适合有宽度的工作，小任务、真正串行的任务以及仍在探索的任务可能更适合单Agent或简单循环。图本身可以包含串行结构，所以这里讨论是否值得增加并行编排。补充：流程中设置少量必要人工关卡是合理的，不等于必须每一步审批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学案例，未运行用户工程。目标是对同一提交的驱动文件做只读错误处理审查。可以对UART、SPI、I2C文件分别分发任务，输出统一finding契约。为了避免跨文件知识缺失，各worker应获得相关头文件和接口定义。归并处理重复问题，独立验证检查完整调用链或最小复现。最后输出带覆盖率的清单，需改代码时再进入修复、构建和测试阶段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学案例，不描述任何实际板卡故障。对固定快照进行不同主题的只读检查通常可以并行，但跨模块约束必须进入上下文。并发烧录同一板卡、写同一构建目录会冲突。测试日志若来自旧固件，也不是当前补丁的证据。图只安排工作，无法消除物理资源排他性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框架无关的自然语言任务规格，不是可直接执行的SDK代码。限制参数是教学起点，不是通用最佳值。范围、并发、超时、失败策略、验收标准、输出目录都应具体。试点先只读，避免将发现问题和自动修复混在一次尚未验证的流程里。HTML中提供可复制的完整版本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伪代码，仅描述顺序。parallelBounded需要实际实现并发上限、超时及取消，runChecked需要执行schema校验与有限重试，auditCoverage核验ID集合，verifyFresh需要独立上下文和证据访问。不要把函数名误读成某个框架的真实API。对有副作用的节点，重试前必须设计幂等键或状态检测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提出workflow用法。Dynamic workflows：Claude编写JavaScript编排脚本，runtime执行subagents，任务中间结果可保存在脚本变量中。当前支持明确请求创建workflow，也说明ultracode入口。功能可用性受套餐、配置和管理员设置影响。这里不实际启动workflow或改变配置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出多Agent的总token花费会变大，调度方便并不意味着工作免费。工程补充建议按有效结果衡量收益：成功完成相同验收目标所用时间、总token、工具调用和人工复核投入。要同时控制并发峰值与总工作量。重试可能有新模型输入费用，重复派发不一定改善独立证据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落地建议。选择已知代码版本和固定问题集，先获得单Agent基线，再只增加一个并行维度，避免模型、范围、提示词同时变化导致无法归因。预先定义成功标准，不在结果不好时放宽规则。报告须包含未覆盖任务和成本。只有质量不下降且节省的等待值得新增成本，才扩大范围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动题，教学答案在讲者备注中。A和B同读固定代码快照，在资源允许下可并行；C必须读取A和B的发现；D必须等待补丁；E读取D的固件产物并占用独立板卡。不要删掉C到D或D到E的真依赖。讨论额外问题：B超时是否输出部分报告，是否需要人工继续确认？由Graph Spec的失败政策决定。</a:t>
            </a:r>
          </a:p>
          <a:p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CF288B-D1D0-441E-B1EF-63E63F238FFD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Graph Engineering</a:t>
            </a:r>
            <a:endParaRPr sz="3300" b="1">
              <a:solidFill>
                <a:srgbClr val="F7F5E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4DA4BB-AA3A-416F-AB57-378E7AEE0FA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中文技术分享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A7C20-5263-400D-B52D-9DB9BBA254F8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E6F537-BDD8-4287-9529-88F24E78E379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038225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AI Agent 工作流的依赖、并行与验证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0DAD7F-4752-4C13-A202-360EAAD3D087}"/>
              </a:ext>
            </a:extLst>
          </p:cNvPr>
          <p:cNvSpPr>
            <a:spLocks noGrp="1"/>
          </p:cNvSpPr>
          <p:nvPr/>
        </p:nvSpPr>
        <p:spPr>
          <a:xfrm>
            <a:off x="704850" y="374332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让任务按真实依赖执行，让结论经得起外部检验。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A0CF12-7D09-491D-926B-9857D152F922}"/>
              </a:ext>
            </a:extLst>
          </p:cNvPr>
          <p:cNvSpPr>
            <a:spLocks noGrp="1"/>
          </p:cNvSpPr>
          <p:nvPr/>
        </p:nvSpPr>
        <p:spPr>
          <a:xfrm>
            <a:off x="704850" y="5314950"/>
            <a:ext cx="102870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以代码审查和嵌入式开发为例</a:t>
            </a:r>
          </a:p>
        </p:txBody>
      </p:sp>
    </p:spTree>
    <p:extLst>
      <p:ext uri="{BB962C8B-B14F-4D97-AF65-F5344CB8AC3E}">
        <p14:creationId xmlns:p14="http://schemas.microsoft.com/office/powerpoint/2010/main" val="158360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498696F-0774-422B-A320-C328D031990C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单次调用、循环与图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C9BFB-1750-4212-9106-F29652F33C0C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 + 概念补充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395AFE-DB7B-4EF6-AF72-B15783CECDAE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66B3D8-F8FA-4358-830A-1384005CB77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单次调用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42BAC4-4AF9-417F-B870-68E49D4EF636}"/>
              </a:ext>
            </a:extLst>
          </p:cNvPr>
          <p:cNvSpPr>
            <a:spLocks noGrp="1"/>
          </p:cNvSpPr>
          <p:nvPr/>
        </p:nvSpPr>
        <p:spPr>
          <a:xfrm>
            <a:off x="3905250" y="16383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一个请求得到一个结果，适合边界清楚的小任务。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47F7A9-F3F3-4EFD-AD7E-75F168DF72F0}"/>
              </a:ext>
            </a:extLst>
          </p:cNvPr>
          <p:cNvSpPr>
            <a:spLocks noGrp="1"/>
          </p:cNvSpPr>
          <p:nvPr/>
        </p:nvSpPr>
        <p:spPr>
          <a:xfrm>
            <a:off x="666750" y="27051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循环 Loop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3FF93C-1231-4974-B018-4E2E71486AE6}"/>
              </a:ext>
            </a:extLst>
          </p:cNvPr>
          <p:cNvSpPr>
            <a:spLocks noGrp="1"/>
          </p:cNvSpPr>
          <p:nvPr/>
        </p:nvSpPr>
        <p:spPr>
          <a:xfrm>
            <a:off x="3905250" y="27051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产出、检查、修正，直到满足标准或触及上限。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9B57BD-7ED2-4498-A8C6-3D3FBDBBB982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依赖图 Graph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8F2325-CC4D-4789-A766-CC1BB1D8A508}"/>
              </a:ext>
            </a:extLst>
          </p:cNvPr>
          <p:cNvSpPr>
            <a:spLocks noGrp="1"/>
          </p:cNvSpPr>
          <p:nvPr/>
        </p:nvSpPr>
        <p:spPr>
          <a:xfrm>
            <a:off x="3905250" y="37719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明确多个任务的依赖，安排分支、汇合和反馈。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0BDC3B-F1CD-4782-A52F-6CF49BF99449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图中的循环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76DE97-7D13-4610-BD1B-A0376D9BF7FA}"/>
              </a:ext>
            </a:extLst>
          </p:cNvPr>
          <p:cNvSpPr>
            <a:spLocks noGrp="1"/>
          </p:cNvSpPr>
          <p:nvPr/>
        </p:nvSpPr>
        <p:spPr>
          <a:xfrm>
            <a:off x="3905250" y="48387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各分支可以独立迭代，汇合后仍需检查全局一致性。</a:t>
            </a:r>
          </a:p>
        </p:txBody>
      </p:sp>
    </p:spTree>
    <p:extLst>
      <p:ext uri="{BB962C8B-B14F-4D97-AF65-F5344CB8AC3E}">
        <p14:creationId xmlns:p14="http://schemas.microsoft.com/office/powerpoint/2010/main" val="94277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AAFFA32-AE82-4953-8801-3F6195197467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节点与边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A663C8-2F24-4583-89BE-FFC9A659A936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9B2BC1-13F5-4184-AADC-7851E93E6C1B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0" y="1602581"/>
            <a:ext cx="7239000" cy="407193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A9ACFF8-4620-470B-896E-63A78BB83158}"/>
              </a:ext>
            </a:extLst>
          </p:cNvPr>
          <p:cNvSpPr>
            <a:spLocks noGrp="1"/>
          </p:cNvSpPr>
          <p:nvPr/>
        </p:nvSpPr>
        <p:spPr>
          <a:xfrm>
            <a:off x="666750" y="1838325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节点 Node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B79F79-6D5F-4484-9F8A-13CD81074326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33337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一个职责明确的任务</a:t>
            </a: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可以由模型或代码执行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1CD713-162E-419A-9B44-E811123F4900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边 Edge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F04FCF-89AE-4F8F-808E-EFCD3F850635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33337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传递结果或约束顺序</a:t>
            </a: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下游满足条件后启动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1E2C5F-A04D-482E-BBBA-2AF221DEE1A6}"/>
              </a:ext>
            </a:extLst>
          </p:cNvPr>
          <p:cNvSpPr>
            <a:spLocks noGrp="1"/>
          </p:cNvSpPr>
          <p:nvPr/>
        </p:nvSpPr>
        <p:spPr>
          <a:xfrm>
            <a:off x="666750" y="57816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本次讨论执行依赖图。知识图谱描述实体与事实关系。</a:t>
            </a:r>
          </a:p>
        </p:txBody>
      </p:sp>
    </p:spTree>
    <p:extLst>
      <p:ext uri="{BB962C8B-B14F-4D97-AF65-F5344CB8AC3E}">
        <p14:creationId xmlns:p14="http://schemas.microsoft.com/office/powerpoint/2010/main" val="67724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4006A6C-AC10-4042-B83E-CAAC79CE306D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节点契约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3B8B84-CCAF-4F82-AF78-E409547C56A1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方法说明 + 教学示例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1AD89E-F839-4247-BA97-2F724B86AC8A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1AA90E-3243-4AED-8160-4C0391D267F1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AFA7C8-7DAE-4528-A3C3-07335FE2109A}"/>
              </a:ext>
            </a:extLst>
          </p:cNvPr>
          <p:cNvSpPr>
            <a:spLocks noGrp="1"/>
          </p:cNvSpPr>
          <p:nvPr/>
        </p:nvSpPr>
        <p:spPr>
          <a:xfrm>
            <a:off x="3905250" y="16192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审查一个源文件的错误处理，只提交发现与证据。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FED9B2-8E8A-4795-A0B8-BEE2F36E3541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81809F-EB2B-4EA9-A9EA-805981694F6F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job_id、commit、file、审查规则和只读权限。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79DFB7-E05C-450A-A6E5-CCC401360929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A10020-09ED-4A9C-82DA-7A1C48874705}"/>
              </a:ext>
            </a:extLst>
          </p:cNvPr>
          <p:cNvSpPr>
            <a:spLocks noGrp="1"/>
          </p:cNvSpPr>
          <p:nvPr/>
        </p:nvSpPr>
        <p:spPr>
          <a:xfrm>
            <a:off x="3905250" y="35623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status、findings[]、evidence、error、attempt。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A6C0CA-858B-4B78-9A00-261C9CE2A63E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{ job_id: "J07", status: "ok", findings: [] 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709AFF-10C7-4AB2-BEFE-E7C2EFA9B788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空 findings 表示检查后无发现。没有返回结果需要单独报错。</a:t>
            </a:r>
          </a:p>
        </p:txBody>
      </p:sp>
    </p:spTree>
    <p:extLst>
      <p:ext uri="{BB962C8B-B14F-4D97-AF65-F5344CB8AC3E}">
        <p14:creationId xmlns:p14="http://schemas.microsoft.com/office/powerpoint/2010/main" val="203606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3C29008-F27F-47A9-8FCD-4FD2EA5E79EC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虚假依赖测试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389A82-86AC-400B-8819-E45028ADAB4B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162A6-32EF-4CAF-811D-938D3B902512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2058" y="1466850"/>
            <a:ext cx="7332133" cy="41243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120B6E-1AC8-4569-BA59-EA79D063748E}"/>
              </a:ext>
            </a:extLst>
          </p:cNvPr>
          <p:cNvSpPr>
            <a:spLocks noGrp="1"/>
          </p:cNvSpPr>
          <p:nvPr/>
        </p:nvSpPr>
        <p:spPr>
          <a:xfrm>
            <a:off x="666750" y="1914525"/>
            <a:ext cx="32956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B 要消费</a:t>
            </a:r>
          </a:p>
          <a:p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A 的结果吗？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86B2D-F98B-4289-9340-7B1624F61F41}"/>
              </a:ext>
            </a:extLst>
          </p:cNvPr>
          <p:cNvSpPr>
            <a:spLocks noGrp="1"/>
          </p:cNvSpPr>
          <p:nvPr/>
        </p:nvSpPr>
        <p:spPr>
          <a:xfrm>
            <a:off x="666750" y="3248025"/>
            <a:ext cx="3314700" cy="188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需要：保留先后顺序。</a:t>
            </a:r>
          </a:p>
          <a:p>
            <a:endParaRPr sz="2025" b="0">
              <a:solidFill>
                <a:srgbClr val="162C39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不需要：再检查共享资源，</a:t>
            </a: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确认后才并行。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6BA365-9F19-4AA2-88DA-9E8BF316C7B3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边的存在应当有理由：数据、控制条件或资源约束。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143109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0A93F51-78A1-49D4-98CE-C14383F4984B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并行收益取决于关键路径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1FB6B5-8E27-47EF-A5C1-4D4F43913757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工程推导 · 理想化教学数值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1B2E10-1E6A-42D9-BBE1-66BF995CA78B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0E2DF0-7C75-41F4-B4F3-69F34E094B43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准备 5s    独立任务 20s / 30s / 40s    汇总 10s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446EFD-DFED-4CFD-B5CC-2D0319D246C5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45720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105s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3400A8-9539-4A13-8FB0-103E01E1B7A7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串行：5 + 20 + 30 + 40 + 10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673569-C0C6-470A-8D5B-F6CF39324520}"/>
              </a:ext>
            </a:extLst>
          </p:cNvPr>
          <p:cNvSpPr>
            <a:spLocks noGrp="1"/>
          </p:cNvSpPr>
          <p:nvPr/>
        </p:nvSpPr>
        <p:spPr>
          <a:xfrm>
            <a:off x="6858000" y="2638425"/>
            <a:ext cx="46672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55s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D35955-176A-4E95-BDFD-568A2476D606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53816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理想并行：5 + max(20, 30, 40) + 10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7D4054-A995-4B0E-AA80-F6D9EDD2E904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108585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加入 15s 额外协调开销后为 70s。并发上限和资源争用还会增加耗时。</a:t>
            </a:r>
          </a:p>
        </p:txBody>
      </p:sp>
    </p:spTree>
    <p:extLst>
      <p:ext uri="{BB962C8B-B14F-4D97-AF65-F5344CB8AC3E}">
        <p14:creationId xmlns:p14="http://schemas.microsoft.com/office/powerpoint/2010/main" val="127401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4A6DF94-F512-45C1-B0A1-E550F4B178CC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菱形工作流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6E030F-D27B-459B-925F-F8A345C17D2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89FCD0-C9EA-4926-8FF2-8D8F510878A6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62375" y="1502866"/>
            <a:ext cx="7762875" cy="436661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3E7B81E-AF2B-4DD1-8241-62992CCAFB41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8575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分发 Fan-out</a:t>
            </a:r>
          </a:p>
          <a:p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让独立任务同时进行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FC66C3-C4E0-43C0-8715-ECBB71A20C21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28575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归并 Reduce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用代码整理和去重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2DB94E-6BE6-4FCE-873A-C9715E0F06CB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28575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综合 Synthesize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基于证据形成报告</a:t>
            </a:r>
          </a:p>
        </p:txBody>
      </p:sp>
    </p:spTree>
    <p:extLst>
      <p:ext uri="{BB962C8B-B14F-4D97-AF65-F5344CB8AC3E}">
        <p14:creationId xmlns:p14="http://schemas.microsoft.com/office/powerpoint/2010/main" val="1294140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0E6101D-3DCA-41FC-BBB5-79AB95C0BE09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汇总前的数据整理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3D89D6-3AEF-4F60-88CE-D22B2E8CEC08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方法说明 + 工程补充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D308C9-B914-4A04-B259-E785F5E327D2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6EEC43-03F9-478A-8259-DDF8CE24AF50}"/>
              </a:ext>
            </a:extLst>
          </p:cNvPr>
          <p:cNvSpPr>
            <a:spLocks noGrp="1"/>
          </p:cNvSpPr>
          <p:nvPr/>
        </p:nvSpPr>
        <p:spPr>
          <a:xfrm>
            <a:off x="666750" y="164782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EFCA0A-390F-4298-B645-A08FFFF5EEF9}"/>
              </a:ext>
            </a:extLst>
          </p:cNvPr>
          <p:cNvSpPr>
            <a:spLocks noGrp="1"/>
          </p:cNvSpPr>
          <p:nvPr/>
        </p:nvSpPr>
        <p:spPr>
          <a:xfrm>
            <a:off x="3905250" y="164782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 是否匹配？格式和状态是否合法？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2C7F98-DCBD-4DB8-BB01-D155D62EE391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再去重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10CD46-A038-4238-BCF8-882F9963D48D}"/>
              </a:ext>
            </a:extLst>
          </p:cNvPr>
          <p:cNvSpPr>
            <a:spLocks noGrp="1"/>
          </p:cNvSpPr>
          <p:nvPr/>
        </p:nvSpPr>
        <p:spPr>
          <a:xfrm>
            <a:off x="3905250" y="26955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按文件位置与问题规则等业务键合并重复发现。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7E445D-8DF5-4909-91A5-A6066CF3DC92}"/>
              </a:ext>
            </a:extLst>
          </p:cNvPr>
          <p:cNvSpPr>
            <a:spLocks noGrp="1"/>
          </p:cNvSpPr>
          <p:nvPr/>
        </p:nvSpPr>
        <p:spPr>
          <a:xfrm>
            <a:off x="666750" y="374332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再压缩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21AE92-2B28-413A-A0FB-CD4049846A86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结果过多时分组摘要，保留证据 ID 和异常项。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2F916A-07E9-4DD4-AF43-3933100DC420}"/>
              </a:ext>
            </a:extLst>
          </p:cNvPr>
          <p:cNvSpPr>
            <a:spLocks noGrp="1"/>
          </p:cNvSpPr>
          <p:nvPr/>
        </p:nvSpPr>
        <p:spPr>
          <a:xfrm>
            <a:off x="666750" y="47910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最后综合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E1E305-FCBB-41F7-9924-27C225CF53B2}"/>
              </a:ext>
            </a:extLst>
          </p:cNvPr>
          <p:cNvSpPr>
            <a:spLocks noGrp="1"/>
          </p:cNvSpPr>
          <p:nvPr/>
        </p:nvSpPr>
        <p:spPr>
          <a:xfrm>
            <a:off x="3905250" y="47910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只把必要证据交给汇总节点，注明覆盖范围。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82208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8AF9045-0BBB-4EAA-B208-36C8E7B5F4A6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独立验证节点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85518-397A-462D-A186-62676AADEA17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AF5C36-8A96-4D28-AA1B-167C83FD169D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E79A43-F02B-4983-962F-A26E59A33684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给它什么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42D4AE-A7DA-423A-8126-8A0BB1B6CD81}"/>
              </a:ext>
            </a:extLst>
          </p:cNvPr>
          <p:cNvSpPr>
            <a:spLocks noGrp="1"/>
          </p:cNvSpPr>
          <p:nvPr/>
        </p:nvSpPr>
        <p:spPr>
          <a:xfrm>
            <a:off x="3905250" y="16573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待验证结论、原始证据、验收标准。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04A938-D743-47B2-8E2D-73E34367812F}"/>
              </a:ext>
            </a:extLst>
          </p:cNvPr>
          <p:cNvSpPr>
            <a:spLocks noGrp="1"/>
          </p:cNvSpPr>
          <p:nvPr/>
        </p:nvSpPr>
        <p:spPr>
          <a:xfrm>
            <a:off x="666750" y="27051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避免什么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2822DB-7097-484B-B39B-5B700E450382}"/>
              </a:ext>
            </a:extLst>
          </p:cNvPr>
          <p:cNvSpPr>
            <a:spLocks noGrp="1"/>
          </p:cNvSpPr>
          <p:nvPr/>
        </p:nvSpPr>
        <p:spPr>
          <a:xfrm>
            <a:off x="3905250" y="27051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把生产者整段对话当成既定事实传下去。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BF0E1-00A1-472C-BF01-3D0EB347254C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怎样检查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ED51A-21A3-43DB-9CAD-D630A7E90998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尝试反驳结论，检查来源，执行可复现验证。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47D120-96CE-4592-8A80-DEB96264F2D1}"/>
              </a:ext>
            </a:extLst>
          </p:cNvPr>
          <p:cNvSpPr>
            <a:spLocks noGrp="1"/>
          </p:cNvSpPr>
          <p:nvPr/>
        </p:nvSpPr>
        <p:spPr>
          <a:xfrm>
            <a:off x="666750" y="48006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怎样裁决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D2F827-56CB-4B20-AA0D-D98DF10FFF32}"/>
              </a:ext>
            </a:extLst>
          </p:cNvPr>
          <p:cNvSpPr>
            <a:spLocks noGrp="1"/>
          </p:cNvSpPr>
          <p:nvPr/>
        </p:nvSpPr>
        <p:spPr>
          <a:xfrm>
            <a:off x="3905250" y="48006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通过、拒绝或证据不足，并记录理由。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79338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A7A483F-E562-4DE6-8A8D-6587796F0630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三类容易被掩盖的故障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431E10-73C1-434E-9C1E-5C444AC2C499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EAAEE3-6D3A-4923-BECB-DA36241BBD26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2059834730"/>
              </p:ext>
            </p:extLst>
          </p:nvPr>
        </p:nvGraphicFramePr>
        <p:xfrm>
          <a:off x="666750" y="1809750"/>
          <a:ext cx="10858500" cy="3381375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3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工程处理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zh-CN" altLang="en-US"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上下文过载</a:t>
                      </a:r>
                      <a:endParaRPr sz="1950" b="0">
                        <a:solidFill>
                          <a:srgbClr val="162C39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最终节点接不住所有输出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分层汇总，保留来源索引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隐藏资源依赖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并行任务覆盖文件或抢设备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隔离工作区，限定资源并发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静默节点失败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少了输入却生成完整报告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 ID，明确失败和缺项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BB688A9-E201-4B55-B0DF-99A5B87436E2}"/>
              </a:ext>
            </a:extLst>
          </p:cNvPr>
          <p:cNvSpPr>
            <a:spLocks noGrp="1"/>
          </p:cNvSpPr>
          <p:nvPr/>
        </p:nvSpPr>
        <p:spPr>
          <a:xfrm>
            <a:off x="666750" y="55340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并行扩大了吞吐量，也扩大了对完整性和可观测性的要求。</a:t>
            </a:r>
          </a:p>
        </p:txBody>
      </p:sp>
    </p:spTree>
    <p:extLst>
      <p:ext uri="{BB962C8B-B14F-4D97-AF65-F5344CB8AC3E}">
        <p14:creationId xmlns:p14="http://schemas.microsoft.com/office/powerpoint/2010/main" val="12732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57CDBD8-1A90-4025-B75B-2943C80A81CF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任务完成与结果完整性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134291-4820-4938-B92A-F3796B33220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运行状态与 fan-in 检查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FE8F1D-026F-4882-99DF-89590685BBC8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C637B1-F8D7-48B9-8291-A784C8B4F8A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任务集：A、B、C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3A75D8-D19E-4068-83E7-EFEFDE915F0D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收到：A 成功、B 无发现、C 超时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0EBB44-A7BA-4903-BF98-0225EEEEB820}"/>
              </a:ext>
            </a:extLst>
          </p:cNvPr>
          <p:cNvSpPr>
            <a:spLocks noGrp="1"/>
          </p:cNvSpPr>
          <p:nvPr/>
        </p:nvSpPr>
        <p:spPr>
          <a:xfrm>
            <a:off x="666750" y="3495675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结论：2 / 3 完成有效检查，C 待补查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98ADD-2372-448E-B0FF-46D082E8C95D}"/>
              </a:ext>
            </a:extLst>
          </p:cNvPr>
          <p:cNvSpPr>
            <a:spLocks noGrp="1"/>
          </p:cNvSpPr>
          <p:nvPr/>
        </p:nvSpPr>
        <p:spPr>
          <a:xfrm>
            <a:off x="666750" y="4752975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先核对 ID 集合和状态，再决定重试、输出部分报告或停止。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有限重试只针对可恢复错误。所有报告都应披露未覆盖范围。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951785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96D0463-DAFB-4E88-BCA9-770E60BEBE4C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Anchors：连接外部证据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094B25-68DD-46A2-B7E3-64283A896CED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2F529A-8C79-4584-85F7-76C332E0018C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76725" y="1654076"/>
            <a:ext cx="7191375" cy="40451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299E243-9096-4047-900A-9D3EF7E96D7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真实运行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8D7485-305A-4AAF-9D02-AAFB051179B8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构建退出码、测试产物</a:t>
            </a: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原始日志、板上测量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F3ACDB-CD87-4EE5-8C18-7315A9678AD1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固定标准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572BBD-D3AC-4EE0-B4F0-086BB74BCB6A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固件版本、测试条件</a:t>
            </a:r>
          </a:p>
          <a:p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不可由优化器自行放宽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F18437-499D-463A-82A5-52F23717F38B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58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验证的是外部事实，而非多个节点对同一份报告的赞同。</a:t>
            </a:r>
          </a:p>
        </p:txBody>
      </p:sp>
    </p:spTree>
    <p:extLst>
      <p:ext uri="{BB962C8B-B14F-4D97-AF65-F5344CB8AC3E}">
        <p14:creationId xmlns:p14="http://schemas.microsoft.com/office/powerpoint/2010/main" val="1346676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3EEB41-D265-4593-8FE9-D9C5659EBB08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FDB83E-4C4F-4DD7-A1EB-235BD79E38D1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适用性判断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CC8E80-4F76-4830-A4CA-8B0533E7CB86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704975"/>
          <a:ext cx="10858500" cy="3857625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任务特征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更合适的起点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多个独立模块，验收规则相同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有限并行的审查工作流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一个缺陷，尚未明确复现条件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Agent 对话式排查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编译后才能烧录，烧录后才能测量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保留真实顺序的流程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多个方案，可在固定标准下比较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并行探索，再独立评估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46F78F8-7E3D-4124-81A2-B159EC9A984C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判断依据是依赖关系和收益，不是 Agent 数量。</a:t>
            </a:r>
          </a:p>
        </p:txBody>
      </p:sp>
    </p:spTree>
    <p:extLst>
      <p:ext uri="{BB962C8B-B14F-4D97-AF65-F5344CB8AC3E}">
        <p14:creationId xmlns:p14="http://schemas.microsoft.com/office/powerpoint/2010/main" val="76589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2C705A7-91BB-4E4A-9165-E2F64C272311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嵌入式案例：驱动审查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4C99A1-3706-49DC-B792-041DC249EF3B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无实际项目测试结果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CFAE66-DA5A-41CF-BB45-F90E795B5DDF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7F12F-5186-408B-ABD7-7CF85550D25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输入范围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FF73DD-7AE1-461B-BF35-2B54924FDF53}"/>
              </a:ext>
            </a:extLst>
          </p:cNvPr>
          <p:cNvSpPr>
            <a:spLocks noGrp="1"/>
          </p:cNvSpPr>
          <p:nvPr/>
        </p:nvSpPr>
        <p:spPr>
          <a:xfrm>
            <a:off x="3905250" y="16954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 commit，选定 UART / SPI / I2C 驱动文件。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F9EFDE-3390-4A02-BFA5-6321DAB98E82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并行工作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64E08-216C-41FE-A883-8AFF680FB3AD}"/>
              </a:ext>
            </a:extLst>
          </p:cNvPr>
          <p:cNvSpPr>
            <a:spLocks noGrp="1"/>
          </p:cNvSpPr>
          <p:nvPr/>
        </p:nvSpPr>
        <p:spPr>
          <a:xfrm>
            <a:off x="3905250" y="27432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各自审查返回值、超时路径和资源释放，记录证据。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BA119D-6D82-42E8-AA93-5DAED9244045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归并与验证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32E28E-6F73-47E3-AF3F-16BAE1D7FA1B}"/>
              </a:ext>
            </a:extLst>
          </p:cNvPr>
          <p:cNvSpPr>
            <a:spLocks noGrp="1"/>
          </p:cNvSpPr>
          <p:nvPr/>
        </p:nvSpPr>
        <p:spPr>
          <a:xfrm>
            <a:off x="3905250" y="379095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去重后检查调用链，复核问题是否可触发。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377AA3-00FE-4A71-8C5F-7AD4E7D2A54D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AAB277-E67C-43AC-8ECF-C838E831BA64}"/>
              </a:ext>
            </a:extLst>
          </p:cNvPr>
          <p:cNvSpPr>
            <a:spLocks noGrp="1"/>
          </p:cNvSpPr>
          <p:nvPr/>
        </p:nvSpPr>
        <p:spPr>
          <a:xfrm>
            <a:off x="3905250" y="48387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问题、证据、影响范围、未检查文件和下一步验证。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87414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2126F55-028B-45A3-8693-1B82715C4952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FreeRTOS 场景里的真实依赖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085DD7-F6CC-47A7-A09F-D44A790217A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资源和版本约束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C7EF84-2C41-41FA-A598-16741FACC381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724025"/>
          <a:ext cx="10858500" cy="394335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候选任务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并行条件或必须等待的原因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查队列调用与查超时处理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只读同一快照，提供相关接口上下文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两个模块同时生成补丁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独立工作区，合并后统一回归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两项测试使用同一块板卡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独占租约或排队，避免互相改状态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补丁、编译、烧录、板上测试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后一步依赖前一步产物，保留顺序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44CE7-1A30-4D8E-A04F-DD9C2B54277B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代码版本、固件哈希和日志来源必须匹配。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1012243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341346D-D4F1-4AF3-B7A2-693D91E20B44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一份最小 Graph Spec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897D36-B680-4DA0-A9BD-C1B5612E9CF9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可迁移的任务规格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3C73D0-DDC7-40E4-AC01-17DC7A89CB7D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176CF9-47BF-469F-B21A-D026A00E3B53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目标与范围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33993C-E3E3-4C8C-9CBD-7791C348BDF2}"/>
              </a:ext>
            </a:extLst>
          </p:cNvPr>
          <p:cNvSpPr>
            <a:spLocks noGrp="1"/>
          </p:cNvSpPr>
          <p:nvPr/>
        </p:nvSpPr>
        <p:spPr>
          <a:xfrm>
            <a:off x="3905250" y="16383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审查指定 commit 下最多 12 个驱动文件，只读。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666A90-A81D-4A42-AF2F-025B48FCFB8E}"/>
              </a:ext>
            </a:extLst>
          </p:cNvPr>
          <p:cNvSpPr>
            <a:spLocks noGrp="1"/>
          </p:cNvSpPr>
          <p:nvPr/>
        </p:nvSpPr>
        <p:spPr>
          <a:xfrm>
            <a:off x="666750" y="27051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任务与预算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D5851B-1155-4BA6-81EC-E545ED2CF98C}"/>
              </a:ext>
            </a:extLst>
          </p:cNvPr>
          <p:cNvSpPr>
            <a:spLocks noGrp="1"/>
          </p:cNvSpPr>
          <p:nvPr/>
        </p:nvSpPr>
        <p:spPr>
          <a:xfrm>
            <a:off x="3905250" y="27051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每文件一个任务，并发不超过 3，每任务最多 2 次尝试。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5294AB-E674-4304-919D-A50844223533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验证与失败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CC2912-B90D-4D1A-8BC1-CC283A832ECA}"/>
              </a:ext>
            </a:extLst>
          </p:cNvPr>
          <p:cNvSpPr>
            <a:spLocks noGrp="1"/>
          </p:cNvSpPr>
          <p:nvPr/>
        </p:nvSpPr>
        <p:spPr>
          <a:xfrm>
            <a:off x="3905250" y="37719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每个发现独立复核。超时和漏项必须出现在报告中。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77D1D4-5A9B-4699-9C80-A04AB90C1DB7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4D5D8D-CCAE-4C47-8C11-72D9B9C731AB}"/>
              </a:ext>
            </a:extLst>
          </p:cNvPr>
          <p:cNvSpPr>
            <a:spLocks noGrp="1"/>
          </p:cNvSpPr>
          <p:nvPr/>
        </p:nvSpPr>
        <p:spPr>
          <a:xfrm>
            <a:off x="3905250" y="48387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逐项标注证据与覆盖状态，输出报告后结束。</a:t>
            </a:r>
          </a:p>
        </p:txBody>
      </p:sp>
    </p:spTree>
    <p:extLst>
      <p:ext uri="{BB962C8B-B14F-4D97-AF65-F5344CB8AC3E}">
        <p14:creationId xmlns:p14="http://schemas.microsoft.com/office/powerpoint/2010/main" val="99522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00400CD-BC8C-4893-A8AA-7F4987CBE2B5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编排层的职责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FCA17-0BE4-4BFD-B6F4-5B1754102AF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伪代码，非特定 SDK API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1252F5-4F93-4698-81D4-CC44B0517F8F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901F40-E055-4D61-BE90-76DA122DDECF}"/>
              </a:ext>
            </a:extLst>
          </p:cNvPr>
          <p:cNvSpPr>
            <a:spLocks noGrp="1"/>
          </p:cNvSpPr>
          <p:nvPr/>
        </p:nvSpPr>
        <p:spPr>
          <a:xfrm>
            <a:off x="704850" y="1743075"/>
            <a:ext cx="1066800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jobs = plan(scope, fixed_commit)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results = parallelBounded(jobs, limit=3, runChecked)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coverage = auditCoverage(jobs, results)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findings = dedupe(validResults(results))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verified = verifyFresh(findings, acceptance_rules)</a:t>
            </a:r>
          </a:p>
          <a:p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report(verified, coverage, failed_jobs)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8AEC9C-FA2E-4A96-90BB-FF13F1452C77}"/>
              </a:ext>
            </a:extLst>
          </p:cNvPr>
          <p:cNvSpPr>
            <a:spLocks noGrp="1"/>
          </p:cNvSpPr>
          <p:nvPr/>
        </p:nvSpPr>
        <p:spPr>
          <a:xfrm>
            <a:off x="704850" y="54006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普通代码负责状态、格式与完整性。模型负责需要判断的任务。</a:t>
            </a:r>
          </a:p>
        </p:txBody>
      </p:sp>
    </p:spTree>
    <p:extLst>
      <p:ext uri="{BB962C8B-B14F-4D97-AF65-F5344CB8AC3E}">
        <p14:creationId xmlns:p14="http://schemas.microsoft.com/office/powerpoint/2010/main" val="998696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54C74FA-FA77-4CCC-BE14-E4FBD548A2AA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的产品入口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296003-DF9B-422D-AC9A-B35E8C594D7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产品说明 · 核实于 2026.09.07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7BB41C-2C24-4597-8FFE-CD996580C492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ADC52-BFCB-40D3-A548-21111488CE4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85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“请创建一个 workflow，按以下范围审查代码……”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CE214C-1032-4679-A809-D2BDFCA9A329}"/>
              </a:ext>
            </a:extLst>
          </p:cNvPr>
          <p:cNvSpPr>
            <a:spLocks noGrp="1"/>
          </p:cNvSpPr>
          <p:nvPr/>
        </p:nvSpPr>
        <p:spPr>
          <a:xfrm>
            <a:off x="666750" y="29622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BD3EBA-5E9D-4B61-B400-EDAA8ECCA7B2}"/>
              </a:ext>
            </a:extLst>
          </p:cNvPr>
          <p:cNvSpPr>
            <a:spLocks noGrp="1"/>
          </p:cNvSpPr>
          <p:nvPr/>
        </p:nvSpPr>
        <p:spPr>
          <a:xfrm>
            <a:off x="3905250" y="29622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编写编排脚本，运行时调度多个 subagent。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006461-71D7-4FA9-B4E3-93CF63E66D3E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需要确认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EEB31-E19A-4213-9A3D-D2F09F170004}"/>
              </a:ext>
            </a:extLst>
          </p:cNvPr>
          <p:cNvSpPr>
            <a:spLocks noGrp="1"/>
          </p:cNvSpPr>
          <p:nvPr/>
        </p:nvSpPr>
        <p:spPr>
          <a:xfrm>
            <a:off x="3905250" y="3962400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查看计划中的范围、预算、权限和失败策略。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EE9CE-1E01-4C1E-B94B-6F1FE3E72CAD}"/>
              </a:ext>
            </a:extLst>
          </p:cNvPr>
          <p:cNvSpPr>
            <a:spLocks noGrp="1"/>
          </p:cNvSpPr>
          <p:nvPr/>
        </p:nvSpPr>
        <p:spPr>
          <a:xfrm>
            <a:off x="666750" y="496252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40412A-C422-42C3-BCDF-AD33501E54FE}"/>
              </a:ext>
            </a:extLst>
          </p:cNvPr>
          <p:cNvSpPr>
            <a:spLocks noGrp="1"/>
          </p:cNvSpPr>
          <p:nvPr/>
        </p:nvSpPr>
        <p:spPr>
          <a:xfrm>
            <a:off x="3905250" y="496252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保存适用的工作流，后续通过参数调整范围。</a:t>
            </a:r>
          </a:p>
        </p:txBody>
      </p:sp>
    </p:spTree>
    <p:extLst>
      <p:ext uri="{BB962C8B-B14F-4D97-AF65-F5344CB8AC3E}">
        <p14:creationId xmlns:p14="http://schemas.microsoft.com/office/powerpoint/2010/main" val="180551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CC17FD2-5B51-4116-9E00-BD94C0B13BDF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速度与成本是两笔账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408B18-D59D-4E4F-8D85-46BA890B6E1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成本提醒 + 试点评估建议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BC0884-87E6-4AB8-AAC4-4E86046D5651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743075"/>
          <a:ext cx="10858500" cy="385762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观察什么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>
                    <a:solidFill>
                      <a:srgbClr val="10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墙钟时间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关键路径、排队与重试时间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删掉虚假依赖，限制资源冲突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总使用量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各节点输入输出与验证开销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限制任务数、迭代数和总预算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漏项、误报、证据可复现性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固定验收集，统计人工复核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运维负担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异常恢复与结果追踪成本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job_id、版本和任务状态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9069877-6970-4AC0-BC55-87962FBFFA83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10858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更多并行可以缩短等待，但不会自动减少总工作量。</a:t>
            </a:r>
          </a:p>
        </p:txBody>
      </p:sp>
    </p:spTree>
    <p:extLst>
      <p:ext uri="{BB962C8B-B14F-4D97-AF65-F5344CB8AC3E}">
        <p14:creationId xmlns:p14="http://schemas.microsoft.com/office/powerpoint/2010/main" val="2045271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56F21D9-83ED-40B5-AD02-B6CA11BD6DED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试点与验收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49352F-B181-4F40-8648-E7328877093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小范围试点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5BA89-8345-4707-8045-9975F94B297F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BA82D3-159C-4822-843E-223F58CC2527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24B235-8B32-48A2-8380-9262BD5C1639}"/>
              </a:ext>
            </a:extLst>
          </p:cNvPr>
          <p:cNvSpPr>
            <a:spLocks noGrp="1"/>
          </p:cNvSpPr>
          <p:nvPr/>
        </p:nvSpPr>
        <p:spPr>
          <a:xfrm>
            <a:off x="3905250" y="16668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固定代码、规则和验收集，记录串行耗时与结果。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A9633D-689F-41C2-AE5C-C4D4B490054C}"/>
              </a:ext>
            </a:extLst>
          </p:cNvPr>
          <p:cNvSpPr>
            <a:spLocks noGrp="1"/>
          </p:cNvSpPr>
          <p:nvPr/>
        </p:nvSpPr>
        <p:spPr>
          <a:xfrm>
            <a:off x="666750" y="27336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只改一个维度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47E8D7-075B-4C66-ADA9-59D3094A31A8}"/>
              </a:ext>
            </a:extLst>
          </p:cNvPr>
          <p:cNvSpPr>
            <a:spLocks noGrp="1"/>
          </p:cNvSpPr>
          <p:nvPr/>
        </p:nvSpPr>
        <p:spPr>
          <a:xfrm>
            <a:off x="3905250" y="27336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先试 3 个并行任务，保留同一验证方式。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82798D-1E48-4124-987F-0F4EB15A87A9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F2F5A2-5E98-4CB7-BB2F-F9A3835771E2}"/>
              </a:ext>
            </a:extLst>
          </p:cNvPr>
          <p:cNvSpPr>
            <a:spLocks noGrp="1"/>
          </p:cNvSpPr>
          <p:nvPr/>
        </p:nvSpPr>
        <p:spPr>
          <a:xfrm>
            <a:off x="3905250" y="38004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完整性、误报、漏报、时间和成本一起看。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E0B44-0553-45CB-B372-6A62CB4404A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决定是否扩展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CA6C1F-C6AE-42B7-B814-D985309E6224}"/>
              </a:ext>
            </a:extLst>
          </p:cNvPr>
          <p:cNvSpPr>
            <a:spLocks noGrp="1"/>
          </p:cNvSpPr>
          <p:nvPr/>
        </p:nvSpPr>
        <p:spPr>
          <a:xfrm>
            <a:off x="3905250" y="4867275"/>
            <a:ext cx="75723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收益明确才加宽。失败先查契约、证据与资源冲突。</a:t>
            </a:r>
          </a:p>
        </p:txBody>
      </p:sp>
    </p:spTree>
    <p:extLst>
      <p:ext uri="{BB962C8B-B14F-4D97-AF65-F5344CB8AC3E}">
        <p14:creationId xmlns:p14="http://schemas.microsoft.com/office/powerpoint/2010/main" val="32894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DC99F9-8588-4733-929A-90B30BA10B5B}"/>
              </a:ext>
            </a:extLst>
          </p:cNvPr>
          <p:cNvSpPr>
            <a:spLocks noGrp="1"/>
          </p:cNvSpPr>
          <p:nvPr/>
        </p:nvSpPr>
        <p:spPr>
          <a:xfrm>
            <a:off x="647700" y="466725"/>
            <a:ext cx="10896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讨论：你会删掉哪一条边？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F614DA-92F0-4A30-BEF3-B1A67D4ED19C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现场练习 · 建议 2 分钟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440B8A-B437-42FB-B450-376BA0A1C38C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31E502-C414-4C7D-8863-AE3FDB4D5F7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66800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 审查 UART 驱动       B 审查 SPI 驱动</a:t>
            </a:r>
          </a:p>
          <a:p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C 综合发现并生成补丁</a:t>
            </a:r>
          </a:p>
          <a:p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D 编译修复后的固件</a:t>
            </a:r>
          </a:p>
          <a:p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E 烧录同一块板卡并做回归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14E52B-554C-4E7B-9272-E71FC86EE3DE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0668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哪些任务可以并行？</a:t>
            </a:r>
          </a:p>
          <a:p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如果 B 没有返回，最终报告应该怎样写？</a:t>
            </a:r>
          </a:p>
        </p:txBody>
      </p:sp>
    </p:spTree>
    <p:extLst>
      <p:ext uri="{BB962C8B-B14F-4D97-AF65-F5344CB8AC3E}">
        <p14:creationId xmlns:p14="http://schemas.microsoft.com/office/powerpoint/2010/main" val="8763391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</Words>
  <Application>Microsoft Office PowerPoint</Application>
  <DocSecurity>0</DocSecurity>
  <PresentationFormat>宽屏</PresentationFormat>
  <Paragraphs>273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yardie Y</cp:lastModifiedBy>
  <cp:revision>1</cp:revision>
  <dcterms:created xsi:type="dcterms:W3CDTF">2026-09-07T10:16:37Z</dcterms:created>
  <dcterms:modified xsi:type="dcterms:W3CDTF">2026-09-07T10:19:35Z</dcterms:modified>
</cp:coreProperties>
</file>