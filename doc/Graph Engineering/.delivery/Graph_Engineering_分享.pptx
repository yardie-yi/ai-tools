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f6cdd1c0394ab8" /><Relationship Type="http://schemas.openxmlformats.org/officeDocument/2006/relationships/extended-properties" Target="/docProps/app.xml" Id="Rf6401bc8fc254fd1" /><Relationship Type="http://schemas.openxmlformats.org/officeDocument/2006/relationships/officeDocument" Target="/ppt/presentation.xml" Id="R18ae7b44477444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3554bf7df34c45"/>
  </p:sldMasterIdLst>
  <p:notesMasterIdLst>
    <p:notesMasterId xmlns:r="http://schemas.openxmlformats.org/officeDocument/2006/relationships" r:id="R5c214804b1fb40d5"/>
  </p:notesMasterIdLst>
  <p:sldIdLst>
    <p:sldId xmlns:r="http://schemas.openxmlformats.org/officeDocument/2006/relationships" id="256" r:id="Rf6be284652454aae"/>
    <p:sldId xmlns:r="http://schemas.openxmlformats.org/officeDocument/2006/relationships" id="257" r:id="R315e75e92b724add"/>
    <p:sldId xmlns:r="http://schemas.openxmlformats.org/officeDocument/2006/relationships" id="258" r:id="Re1b70bbeb26b4d2a"/>
    <p:sldId xmlns:r="http://schemas.openxmlformats.org/officeDocument/2006/relationships" id="259" r:id="R11badfb60c694328"/>
    <p:sldId xmlns:r="http://schemas.openxmlformats.org/officeDocument/2006/relationships" id="260" r:id="R411a4367b818467a"/>
    <p:sldId xmlns:r="http://schemas.openxmlformats.org/officeDocument/2006/relationships" id="261" r:id="R28e949c50db64d2f"/>
    <p:sldId xmlns:r="http://schemas.openxmlformats.org/officeDocument/2006/relationships" id="262" r:id="R5a1a1a150b9f4a1b"/>
    <p:sldId xmlns:r="http://schemas.openxmlformats.org/officeDocument/2006/relationships" id="263" r:id="Re958663f97f74269"/>
    <p:sldId xmlns:r="http://schemas.openxmlformats.org/officeDocument/2006/relationships" id="264" r:id="R04bd83c0b3c14d91"/>
    <p:sldId xmlns:r="http://schemas.openxmlformats.org/officeDocument/2006/relationships" id="265" r:id="R5902de6e25e24663"/>
    <p:sldId xmlns:r="http://schemas.openxmlformats.org/officeDocument/2006/relationships" id="266" r:id="R044bdb67ec93472c"/>
    <p:sldId xmlns:r="http://schemas.openxmlformats.org/officeDocument/2006/relationships" id="267" r:id="R87016086734a45f3"/>
    <p:sldId xmlns:r="http://schemas.openxmlformats.org/officeDocument/2006/relationships" id="268" r:id="R13550f6825464d04"/>
    <p:sldId xmlns:r="http://schemas.openxmlformats.org/officeDocument/2006/relationships" id="269" r:id="R9a386ce604a44d60"/>
    <p:sldId xmlns:r="http://schemas.openxmlformats.org/officeDocument/2006/relationships" id="270" r:id="R383e9ba859cb4e2d"/>
    <p:sldId xmlns:r="http://schemas.openxmlformats.org/officeDocument/2006/relationships" id="271" r:id="R58125be3bd9c43fa"/>
    <p:sldId xmlns:r="http://schemas.openxmlformats.org/officeDocument/2006/relationships" id="272" r:id="R9864bd86777b4bdd"/>
    <p:sldId xmlns:r="http://schemas.openxmlformats.org/officeDocument/2006/relationships" id="273" r:id="R6dd1a3bfa2a84574"/>
    <p:sldId xmlns:r="http://schemas.openxmlformats.org/officeDocument/2006/relationships" id="274" r:id="R0f16d962bf3848ff"/>
    <p:sldId xmlns:r="http://schemas.openxmlformats.org/officeDocument/2006/relationships" id="275" r:id="R7d5d0f00a18c49f2"/>
    <p:sldId xmlns:r="http://schemas.openxmlformats.org/officeDocument/2006/relationships" id="276" r:id="R4952820eafa3417a"/>
    <p:sldId xmlns:r="http://schemas.openxmlformats.org/officeDocument/2006/relationships" id="277" r:id="Rb7c26cca2d064f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c61b5ad89c4d36" /><Relationship Type="http://schemas.openxmlformats.org/officeDocument/2006/relationships/slideMaster" Target="/ppt/slideMasters/slideMaster1.xml" Id="R093554bf7df34c45" /><Relationship Type="http://schemas.openxmlformats.org/officeDocument/2006/relationships/notesMaster" Target="/ppt/notesMasters/notesMaster1.xml" Id="R5c214804b1fb40d5" /><Relationship Type="http://schemas.openxmlformats.org/officeDocument/2006/relationships/presProps" Target="/ppt/presProps.xml" Id="R7e2662469b1c479d" /><Relationship Type="http://schemas.openxmlformats.org/officeDocument/2006/relationships/tableStyles" Target="/ppt/tableStyles.xml" Id="Rde6ec13d62da4bad" /><Relationship Type="http://schemas.openxmlformats.org/officeDocument/2006/relationships/slide" Target="/ppt/slides/slide1.xml" Id="Rf6be284652454aae" /><Relationship Type="http://schemas.openxmlformats.org/officeDocument/2006/relationships/slide" Target="/ppt/slides/slide2.xml" Id="R315e75e92b724add" /><Relationship Type="http://schemas.openxmlformats.org/officeDocument/2006/relationships/slide" Target="/ppt/slides/slide3.xml" Id="Re1b70bbeb26b4d2a" /><Relationship Type="http://schemas.openxmlformats.org/officeDocument/2006/relationships/slide" Target="/ppt/slides/slide4.xml" Id="R11badfb60c694328" /><Relationship Type="http://schemas.openxmlformats.org/officeDocument/2006/relationships/slide" Target="/ppt/slides/slide5.xml" Id="R411a4367b818467a" /><Relationship Type="http://schemas.openxmlformats.org/officeDocument/2006/relationships/slide" Target="/ppt/slides/slide6.xml" Id="R28e949c50db64d2f" /><Relationship Type="http://schemas.openxmlformats.org/officeDocument/2006/relationships/slide" Target="/ppt/slides/slide7.xml" Id="R5a1a1a150b9f4a1b" /><Relationship Type="http://schemas.openxmlformats.org/officeDocument/2006/relationships/slide" Target="/ppt/slides/slide8.xml" Id="Re958663f97f74269" /><Relationship Type="http://schemas.openxmlformats.org/officeDocument/2006/relationships/slide" Target="/ppt/slides/slide9.xml" Id="R04bd83c0b3c14d91" /><Relationship Type="http://schemas.openxmlformats.org/officeDocument/2006/relationships/slide" Target="/ppt/slides/slide10.xml" Id="R5902de6e25e24663" /><Relationship Type="http://schemas.openxmlformats.org/officeDocument/2006/relationships/slide" Target="/ppt/slides/slide11.xml" Id="R044bdb67ec93472c" /><Relationship Type="http://schemas.openxmlformats.org/officeDocument/2006/relationships/slide" Target="/ppt/slides/slide12.xml" Id="R87016086734a45f3" /><Relationship Type="http://schemas.openxmlformats.org/officeDocument/2006/relationships/slide" Target="/ppt/slides/slide13.xml" Id="R13550f6825464d04" /><Relationship Type="http://schemas.openxmlformats.org/officeDocument/2006/relationships/slide" Target="/ppt/slides/slide14.xml" Id="R9a386ce604a44d60" /><Relationship Type="http://schemas.openxmlformats.org/officeDocument/2006/relationships/slide" Target="/ppt/slides/slide15.xml" Id="R383e9ba859cb4e2d" /><Relationship Type="http://schemas.openxmlformats.org/officeDocument/2006/relationships/slide" Target="/ppt/slides/slide16.xml" Id="R58125be3bd9c43fa" /><Relationship Type="http://schemas.openxmlformats.org/officeDocument/2006/relationships/slide" Target="/ppt/slides/slide17.xml" Id="R9864bd86777b4bdd" /><Relationship Type="http://schemas.openxmlformats.org/officeDocument/2006/relationships/slide" Target="/ppt/slides/slide18.xml" Id="R6dd1a3bfa2a84574" /><Relationship Type="http://schemas.openxmlformats.org/officeDocument/2006/relationships/slide" Target="/ppt/slides/slide19.xml" Id="R0f16d962bf3848ff" /><Relationship Type="http://schemas.openxmlformats.org/officeDocument/2006/relationships/slide" Target="/ppt/slides/slide20.xml" Id="R7d5d0f00a18c49f2" /><Relationship Type="http://schemas.openxmlformats.org/officeDocument/2006/relationships/slide" Target="/ppt/slides/slide21.xml" Id="R4952820eafa3417a" /><Relationship Type="http://schemas.openxmlformats.org/officeDocument/2006/relationships/slide" Target="/ppt/slides/slide22.xml" Id="Rb7c26cca2d064f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4b196823dc4f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513a5c3be94353" /><Relationship Type="http://schemas.openxmlformats.org/officeDocument/2006/relationships/notesMaster" Target="/ppt/notesMasters/notesMaster1.xml" Id="Rdd357320598b4e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d8802bd43944a9" /><Relationship Type="http://schemas.openxmlformats.org/officeDocument/2006/relationships/notesMaster" Target="/ppt/notesMasters/notesMaster1.xml" Id="Rb38b1a94a3f94b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4820e2392549ed" /><Relationship Type="http://schemas.openxmlformats.org/officeDocument/2006/relationships/notesMaster" Target="/ppt/notesMasters/notesMaster1.xml" Id="Rd4d5a6cb928948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94e38109d846ef" /><Relationship Type="http://schemas.openxmlformats.org/officeDocument/2006/relationships/notesMaster" Target="/ppt/notesMasters/notesMaster1.xml" Id="Rd076d38ded9b47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5feed9159a4bde" /><Relationship Type="http://schemas.openxmlformats.org/officeDocument/2006/relationships/notesMaster" Target="/ppt/notesMasters/notesMaster1.xml" Id="R874004877c5b42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d139e41b324300" /><Relationship Type="http://schemas.openxmlformats.org/officeDocument/2006/relationships/notesMaster" Target="/ppt/notesMasters/notesMaster1.xml" Id="R11c200d65f194f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56a3d8be594b3a" /><Relationship Type="http://schemas.openxmlformats.org/officeDocument/2006/relationships/notesMaster" Target="/ppt/notesMasters/notesMaster1.xml" Id="Rdc67123c9fb741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a0b6d950f54f39" /><Relationship Type="http://schemas.openxmlformats.org/officeDocument/2006/relationships/notesMaster" Target="/ppt/notesMasters/notesMaster1.xml" Id="R0f9e21129a854f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42fb645bc248c0" /><Relationship Type="http://schemas.openxmlformats.org/officeDocument/2006/relationships/notesMaster" Target="/ppt/notesMasters/notesMaster1.xml" Id="R4740cb1c34aa44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079cb055164e68" /><Relationship Type="http://schemas.openxmlformats.org/officeDocument/2006/relationships/notesMaster" Target="/ppt/notesMasters/notesMaster1.xml" Id="Ra96224492e1e44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d70b2eb30194e62" /><Relationship Type="http://schemas.openxmlformats.org/officeDocument/2006/relationships/notesMaster" Target="/ppt/notesMasters/notesMaster1.xml" Id="R18ab7019945d40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ab13ca35044ed8" /><Relationship Type="http://schemas.openxmlformats.org/officeDocument/2006/relationships/notesMaster" Target="/ppt/notesMasters/notesMaster1.xml" Id="R197df64558fe4d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0b8ab2b42146c1" /><Relationship Type="http://schemas.openxmlformats.org/officeDocument/2006/relationships/notesMaster" Target="/ppt/notesMasters/notesMaster1.xml" Id="R05507ea3b34348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eca53a897974b8c" /><Relationship Type="http://schemas.openxmlformats.org/officeDocument/2006/relationships/notesMaster" Target="/ppt/notesMasters/notesMaster1.xml" Id="R071191ca7a944d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d125076a8b42f0" /><Relationship Type="http://schemas.openxmlformats.org/officeDocument/2006/relationships/notesMaster" Target="/ppt/notesMasters/notesMaster1.xml" Id="R6a4d6b0236be42f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25e213e59f4f90" /><Relationship Type="http://schemas.openxmlformats.org/officeDocument/2006/relationships/notesMaster" Target="/ppt/notesMasters/notesMaster1.xml" Id="R32bc4262924a4d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e01b9e1fad4a50" /><Relationship Type="http://schemas.openxmlformats.org/officeDocument/2006/relationships/notesMaster" Target="/ppt/notesMasters/notesMaster1.xml" Id="R42d7caaf73614cb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f2b79d0740f48d9" /><Relationship Type="http://schemas.openxmlformats.org/officeDocument/2006/relationships/notesMaster" Target="/ppt/notesMasters/notesMaster1.xml" Id="Ra7986230c0d844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9d3116e5d2b4739" /><Relationship Type="http://schemas.openxmlformats.org/officeDocument/2006/relationships/notesMaster" Target="/ppt/notesMasters/notesMaster1.xml" Id="Rc8e1af41ba9348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3ee5654a534519" /><Relationship Type="http://schemas.openxmlformats.org/officeDocument/2006/relationships/notesMaster" Target="/ppt/notesMasters/notesMaster1.xml" Id="R68f8f06231434a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523514ffe9540b2" /><Relationship Type="http://schemas.openxmlformats.org/officeDocument/2006/relationships/notesMaster" Target="/ppt/notesMasters/notesMaster1.xml" Id="Ra244c0a95033487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1f37aae3fe3405a" /><Relationship Type="http://schemas.openxmlformats.org/officeDocument/2006/relationships/notesMaster" Target="/ppt/notesMasters/notesMaster1.xml" Id="R923a85314f8841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今天的主题是如何组织AI工作的依赖关系。听众应能画出自己的工作流，区分可并行任务和必须等待的步骤，并为汇总结果定义验收条件。约25分钟分享，可在第6页切到配套HTML演示延迟，在第11页演示静默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本次分享按照问题、结构、可靠性、落地展开。Graph Engineering是本文对Agent工作流设计的称呼。图论、依赖调度、状态机和数据流本来就是软件工程的基础。原文的价值是把它们用于组织AI工作。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2节将节点描述为一个任务，将边描述为上游输出进入下游输入。工程补充：节点也可以是确定性代码、工具调用或人工检查，并非每个节点都需要模型。此处是执行依赖图；知识图谱的节点通常是实体、边是事实关系。两者可以结合，但解决的问题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2节：一个节点必须有受约束的任务、明确输入和固定输出形状。以下是工程教学示例。输入以不可变commit固定代码版本。输出将finding与执行status分开，无发现不等于没运行。生产中还需校验字段、枚举、来源存在性，失败时有限重试。schema正确只是结构正确，不保证结论真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3、4节提出：后一个任务是否真正需要前一个任务的结果？例子是分别审查文件A和B。这里的关键补充是共用文件、API配额、硬件等资源也会形成约束。没有数据依赖只说明有并行的可能，还不能直接证明运行时无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推导，不是原文性能实测。假设先做准备5秒，再执行三个互相独立的任务，耗时分别为20、30、40秒，最后汇总10秒。资源足够且无额外调度开销时，串行105秒，并行55秒，约1.91倍。若并行新增协调开销15秒，则70秒，约1.50倍。一般DAG的无资源争用下界是关键路径长度，有限并发还受总工作量/并发数约束。循环需先设定展开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原文第5节的核心模式是fan out、reduce、synthesize，并在汇总前加入验证。拆分任务后，不同worker处理互补角度。普通代码完成去重和结构化整理。独立验证者核查证据。最后汇总通过检查的结果，但报告仍须披露失败任务和未验证结论。示意图取自原文，不表示只有五个worker才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5、7节建议用普通代码reduce，并在大规模输出时分层fan-in。补充：按来源去重会误删同一来源的不同结论，应采用任务ID、文件位置、规则等适当的业务键。分批摘要也可能丢掉少数异常，因此保留证据引用和原始产物。简单本地代码不消耗模型推理token，但系统存储和后续读取仍有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6节强调验证者使用独立上下文，避免继承生产者的自我解释。独立不等于没有必要材料：验证者仍需任务要求、待审结论、代码版本、源文件和验收标准。原文给出正确性、时效性、来源真实性三个视角。工程补充：多数票不能代替测试，多个模型可能有相关性偏差。结论失败后可拒收或有限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7节列出三类问题：输出集中导致上下文溢出、共享资源导致伪独立、worker失败而最终报告看似完整。此表将原文对策转为工程动作。分层摘要仍需要追溯原始证据。独立worktree防止覆盖，但不保证合并没有语义冲突。完整性检查不能只数返回条数，还应验证job_id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补充。每个job用固定ID，完成指进入success、failed、cancelled等终态，不代表全部成功。明确区分成功且无发现、超时、schema失败、验证不通过。重复回包不能弥补缺失ID。尝试次数、截止时间、预算都要有上限。被判定为代码缺陷是发现，不应自动触发worker重试。使用配套HTML切换失败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9节强调拓扑结构不自动带来真实可靠的结论。节点互相看同一套报告，可能只是自洽。工程中的锚点可以是实际运行的测试、原始日志和固定验收规则。以下嵌入式例子是假设场景，不是项目实际记录。测试通过也只证明被测条件下的结果，需要考虑覆盖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8节：图适合有宽度的工作，小任务、真正串行的任务以及仍在探索的任务可能更适合单Agent或简单循环。图本身可以包含串行结构，所以这里讨论是否值得增加并行编排。补充：流程中设置少量必要人工关卡是合理的，不等于必须每一步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案例，未运行用户工程。目标是对同一提交的驱动文件做只读错误处理审查。可以对UART、SPI、I2C文件分别分发任务，输出统一finding契约。为了避免跨文件知识缺失，各worker应获得相关头文件和接口定义。归并处理重复问题，独立验证检查完整调用链或最小复现。最后输出带覆盖率的清单，需改代码时再进入修复、构建和测试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案例，不描述任何实际板卡故障。对固定快照进行不同主题的只读检查通常可以并行，但跨模块约束必须进入上下文。并发烧录同一板卡、写同一构建目录会冲突。测试日志若来自旧固件，也不是当前补丁的证据。图只安排工作，无法消除物理资源排他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框架无关的自然语言任务规格，不是可直接执行的SDK代码。限制参数是教学起点，不是通用最佳值。范围、并发、超时、失败策略、验收标准、输出目录都应具体。试点先只读，避免将发现问题和自动修复混在一次尚未验证的流程里。HTML中提供可复制的完整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伪代码，仅描述顺序。parallelBounded需要实际实现并发上限、超时及取消，runChecked需要执行schema校验与有限重试，auditCoverage核验ID集合，verifyFresh需要独立上下文和证据访问。不要把函数名误读成某个框架的真实API。对有副作用的节点，重试前必须设计幂等键或状态检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原文第10、11节提出workflow用法。官方文档已核实dynamic workflows：Claude编写JavaScript编排脚本，runtime执行subagents，任务中间结果可保存在脚本变量中。官方当前支持明确请求创建workflow，也说明ultracode入口。功能可用性受套餐、配置和管理员设置影响。这里不实际启动workflow或改变配置。产品细节以2026-09-07查阅的官方文档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https://code.claude.com/docs/en/workflows</a:t>
            </a:r>
          </a:p>
          <a:p xmlns:a="http://schemas.openxmlformats.org/drawingml/2006/main">
            <a:r>
              <a:t>https://claude.com/blog/introducing-dynamic-workflows-in-claude-code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第12节指出多Agent的总token花费会变大，调度方便并不意味着工作免费。工程补充建议按有效结果衡量收益：成功完成相同验收目标所用时间、总token、工具调用和人工复核投入。要同时控制并发峰值与总工作量。重试可能有新模型输入费用，重复派发不一定改善独立证据。没有采用原文Bun的费用与规模数字作为预算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https://code.claude.com/docs/en/workflows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落地建议。选择已知代码版本和固定问题集，先获得单Agent基线，再只增加一个并行维度，避免模型、范围、提示词同时变化导致无法归因。预先定义成功标准，不在结果不好时放宽规则。报告须包含未覆盖任务和成本。只有质量不下降且节省的等待值得新增成本，才扩大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互动题，教学答案在讲者备注中。A和B同读固定代码快照，在资源允许下可并行；C必须读取A和B的发现；D必须等待补丁；E读取D的固件产物并占用独立板卡。不要删掉C到D或D到E的真依赖。讨论额外问题：B超时是否输出部分报告，是否需要人工继续确认？由Graph Spec的失败政策决定。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原文由用户提供链接。X正文直接访问受限，通过FxTwitter返回的同一status对应Article正文读取，作者、标题和文章ID一致。原文标题Graph Engineering explained: what it is, when to use it and when not to。文章观点经过中文重述。图示在第3、5、7、12页使用原文图片，作者Anatoli Kopadze。嵌入式案例、时间演算、任务规格和状态模型为教学补充。原文的AI利用率、Bun成本/规模与普遍加速倍数未作为已核实数据，官方Bun案例也与原文规模口径不同。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https://x.com/AnatoliKopadze/status/2080668775796314331</a:t>
            </a:r>
          </a:p>
          <a:p xmlns:a="http://schemas.openxmlformats.org/drawingml/2006/main">
            <a:r>
              <a:t>https://www.anthropic.com/engineering/building-effective-agents</a:t>
            </a:r>
          </a:p>
          <a:p xmlns:a="http://schemas.openxmlformats.org/drawingml/2006/main">
            <a:r>
              <a:t>https://www.anthropic.com/engineering/multi-agent-research-system</a:t>
            </a:r>
          </a:p>
          <a:p xmlns:a="http://schemas.openxmlformats.org/drawingml/2006/main">
            <a:r>
              <a:t>https://docs.langchain.com/oss/python/langgraph/workflows-agents</a:t>
            </a:r>
          </a:p>
          <a:p xmlns:a="http://schemas.openxmlformats.org/drawingml/2006/main">
            <a:r>
              <a:t>https://code.claude.com/docs/en/workflows</a:t>
            </a:r>
          </a:p>
          <a:p xmlns:a="http://schemas.openxmlformats.org/drawingml/2006/main">
            <a:r>
              <a:t>https://claude.com/blog/introducing-dynamic-workflows-in-claude-code</a:t>
            </a:r>
          </a:p>
          <a:p xmlns:a="http://schemas.openxmlformats.org/drawingml/2006/main">
            <a:r>
              <a:t>原文日期：2026-07-24。资料核对：2026-09-07。教学示例不代表实际运行结果。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4cb2e7d4b4c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5e004ca46f46a6" /><Relationship Type="http://schemas.openxmlformats.org/officeDocument/2006/relationships/slideLayout" Target="/ppt/slideLayouts/slideLayout1.xml" Id="R63cf552458064d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cf552458064d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c04d354c74d1e" /><Relationship Type="http://schemas.openxmlformats.org/officeDocument/2006/relationships/notesSlide" Target="/ppt/notesSlides/notesSlide1.xml" Id="R33d0d8425a3e48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0892618aa41de" /><Relationship Type="http://schemas.openxmlformats.org/officeDocument/2006/relationships/notesSlide" Target="/ppt/notesSlides/notesSlide2.xml" Id="Rbf2c00cb27a549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e1f58ae214f94" /><Relationship Type="http://schemas.openxmlformats.org/officeDocument/2006/relationships/image" Target="/ppt/media/image.jpeg" Id="R73c26ad7742745c4" /><Relationship Type="http://schemas.openxmlformats.org/officeDocument/2006/relationships/notesSlide" Target="/ppt/notesSlides/notesSlide3.xml" Id="R8f07b944acae4c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3fd3c11754c06" /><Relationship Type="http://schemas.openxmlformats.org/officeDocument/2006/relationships/notesSlide" Target="/ppt/notesSlides/notesSlide4.xml" Id="Ra7ff70ef3df04c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db7058efa4769" /><Relationship Type="http://schemas.openxmlformats.org/officeDocument/2006/relationships/image" Target="/ppt/media/image2.jpeg" Id="R279af93384ef45d6" /><Relationship Type="http://schemas.openxmlformats.org/officeDocument/2006/relationships/notesSlide" Target="/ppt/notesSlides/notesSlide5.xml" Id="R15753ade866146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f725b048e4367" /><Relationship Type="http://schemas.openxmlformats.org/officeDocument/2006/relationships/notesSlide" Target="/ppt/notesSlides/notesSlide6.xml" Id="R7c3e6b84b7264e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5edf8057448e7" /><Relationship Type="http://schemas.openxmlformats.org/officeDocument/2006/relationships/image" Target="/ppt/media/image3.jpeg" Id="Rc1d120c834ce4027" /><Relationship Type="http://schemas.openxmlformats.org/officeDocument/2006/relationships/notesSlide" Target="/ppt/notesSlides/notesSlide7.xml" Id="Rd497c75e0fd74b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1c6a63ec34094" /><Relationship Type="http://schemas.openxmlformats.org/officeDocument/2006/relationships/notesSlide" Target="/ppt/notesSlides/notesSlide8.xml" Id="R0c037773e77a45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185a697ec4b12" /><Relationship Type="http://schemas.openxmlformats.org/officeDocument/2006/relationships/notesSlide" Target="/ppt/notesSlides/notesSlide9.xml" Id="Rf2255836b2d447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a0cae944a4ee4" /><Relationship Type="http://schemas.openxmlformats.org/officeDocument/2006/relationships/notesSlide" Target="/ppt/notesSlides/notesSlide10.xml" Id="Rc2b784b8084c42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02d7fd87d44b1" /><Relationship Type="http://schemas.openxmlformats.org/officeDocument/2006/relationships/notesSlide" Target="/ppt/notesSlides/notesSlide11.xml" Id="Ra22da01c5f9f42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583c0206d4d11" /><Relationship Type="http://schemas.openxmlformats.org/officeDocument/2006/relationships/image" Target="/ppt/media/image4.jpeg" Id="Rd631255405fd4e7a" /><Relationship Type="http://schemas.openxmlformats.org/officeDocument/2006/relationships/notesSlide" Target="/ppt/notesSlides/notesSlide12.xml" Id="Rbaf88d9d12e84e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9e58a5dc244c5" /><Relationship Type="http://schemas.openxmlformats.org/officeDocument/2006/relationships/notesSlide" Target="/ppt/notesSlides/notesSlide13.xml" Id="Rfb97d0c4829f48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e75bcb5504ba3" /><Relationship Type="http://schemas.openxmlformats.org/officeDocument/2006/relationships/notesSlide" Target="/ppt/notesSlides/notesSlide14.xml" Id="R40daedf2da2444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08cf917b24818" /><Relationship Type="http://schemas.openxmlformats.org/officeDocument/2006/relationships/notesSlide" Target="/ppt/notesSlides/notesSlide15.xml" Id="R6f292e1cc18841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0d618bc364c79" /><Relationship Type="http://schemas.openxmlformats.org/officeDocument/2006/relationships/notesSlide" Target="/ppt/notesSlides/notesSlide16.xml" Id="R6f30d8791eae45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4c0a405b648c6" /><Relationship Type="http://schemas.openxmlformats.org/officeDocument/2006/relationships/notesSlide" Target="/ppt/notesSlides/notesSlide17.xml" Id="R4a8515fcc31e46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a2bceb1a541e2" /><Relationship Type="http://schemas.openxmlformats.org/officeDocument/2006/relationships/notesSlide" Target="/ppt/notesSlides/notesSlide18.xml" Id="R8b0bd656020c4c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ea0fd5cac4876" /><Relationship Type="http://schemas.openxmlformats.org/officeDocument/2006/relationships/notesSlide" Target="/ppt/notesSlides/notesSlide19.xml" Id="Rc349014c558b4f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9ad9e65c54919" /><Relationship Type="http://schemas.openxmlformats.org/officeDocument/2006/relationships/notesSlide" Target="/ppt/notesSlides/notesSlide20.xml" Id="R1c846c1feb4f437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4d32855564bdd" /><Relationship Type="http://schemas.openxmlformats.org/officeDocument/2006/relationships/notesSlide" Target="/ppt/notesSlides/notesSlide21.xml" Id="R8d50b8dc384a4d9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193b5c22b4ec9" /><Relationship Type="http://schemas.openxmlformats.org/officeDocument/2006/relationships/notesSlide" Target="/ppt/notesSlides/notesSlide22.xml" Id="R35e0437e53494e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04A4C-4CBF-47E6-9BCF-0D979833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Graph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CDB9E-2F65-4D0D-BE36-A432E098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基于 Anatoli Kopadze 文章的中文技术分享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471FD-F178-4C47-9D39-693EC801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7AF39-C0C3-4BFD-8080-0E440A62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38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AI Agent 工作流的依赖、并行与验证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5F1E8-D50E-4490-BDC6-96DDE5C5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433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让任务按真实依赖执行，让结论经得起外部检验。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42D48C-6CB6-44B9-84B1-9FB5AB91D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原文发表于 2026.07.24</a:t>
            </a:r>
          </a:p>
          <a:p xmlns:a="http://schemas.openxmlformats.org/drawingml/2006/main">
            <a:pPr>
              <a:def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工程补充以代码审查和嵌入式开发为例</a:t>
            </a:r>
          </a:p>
        </p:txBody>
      </p:sp>
    </p:spTree>
    <p:extLst>
      <p:ext uri="{BB962C8B-B14F-4D97-AF65-F5344CB8AC3E}">
        <p14:creationId xmlns:p14="http://schemas.microsoft.com/office/powerpoint/2010/main" val="1546101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C4BCB-785B-4F4B-9172-10AFC78E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分享路线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BF2C7-53FD-4ED6-BF2C-89434DC8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分享结构与术语说明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D85F4-A7C7-4964-A09B-411FA0E8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7243B-F2C7-4424-8F73-A0DAD9B7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01  看懂依赖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2E2FD-CA27-4AE4-9808-1C5FDC35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节点有什么输入输出？哪些等待可以去掉？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4C0D3-A075-420B-9E9B-97CC8F6B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02  组织并行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A5648-053A-46EB-9AA5-31B93B89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怎样分发任务、压缩结果，再形成一份报告？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7B88D-CA00-488A-B4D6-F94F8260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03  保证可信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DD039-718C-4586-B719-D069CC5C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怎样发现漏项、控制重试、验证结论？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FA014-02FF-45AD-8A60-11AC2956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04  用于工程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C0D01-4BD7-4D81-97BB-F5550786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怎样从一个小范围代码审查任务开始？</a:t>
            </a:r>
          </a:p>
        </p:txBody>
      </p:sp>
    </p:spTree>
    <p:extLst>
      <p:ext uri="{BB962C8B-B14F-4D97-AF65-F5344CB8AC3E}">
        <p14:creationId xmlns:p14="http://schemas.microsoft.com/office/powerpoint/2010/main" val="1556526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D3B78-8C24-448D-B7FE-08D292D3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节点与边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888C3-398F-4140-98C5-3D60A08F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67F0E-3574-4420-93C9-22BFAB0F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c26ad7742745c4"/>
          <a:stretch xmlns:a="http://schemas.openxmlformats.org/drawingml/2006/main"/>
        </p:blipFill>
        <p:spPr>
          <a:xfrm xmlns:a="http://schemas.openxmlformats.org/drawingml/2006/main">
            <a:off x="4286250" y="1602581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74399-7240-45F8-A627-30214EA3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节点 Node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47603-F5BF-40A4-B16B-F31D416E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一个职责明确的任务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可以由模型或代码执行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C745F-D3E9-43A1-A0D6-9165158B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边 Edge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900DB-A8B0-407D-9E1F-8207DCAB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333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传递结果或约束顺序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下游满足条件后启动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18C74-A437-4696-A3E5-5AEED705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本次讨论执行依赖图。知识图谱描述实体与事实关系。</a:t>
            </a:r>
          </a:p>
        </p:txBody>
      </p:sp>
    </p:spTree>
    <p:extLst>
      <p:ext uri="{BB962C8B-B14F-4D97-AF65-F5344CB8AC3E}">
        <p14:creationId xmlns:p14="http://schemas.microsoft.com/office/powerpoint/2010/main" val="539221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556D5-8AA6-40CF-B7AA-159C9B48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节点契约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C5F4E-B698-4C5B-920F-A69E2661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原文方法 + 教学示例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7CD44-1BE7-4D2F-A25A-4CAC0E4B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87D80-490D-4128-AD88-9F5861BF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DF75F-E268-4238-B5CA-83BBFC21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审查一个源文件的错误处理，只提交发现与证据。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AE655-8B8A-4CAF-BE1A-955C3628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3458B-1C7B-4C28-977A-286B4040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908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job_id、commit、file、审查规则和只读权限。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B026F-70D6-46EC-BC00-33E27CC8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78B4A-E0E4-4699-9B89-48F5C2F2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status、findings[]、evidence、error、attempt。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9FAB0-13B8-4188-A97E-3498166A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{ job_id: "J07", status: "ok", findings: []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FB29E-3688-4630-A06A-E4952B9F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40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空 findings 表示检查后无发现。没有返回结果需要单独报错。</a:t>
            </a:r>
          </a:p>
        </p:txBody>
      </p:sp>
    </p:spTree>
    <p:extLst>
      <p:ext uri="{BB962C8B-B14F-4D97-AF65-F5344CB8AC3E}">
        <p14:creationId xmlns:p14="http://schemas.microsoft.com/office/powerpoint/2010/main" val="531594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01BCB-5437-4524-8E2A-1C04CF6C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虚假依赖测试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C9577-50E3-4641-BD70-05B8D349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61016-4889-4A55-B2A7-99720BF4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af93384ef45d6"/>
          <a:stretch xmlns:a="http://schemas.openxmlformats.org/drawingml/2006/main"/>
        </p:blipFill>
        <p:spPr>
          <a:xfrm xmlns:a="http://schemas.openxmlformats.org/drawingml/2006/main">
            <a:off x="4192058" y="1466850"/>
            <a:ext cx="7332133" cy="41243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72615-F086-4668-9072-495F66D3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B 要消费 A 的结果吗？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332FA-45CF-4AC4-898E-53D8E373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48025"/>
            <a:ext cx="33147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需要：保留先后顺序。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不需要：再检查共享资源，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确认后才并行。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A6360-245D-4871-8E3B-38C95617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边的存在应当有理由：数据、控制条件或资源约束。</a:t>
            </a:r>
          </a:p>
        </p:txBody>
      </p:sp>
    </p:spTree>
    <p:extLst>
      <p:ext uri="{BB962C8B-B14F-4D97-AF65-F5344CB8AC3E}">
        <p14:creationId xmlns:p14="http://schemas.microsoft.com/office/powerpoint/2010/main" val="2075453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4DA28-2A77-4BF6-9984-A36D9EA4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并行收益取决于关键路径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31D12-D6B0-4354-9C09-A7685AA1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工程推导 · 理想化教学数值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F2FA0-9588-411B-9C12-6BDF82BA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05570-6788-4EEC-B498-BA8C0963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准备 5s    独立任务 20s / 30s / 40s    汇总 10s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C92BC-96C5-4542-87CD-0B0F2992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105s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02835-1BB8-463A-B65C-2E138093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串行：5 + 20 + 30 + 40 + 10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42EF2-E427-46AB-BECE-92EF2360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38425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55s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D0EDA-60E9-453D-A571-5AB2A5DB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理想并行：5 + max(20, 30, 40) + 10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981CF-E6FF-4E40-88F4-2CAA8D4A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85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加入 15s 额外协调开销后为 70s。并发上限和资源争用还会增加耗时。</a:t>
            </a:r>
          </a:p>
        </p:txBody>
      </p:sp>
    </p:spTree>
    <p:extLst>
      <p:ext uri="{BB962C8B-B14F-4D97-AF65-F5344CB8AC3E}">
        <p14:creationId xmlns:p14="http://schemas.microsoft.com/office/powerpoint/2010/main" val="19751949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2287D-BA98-4659-93E2-289EBD14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菱形工作流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0ABF9-FE75-491C-907F-8E01E756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E27F2-17B0-4B8B-9D0D-4C643500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120c834ce4027"/>
          <a:stretch xmlns:a="http://schemas.openxmlformats.org/drawingml/2006/main"/>
        </p:blipFill>
        <p:spPr>
          <a:xfrm xmlns:a="http://schemas.openxmlformats.org/drawingml/2006/main">
            <a:off x="3762375" y="1502866"/>
            <a:ext cx="7762875" cy="43666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8B14C-C850-40D5-9A40-9D2489FC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285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分发 Fan-out</a:t>
            </a:r>
          </a:p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让独立任务同时进行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D6F5C-E6E5-4192-BA50-14823652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85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归并 Reduce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用代码整理和去重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8917D-98B5-40E9-B0BB-797834D1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28575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综合 Synthesize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基于证据形成报告</a:t>
            </a:r>
          </a:p>
        </p:txBody>
      </p:sp>
    </p:spTree>
    <p:extLst>
      <p:ext uri="{BB962C8B-B14F-4D97-AF65-F5344CB8AC3E}">
        <p14:creationId xmlns:p14="http://schemas.microsoft.com/office/powerpoint/2010/main" val="1752637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A149C-F93E-4B8E-AAB9-BB1066FA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汇总前的数据整理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00C32-0337-4B1C-91DD-E54A0EE2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原文方法 + 工程补充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91D7F-5BBC-42B6-B0B6-D990702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8CF77-A9EA-4689-A0BC-D3784363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478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先校验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E0842-96C2-4358-8EA4-B6165536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478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job_id 是否匹配？格式和状态是否合法？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9E0E5-BAE7-497D-A5FA-A93536BE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再去重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1BBCB-E02A-4628-AEAF-83275A7C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955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按文件位置与问题规则等业务键合并重复发现。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00537-A4C7-4A36-B888-6B8BB058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再压缩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C93BD-D9D9-4FF6-A3E7-6BB177CA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433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结果过多时分组摘要，保留证据 ID 和异常项。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3C9AA-EE8F-488E-8BD5-BD0FE5AF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最后综合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F59AC-6F7F-403C-9055-60C7956F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910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只把必要证据交给汇总节点，注明覆盖范围。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4842432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F3C35-2EE0-4ABC-8C65-1AA44425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独立验证节点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EA29A-B6EF-4095-AC5A-99AA9771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6EE10-6009-40CB-9954-EA9D9EB5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02091-75F5-464E-9191-B4B6E927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给它什么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14373-AB42-4E58-9EC0-D9DB8A1E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573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待验证结论、原始证据、验收标准。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EA885-CAB9-467A-85B1-E744437A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避免什么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7C1C7-0846-4E3C-9B40-45ED1863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把生产者整段对话当成既定事实传下去。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EF896-F181-40ED-B206-DB60343F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怎样检查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5BA34-24A6-44BE-AA06-505D3278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尝试反驳结论，检查来源，执行可复现验证。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04C0D-6F28-44A2-B336-91A39B35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怎样裁决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A77C7-1CD7-4CBA-8538-0A3E2E46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006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通过、拒绝或证据不足，并记录理由。</a:t>
            </a:r>
          </a:p>
        </p:txBody>
      </p:sp>
    </p:spTree>
    <p:extLst>
      <p:ext uri="{BB962C8B-B14F-4D97-AF65-F5344CB8AC3E}">
        <p14:creationId xmlns:p14="http://schemas.microsoft.com/office/powerpoint/2010/main" val="2100007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BE76B-1BD3-4A3C-B1E1-F9B23373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三类容易被掩盖的故障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90C1F-95A6-4EA1-8E06-7176CD4B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7518D-8EA8-4672-88FB-2AB47E47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3619500"/>
                <a:gridCol w="4810125"/>
              </a:tblGrid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表面现象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工程处理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上下文过载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最终节点接不住所有输出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分层汇总，保留来源索引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隐藏资源依赖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并行任务覆盖文件或抢设备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隔离工作区，限定资源并发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84534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静默节点失败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少了输入却生成完整报告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核对任务 ID，明确失败和缺项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B6AFC-533E-4B79-896C-A155F36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340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并行扩大了吞吐量，也扩大了对完整性和可观测性的要求。</a:t>
            </a:r>
          </a:p>
        </p:txBody>
      </p:sp>
    </p:spTree>
    <p:extLst>
      <p:ext uri="{BB962C8B-B14F-4D97-AF65-F5344CB8AC3E}">
        <p14:creationId xmlns:p14="http://schemas.microsoft.com/office/powerpoint/2010/main" val="12966239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C6694-1644-4FDC-AAAE-81BEE593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任务完成与结果完整性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ED79E-9D81-4103-BBB3-94A25FF8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运行状态与 fan-in 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12C2F-D6D8-4F58-AF5B-4DD65808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75499-2CE0-4B9C-B9D4-2D3DA0C1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任务集：A、B、C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24C64-CB1D-41FF-BA71-228E7B69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收到：A 成功、B 无发现、C 超时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52325-DDA4-479A-AC83-A9C94215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结论：2 / 3 完成有效检查，C 待补查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C13B0-EEF3-4833-A273-4C2E23C1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1076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先核对 ID 集合和状态，再决定重试、输出部分报告或停止。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有限重试只针对可恢复错误。所有报告都应披露未覆盖范围。</a:t>
            </a:r>
          </a:p>
        </p:txBody>
      </p:sp>
    </p:spTree>
    <p:extLst>
      <p:ext uri="{BB962C8B-B14F-4D97-AF65-F5344CB8AC3E}">
        <p14:creationId xmlns:p14="http://schemas.microsoft.com/office/powerpoint/2010/main" val="3342398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8F43B-DF2A-4017-8EF2-CDFE6392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Anchors：连接外部证据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7973C-DDFD-4754-A0BE-3DD3FB55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原文解读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991C3-E2A1-4250-B26A-88CE626B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1255405fd4e7a"/>
          <a:stretch xmlns:a="http://schemas.openxmlformats.org/drawingml/2006/main"/>
        </p:blipFill>
        <p:spPr>
          <a:xfrm xmlns:a="http://schemas.openxmlformats.org/drawingml/2006/main">
            <a:off x="4276725" y="1654076"/>
            <a:ext cx="7191375" cy="404514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08256-EED4-49BF-9390-3DAC944E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真实运行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C2DA1-4D54-4A7F-8FC8-0EF651C6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构建退出码、测试产物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原始日志、板上测量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FCA85-ABBD-4A27-8007-4FEC5A2F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固定标准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27CD4-8DE6-4776-B684-15E43481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固件版本、测试条件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不可由优化器自行放宽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1A03D-EBBB-46CF-B93A-7E310C3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验证的是外部事实，而非多个节点对同一份报告的赞同。</a:t>
            </a:r>
          </a:p>
        </p:txBody>
      </p:sp>
    </p:spTree>
    <p:extLst>
      <p:ext uri="{BB962C8B-B14F-4D97-AF65-F5344CB8AC3E}">
        <p14:creationId xmlns:p14="http://schemas.microsoft.com/office/powerpoint/2010/main" val="5623011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CEA8A-317C-41C6-96C3-E16CCCAC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EA4C6-5DC3-4591-B781-1554A2AF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原文适用性判断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CA47E-23E3-4850-A5E1-C3F0686E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049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4953000"/>
              </a:tblGrid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任务特征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更合适的起点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多个独立模块，验收规则相同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有限并行的审查工作流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一个缺陷，尚未明确复现条件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 Agent 对话式排查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编译后才能烧录，烧录后才能测量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保留真实顺序的流程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多个方案，可在固定标准下比较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并行探索，再独立评估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C8498-89A8-4FAA-BCB9-5824F9DA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判断依据是依赖关系和收益，不是 Agent 数量。</a:t>
            </a:r>
          </a:p>
        </p:txBody>
      </p:sp>
    </p:spTree>
    <p:extLst>
      <p:ext uri="{BB962C8B-B14F-4D97-AF65-F5344CB8AC3E}">
        <p14:creationId xmlns:p14="http://schemas.microsoft.com/office/powerpoint/2010/main" val="3497913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5B600-DF49-45EB-851A-A1250EAE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嵌入式案例：驱动审查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CCDC6-B39D-4D08-AC5D-3FDD177F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教学案例 · 无实际项目测试结果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49D59-C598-4A20-B89D-6545A235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B047D-D060-4393-A993-105F5905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输入范围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DAA51-C8F3-4E3C-ABD1-CC013FCB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954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固定 commit，选定 UART / SPI / I2C 驱动文件。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314DB-4951-4833-8FA2-3F2F0D22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并行工作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B2DF5-0249-4AD2-8A44-ACEF35BE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各自审查返回值、超时路径和资源释放，记录证据。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2A08B5-A925-4A5F-80F7-71A8828B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归并与验证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90B9F2-5320-475F-85C9-475C1689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9095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去重后检查调用链，复核问题是否可触发。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EA769-5CB1-4A93-9AC6-276EA333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输出报告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E5E44-62BF-4B89-86F9-5810F184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问题、证据、影响范围、未检查文件和下一步验证。</a:t>
            </a:r>
          </a:p>
        </p:txBody>
      </p:sp>
    </p:spTree>
    <p:extLst>
      <p:ext uri="{BB962C8B-B14F-4D97-AF65-F5344CB8AC3E}">
        <p14:creationId xmlns:p14="http://schemas.microsoft.com/office/powerpoint/2010/main" val="14668287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F4E39-CF57-4AAE-9D20-15ACEB85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FreeRTOS 场景里的真实依赖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8C21C-F166-4B4C-81DA-0202A93F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教学案例 · 资源和版本约束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9EFFA-F043-4C82-8DB8-612E67BA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24025"/>
          <a:ext xmlns:a="http://schemas.openxmlformats.org/drawingml/2006/main" cx="108585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191250"/>
              </a:tblGrid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候选任务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并行条件或必须等待的原因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查队列调用与查超时处理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只读同一快照，提供相关接口上下文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两个模块同时生成补丁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独立工作区，合并后统一回归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两项测试使用同一块板卡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独占租约或排队，避免互相改状态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补丁、编译、烧录、板上测试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后一步依赖前一步产物，保留顺序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7FDA9-EFC7-41D1-9075-26DC2A45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代码版本、固件哈希和日志来源必须匹配。</a:t>
            </a:r>
          </a:p>
        </p:txBody>
      </p:sp>
    </p:spTree>
    <p:extLst>
      <p:ext uri="{BB962C8B-B14F-4D97-AF65-F5344CB8AC3E}">
        <p14:creationId xmlns:p14="http://schemas.microsoft.com/office/powerpoint/2010/main" val="20440308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7194F-5C8D-4CF4-9A31-3EEB9546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一份最小 Graph Spec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3754B0-A0D4-4C7A-8928-BB55EBD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可迁移的任务规格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CCED9-8D11-4194-B583-F807700E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8AC32-181F-43D3-9590-2A605B3F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目标与范围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093EA-4336-406C-9167-45017440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383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审查指定 commit 下最多 12 个驱动文件，只读。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40280-5906-4797-B81E-3262DFEB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任务与预算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077CA-9D40-4B93-812E-53A651E7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每文件一个任务，并发不超过 3，每任务最多 2 次尝试。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1BEC3-3C96-4899-809A-05509EAD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验证与失败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EABEF-D5B8-472C-9E03-DDA3BC1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每个发现独立复核。超时和漏项必须出现在报告中。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17F99-08E6-44FA-B182-CFEEAE88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验收与交付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B9835-0888-43D8-8C11-FF102FBC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逐项标注证据与覆盖状态，输出报告后结束。</a:t>
            </a:r>
          </a:p>
        </p:txBody>
      </p:sp>
    </p:spTree>
    <p:extLst>
      <p:ext uri="{BB962C8B-B14F-4D97-AF65-F5344CB8AC3E}">
        <p14:creationId xmlns:p14="http://schemas.microsoft.com/office/powerpoint/2010/main" val="4999430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8EFEB-C708-4522-A871-5536BD7E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编排层的职责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AF011-B520-4FE1-9D59-DDAA85AA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伪代码，非特定 SDK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7025C-A940-4F55-A30D-57133CEA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C5DEE-6DF4-4966-914D-5D29727A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10668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jobs = plan(scope, fixed_commit)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results = parallelBounded(jobs, limit=3, runChecked)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coverage = auditCoverage(jobs, results)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findings = dedupe(validResults(results))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verified = verifyFresh(findings, acceptance_rules)</a:t>
            </a:r>
          </a:p>
          <a:p xmlns:a="http://schemas.openxmlformats.org/drawingml/2006/main">
            <a:pPr>
              <a:def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report(verified, coverage, failed_jobs)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819CE-5255-4C28-8AF1-E5C3E760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006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普通代码负责状态、格式与完整性。模型负责需要判断的任务。</a:t>
            </a:r>
          </a:p>
        </p:txBody>
      </p:sp>
    </p:spTree>
    <p:extLst>
      <p:ext uri="{BB962C8B-B14F-4D97-AF65-F5344CB8AC3E}">
        <p14:creationId xmlns:p14="http://schemas.microsoft.com/office/powerpoint/2010/main" val="8242230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D38A5-6EB6-43F0-B3F3-AE0C26DD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Code 的产品入口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5726F-E391-465B-8D74-90D5D1E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官方文档补充 · 核实于 2026.09.07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3CBC8-8DA0-45CC-A157-461932AC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58D6-4D4B-4A2A-B938-77C10549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“请创建一个 workflow，按以下范围审查代码……”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2F7EF-E130-411B-B4C5-78121F56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执行方式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D8844-BEE9-4317-820F-60A09ED7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622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编写编排脚本，运行时调度多个 subagent。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DC7D1-0ED3-4E50-B7D4-27BB26AA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需要确认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C61C8-61A5-4968-B502-89415B85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62400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查看计划中的范围、预算、权限和失败策略。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38CBA-AABD-4C2C-AD9A-1FBCBAE0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复用方式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B0373-AA9D-44D4-974B-2003A769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6252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保存适用的工作流，后续通过参数调整范围。</a:t>
            </a:r>
          </a:p>
        </p:txBody>
      </p:sp>
    </p:spTree>
    <p:extLst>
      <p:ext uri="{BB962C8B-B14F-4D97-AF65-F5344CB8AC3E}">
        <p14:creationId xmlns:p14="http://schemas.microsoft.com/office/powerpoint/2010/main" val="19807474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E1A13-8101-4B64-8232-9D232DB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速度与成本是两笔账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F9024-E9A8-4F10-AFF2-720669A1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原文成本提醒 + 试点评估建议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A68BB-7C2B-4AA6-B16A-8BF56367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743075"/>
          <a:ext xmlns:a="http://schemas.openxmlformats.org/drawingml/2006/main" cx="10858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524375"/>
                <a:gridCol w="4143375"/>
              </a:tblGrid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关注项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观察什么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7F5E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控制方式</a:t>
                      </a:r>
                    </a:p>
                  </a:txBody>
                  <a:tcPr marL="91440" marR="91440" marT="45720" marB="45720">
                    <a:solidFill>
                      <a:srgbClr val="102A38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墙钟时间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关键路径、排队与重试时间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删掉虚假依赖，限制资源冲突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总使用量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各节点输入输出与验证开销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限制任务数、迭代数和总预算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有效质量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漏项、误报、证据可复现性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固定验收集，统计人工复核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运维负担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异常恢复与结果追踪成本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2C3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 job_id、版本和任务状态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00B42-3241-4D59-BAD7-86B2FD8F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更多并行可以缩短等待，但不会自动减少总工作量。</a:t>
            </a:r>
          </a:p>
        </p:txBody>
      </p:sp>
    </p:spTree>
    <p:extLst>
      <p:ext uri="{BB962C8B-B14F-4D97-AF65-F5344CB8AC3E}">
        <p14:creationId xmlns:p14="http://schemas.microsoft.com/office/powerpoint/2010/main" val="11449589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DB504-BC67-4DAA-94DE-85C91A15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试点与验收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05CFE-2AE5-4CD0-B63E-187DD9BE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工程补充 · 小范围试点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5CD6F-20FC-435C-B396-E43F6523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A88A1-02D5-44A1-B680-9461FD48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建立基线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F6BAC-435D-44DC-8DFE-0BA103E3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668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固定代码、规则和验收集，记录串行耗时与结果。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B9A52-401A-47D9-9006-A57366FE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只改一个维度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02D00B-C878-4CF8-8390-8B8CE236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先试 3 个并行任务，保留同一验证方式。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A9038-7DD7-4BB3-AB83-01E024E0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比较结果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D38A8-6424-4609-B044-05EA5770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完整性、误报、漏报、时间和成本一起看。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74DAC-6531-4392-9791-9CC2AD37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决定是否扩展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1631D-8F5F-4D21-B73E-661A20ED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67275"/>
            <a:ext cx="7572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收益明确才加宽。失败先查契约、证据与资源冲突。</a:t>
            </a:r>
          </a:p>
        </p:txBody>
      </p:sp>
    </p:spTree>
    <p:extLst>
      <p:ext uri="{BB962C8B-B14F-4D97-AF65-F5344CB8AC3E}">
        <p14:creationId xmlns:p14="http://schemas.microsoft.com/office/powerpoint/2010/main" val="1639537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2A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7BA59-B9EE-424A-9A63-11AD7C6F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讨论：你会删掉哪一条边？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04CCD-4446-40FA-991F-833D894E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3C5CA"/>
                </a:solidFill>
                <a:latin typeface="Microsoft YaHei"/>
                <a:ea typeface="Microsoft YaHei"/>
                <a:cs typeface="Microsoft YaHei"/>
              </a:rPr>
              <a:t>现场练习 · 建议 2 分钟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1F456-1655-48C7-BDA0-1C4440E5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2B1063-CE17-47DA-AE71-059583E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668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A 审查 UART 驱动       B 审查 SPI 驱动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C 综合发现并生成补丁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D 编译修复后的固件</a:t>
            </a:r>
          </a:p>
          <a:p xmlns:a="http://schemas.openxmlformats.org/drawingml/2006/main">
            <a:pPr>
              <a:def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F7F5EF"/>
                </a:solidFill>
                <a:latin typeface="Microsoft YaHei"/>
                <a:ea typeface="Microsoft YaHei"/>
                <a:cs typeface="Microsoft YaHei"/>
              </a:rPr>
              <a:t>E 烧录同一块板卡并做回归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C2D66-ECAC-4ACE-B898-AFBF80F8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668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哪些任务可以并行？</a:t>
            </a:r>
          </a:p>
          <a:p xmlns:a="http://schemas.openxmlformats.org/drawingml/2006/main">
            <a:pPr>
              <a:def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7D7CD"/>
                </a:solidFill>
                <a:latin typeface="Microsoft YaHei"/>
                <a:ea typeface="Microsoft YaHei"/>
                <a:cs typeface="Microsoft YaHei"/>
              </a:rPr>
              <a:t>如果 B 没有返回，最终报告应该怎样写？</a:t>
            </a:r>
          </a:p>
        </p:txBody>
      </p:sp>
    </p:spTree>
    <p:extLst>
      <p:ext uri="{BB962C8B-B14F-4D97-AF65-F5344CB8AC3E}">
        <p14:creationId xmlns:p14="http://schemas.microsoft.com/office/powerpoint/2010/main" val="15577244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5ACD4-9F26-4C76-8374-EDB00382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10896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参考资料与内容边界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3CD33-5A6C-4A08-9C74-2FE39FB9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46D"/>
                </a:solidFill>
                <a:latin typeface="Microsoft YaHei"/>
                <a:ea typeface="Microsoft YaHei"/>
                <a:cs typeface="Microsoft YaHei"/>
              </a:rPr>
              <a:t>完整链接与可复制规格见配套 HTML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A341D-2DD6-4D33-A4A6-2A386CBA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3EDF7-E41B-4060-A05B-A5737E01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906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主要来源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64D4C-AA80-4750-8CC8-6F3D6DAC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7715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Anatoli Kopadze · Graph Engineering explained</a:t>
            </a:r>
          </a:p>
          <a:p xmlns:a="http://schemas.openxmlformats.org/drawingml/2006/main">
            <a:pPr>
              <a:def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X 长文，2026-07-24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944F5-DA1E-46AA-ADA3-226551E7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官方补充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4E333-AB13-4859-97AF-EB3955E2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28925"/>
            <a:ext cx="77152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Anthropic · Building effective agents</a:t>
            </a:r>
          </a:p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Claude Code Docs · Dynamic workflows</a:t>
            </a:r>
          </a:p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LangGraph Docs · Workflows and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5C6A5-B3CA-446D-96D4-F56C078D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922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5C8C2-2365-4FFE-B419-FDE89EA1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0100"/>
            <a:ext cx="7715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嵌入式案例、耗时和限制参数均为教学示例。</a:t>
            </a:r>
          </a:p>
          <a:p xmlns:a="http://schemas.openxmlformats.org/drawingml/2006/main">
            <a:pPr>
              <a:def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C39"/>
                </a:solidFill>
                <a:latin typeface="Microsoft YaHei"/>
                <a:ea typeface="Microsoft YaHei"/>
                <a:cs typeface="Microsoft YaHei"/>
              </a:rPr>
              <a:t>原文宣传性比例与大型项目费用不作为实测结论。</a:t>
            </a:r>
          </a:p>
        </p:txBody>
      </p:sp>
    </p:spTree>
    <p:extLst>
      <p:ext uri="{BB962C8B-B14F-4D97-AF65-F5344CB8AC3E}">
        <p14:creationId xmlns:p14="http://schemas.microsoft.com/office/powerpoint/2010/main" val="1417399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2026-09-07T09:49:11.4070000Z</dcterms:created>
  <dcterms:modified xsi:type="dcterms:W3CDTF">2026-09-07T09:49:11.4070000Z</dcterms:modified>
</coreProperties>
</file>