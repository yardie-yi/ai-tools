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60638740ec4a61" /><Relationship Type="http://schemas.openxmlformats.org/officeDocument/2006/relationships/extended-properties" Target="/docProps/app.xml" Id="Rabf64c58aa194610" /><Relationship Type="http://schemas.openxmlformats.org/officeDocument/2006/relationships/officeDocument" Target="/ppt/presentation.xml" Id="R4c142021cd5746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6251f7fbb54f80"/>
  </p:sldMasterIdLst>
  <p:notesMasterIdLst>
    <p:notesMasterId xmlns:r="http://schemas.openxmlformats.org/officeDocument/2006/relationships" r:id="R840986f15048418e"/>
  </p:notesMasterIdLst>
  <p:sldIdLst>
    <p:sldId xmlns:r="http://schemas.openxmlformats.org/officeDocument/2006/relationships" id="256" r:id="R8c8b2238f68143e8"/>
    <p:sldId xmlns:r="http://schemas.openxmlformats.org/officeDocument/2006/relationships" id="257" r:id="Rba336d05e1b24827"/>
    <p:sldId xmlns:r="http://schemas.openxmlformats.org/officeDocument/2006/relationships" id="258" r:id="Raa805be2dfbf4a15"/>
    <p:sldId xmlns:r="http://schemas.openxmlformats.org/officeDocument/2006/relationships" id="259" r:id="R3d5a24cfe17a424d"/>
    <p:sldId xmlns:r="http://schemas.openxmlformats.org/officeDocument/2006/relationships" id="260" r:id="R118a7dcd729e44ff"/>
    <p:sldId xmlns:r="http://schemas.openxmlformats.org/officeDocument/2006/relationships" id="261" r:id="R3e4a0b25345c4c2f"/>
    <p:sldId xmlns:r="http://schemas.openxmlformats.org/officeDocument/2006/relationships" id="262" r:id="Ra5c43e1965874736"/>
    <p:sldId xmlns:r="http://schemas.openxmlformats.org/officeDocument/2006/relationships" id="263" r:id="R0fd620e8d3764e3f"/>
    <p:sldId xmlns:r="http://schemas.openxmlformats.org/officeDocument/2006/relationships" id="264" r:id="R5f4f71e879f642e5"/>
    <p:sldId xmlns:r="http://schemas.openxmlformats.org/officeDocument/2006/relationships" id="265" r:id="Re0ecff460834401f"/>
    <p:sldId xmlns:r="http://schemas.openxmlformats.org/officeDocument/2006/relationships" id="266" r:id="R624ebac3f73a4e76"/>
    <p:sldId xmlns:r="http://schemas.openxmlformats.org/officeDocument/2006/relationships" id="267" r:id="R8a6949bd76ec45ac"/>
    <p:sldId xmlns:r="http://schemas.openxmlformats.org/officeDocument/2006/relationships" id="268" r:id="R0d6610bb94574cf2"/>
    <p:sldId xmlns:r="http://schemas.openxmlformats.org/officeDocument/2006/relationships" id="269" r:id="R42d8062450694e66"/>
    <p:sldId xmlns:r="http://schemas.openxmlformats.org/officeDocument/2006/relationships" id="270" r:id="R3348c708aa7f4db8"/>
    <p:sldId xmlns:r="http://schemas.openxmlformats.org/officeDocument/2006/relationships" id="271" r:id="R0531b76b7c214f87"/>
    <p:sldId xmlns:r="http://schemas.openxmlformats.org/officeDocument/2006/relationships" id="272" r:id="R831edb5465c5464a"/>
    <p:sldId xmlns:r="http://schemas.openxmlformats.org/officeDocument/2006/relationships" id="273" r:id="R7ca835c6eadb4314"/>
    <p:sldId xmlns:r="http://schemas.openxmlformats.org/officeDocument/2006/relationships" id="274" r:id="R53e91612d8374ca0"/>
    <p:sldId xmlns:r="http://schemas.openxmlformats.org/officeDocument/2006/relationships" id="275" r:id="Rf8b60c7e5db243a8"/>
    <p:sldId xmlns:r="http://schemas.openxmlformats.org/officeDocument/2006/relationships" id="276" r:id="Rd6111fa8c50844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7befba2b2d48b2" /><Relationship Type="http://schemas.openxmlformats.org/officeDocument/2006/relationships/slideMaster" Target="/ppt/slideMasters/slideMaster1.xml" Id="R4d6251f7fbb54f80" /><Relationship Type="http://schemas.openxmlformats.org/officeDocument/2006/relationships/notesMaster" Target="/ppt/notesMasters/notesMaster1.xml" Id="R840986f15048418e" /><Relationship Type="http://schemas.openxmlformats.org/officeDocument/2006/relationships/presProps" Target="/ppt/presProps.xml" Id="R0255cbadbb9b45f3" /><Relationship Type="http://schemas.openxmlformats.org/officeDocument/2006/relationships/tableStyles" Target="/ppt/tableStyles.xml" Id="R9dec527a24a24c2d" /><Relationship Type="http://schemas.openxmlformats.org/officeDocument/2006/relationships/slide" Target="/ppt/slides/slide1.xml" Id="R8c8b2238f68143e8" /><Relationship Type="http://schemas.openxmlformats.org/officeDocument/2006/relationships/slide" Target="/ppt/slides/slide2.xml" Id="Rba336d05e1b24827" /><Relationship Type="http://schemas.openxmlformats.org/officeDocument/2006/relationships/slide" Target="/ppt/slides/slide3.xml" Id="Raa805be2dfbf4a15" /><Relationship Type="http://schemas.openxmlformats.org/officeDocument/2006/relationships/slide" Target="/ppt/slides/slide4.xml" Id="R3d5a24cfe17a424d" /><Relationship Type="http://schemas.openxmlformats.org/officeDocument/2006/relationships/slide" Target="/ppt/slides/slide5.xml" Id="R118a7dcd729e44ff" /><Relationship Type="http://schemas.openxmlformats.org/officeDocument/2006/relationships/slide" Target="/ppt/slides/slide6.xml" Id="R3e4a0b25345c4c2f" /><Relationship Type="http://schemas.openxmlformats.org/officeDocument/2006/relationships/slide" Target="/ppt/slides/slide7.xml" Id="Ra5c43e1965874736" /><Relationship Type="http://schemas.openxmlformats.org/officeDocument/2006/relationships/slide" Target="/ppt/slides/slide8.xml" Id="R0fd620e8d3764e3f" /><Relationship Type="http://schemas.openxmlformats.org/officeDocument/2006/relationships/slide" Target="/ppt/slides/slide9.xml" Id="R5f4f71e879f642e5" /><Relationship Type="http://schemas.openxmlformats.org/officeDocument/2006/relationships/slide" Target="/ppt/slides/slide10.xml" Id="Re0ecff460834401f" /><Relationship Type="http://schemas.openxmlformats.org/officeDocument/2006/relationships/slide" Target="/ppt/slides/slide11.xml" Id="R624ebac3f73a4e76" /><Relationship Type="http://schemas.openxmlformats.org/officeDocument/2006/relationships/slide" Target="/ppt/slides/slide12.xml" Id="R8a6949bd76ec45ac" /><Relationship Type="http://schemas.openxmlformats.org/officeDocument/2006/relationships/slide" Target="/ppt/slides/slide13.xml" Id="R0d6610bb94574cf2" /><Relationship Type="http://schemas.openxmlformats.org/officeDocument/2006/relationships/slide" Target="/ppt/slides/slide14.xml" Id="R42d8062450694e66" /><Relationship Type="http://schemas.openxmlformats.org/officeDocument/2006/relationships/slide" Target="/ppt/slides/slide15.xml" Id="R3348c708aa7f4db8" /><Relationship Type="http://schemas.openxmlformats.org/officeDocument/2006/relationships/slide" Target="/ppt/slides/slide16.xml" Id="R0531b76b7c214f87" /><Relationship Type="http://schemas.openxmlformats.org/officeDocument/2006/relationships/slide" Target="/ppt/slides/slide17.xml" Id="R831edb5465c5464a" /><Relationship Type="http://schemas.openxmlformats.org/officeDocument/2006/relationships/slide" Target="/ppt/slides/slide18.xml" Id="R7ca835c6eadb4314" /><Relationship Type="http://schemas.openxmlformats.org/officeDocument/2006/relationships/slide" Target="/ppt/slides/slide19.xml" Id="R53e91612d8374ca0" /><Relationship Type="http://schemas.openxmlformats.org/officeDocument/2006/relationships/slide" Target="/ppt/slides/slide20.xml" Id="Rf8b60c7e5db243a8" /><Relationship Type="http://schemas.openxmlformats.org/officeDocument/2006/relationships/slide" Target="/ppt/slides/slide21.xml" Id="Rd6111fa8c50844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b59967437c48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8841157d8f4d1a" /><Relationship Type="http://schemas.openxmlformats.org/officeDocument/2006/relationships/notesMaster" Target="/ppt/notesMasters/notesMaster1.xml" Id="R5063174d7a244e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a645e02da44f04" /><Relationship Type="http://schemas.openxmlformats.org/officeDocument/2006/relationships/notesMaster" Target="/ppt/notesMasters/notesMaster1.xml" Id="Rc8abd4cc7639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ae4a9377c74926" /><Relationship Type="http://schemas.openxmlformats.org/officeDocument/2006/relationships/notesMaster" Target="/ppt/notesMasters/notesMaster1.xml" Id="R0c7d3f5bf57843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cb1e49b95449fb" /><Relationship Type="http://schemas.openxmlformats.org/officeDocument/2006/relationships/notesMaster" Target="/ppt/notesMasters/notesMaster1.xml" Id="Rf889b2099d3242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6dbd473a804d1f" /><Relationship Type="http://schemas.openxmlformats.org/officeDocument/2006/relationships/notesMaster" Target="/ppt/notesMasters/notesMaster1.xml" Id="Rd982965fb72e42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0561de4e9e4dc8" /><Relationship Type="http://schemas.openxmlformats.org/officeDocument/2006/relationships/notesMaster" Target="/ppt/notesMasters/notesMaster1.xml" Id="Re313ba8a10e943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2c5e0c33a042d6" /><Relationship Type="http://schemas.openxmlformats.org/officeDocument/2006/relationships/notesMaster" Target="/ppt/notesMasters/notesMaster1.xml" Id="R47606aa830d045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635d83c8a1453b" /><Relationship Type="http://schemas.openxmlformats.org/officeDocument/2006/relationships/notesMaster" Target="/ppt/notesMasters/notesMaster1.xml" Id="Rcf0d60f4ccb445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0e1e1b54264450" /><Relationship Type="http://schemas.openxmlformats.org/officeDocument/2006/relationships/notesMaster" Target="/ppt/notesMasters/notesMaster1.xml" Id="R72e746d5a82a40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a11de980c645c6" /><Relationship Type="http://schemas.openxmlformats.org/officeDocument/2006/relationships/notesMaster" Target="/ppt/notesMasters/notesMaster1.xml" Id="R46eab1655f204c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aa34da370f4c86" /><Relationship Type="http://schemas.openxmlformats.org/officeDocument/2006/relationships/notesMaster" Target="/ppt/notesMasters/notesMaster1.xml" Id="R898d1e4aa43949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60b80e438a48d1" /><Relationship Type="http://schemas.openxmlformats.org/officeDocument/2006/relationships/notesMaster" Target="/ppt/notesMasters/notesMaster1.xml" Id="R0e29bf662f7642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d0f103fd7d40c5" /><Relationship Type="http://schemas.openxmlformats.org/officeDocument/2006/relationships/notesMaster" Target="/ppt/notesMasters/notesMaster1.xml" Id="Rc5c3f5cd510f4d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61439a88d3480c" /><Relationship Type="http://schemas.openxmlformats.org/officeDocument/2006/relationships/notesMaster" Target="/ppt/notesMasters/notesMaster1.xml" Id="R8e756da442884f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35f4e65f3a4d86" /><Relationship Type="http://schemas.openxmlformats.org/officeDocument/2006/relationships/notesMaster" Target="/ppt/notesMasters/notesMaster1.xml" Id="Ra83832af5a6d42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0e9a936a994fef" /><Relationship Type="http://schemas.openxmlformats.org/officeDocument/2006/relationships/notesMaster" Target="/ppt/notesMasters/notesMaster1.xml" Id="Rd6d412c4078a49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d757af08984b72" /><Relationship Type="http://schemas.openxmlformats.org/officeDocument/2006/relationships/notesMaster" Target="/ppt/notesMasters/notesMaster1.xml" Id="Reb4e32580b7145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200ff59066d4b4b" /><Relationship Type="http://schemas.openxmlformats.org/officeDocument/2006/relationships/notesMaster" Target="/ppt/notesMasters/notesMaster1.xml" Id="R258b742811c445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a6cfb3d8a6462e" /><Relationship Type="http://schemas.openxmlformats.org/officeDocument/2006/relationships/notesMaster" Target="/ppt/notesMasters/notesMaster1.xml" Id="R7c6ca6b5db3349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d273454c154849" /><Relationship Type="http://schemas.openxmlformats.org/officeDocument/2006/relationships/notesMaster" Target="/ppt/notesMasters/notesMaster1.xml" Id="R99b76989d9674f9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c772c3cb624e96" /><Relationship Type="http://schemas.openxmlformats.org/officeDocument/2006/relationships/notesMaster" Target="/ppt/notesMasters/notesMaster1.xml" Id="Rd66d59d813ea48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建议分享时长约 30 分钟。先解释模型之外的系统职责，再介绍工件与反馈，最后用嵌入式教学案例串起全过程。封面为抽象概念图。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这是帮助理解的分解方式，不是统一行业标准或数学恒等式。Harness 可包括运行时内部的工具调度与循环，也包括仓库规则、测试基础设施和外部运行环境。它不会使概率模型本身变成确定性系统。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这些概念的实际边界会重叠。Context Engineering 处理信息的选择、组织和维护；Loop 描述重复执行的控制流；Harness 将这些机制与权限、环境、观测和验收组合起来。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不要把这个类比当成真实软件栈映射。上下文窗口不是字节寻址内存，Harness 也不一定是单独的进程。它强调能力与环境的分工。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六项是本分享用于落地的组织方式。可以由脚本、CI、开发工具或代理运行时分别承担，不要求实现为六个独立模块。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使用复数形式。feature_list.json 只是进度与验收记录，测试实现必须真实存在且执行过。JSON 不能直接添加注释，可把说明放到字段或采用明确标注的 JSONC。任务契约不意味着每次任务都必须启动多个模型。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把规则、设计决策与任务状态分开放置。规则要简短、准确、可维护；任务变化只更新对应记录。给模型的上下文应优先包含当前任务需要的信息，长历史可以压缩为摘要和证据索引。仓库外资料也可以使用，但要显式接入并标识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矩阵是设计检查点的视角，不是工具永久归属表。确定性检查也可能受环境噪声影响，需要保留环境信息。模型评价有助于理解语义，但不能替代实际编译或板端测量。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这里展示控制过程。它不要求存在定时任务：单个会话内也可以迭代。需要定时或跨会话执行时，应由实际调度器和持久状态提供支持，不能靠提示词假设后台任务会持续存在。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可用提交标识或完整工作区内容哈希绑定证据；有未提交修改时只记录 HEAD 不够。进度更新应在证据写入成功之后，以原子方式保存，减少中断导致的状态不一致。恢复时先检查未提交改动，不应直接清理工作区。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HIL 指硬件在环。验证矩阵由任务风险和验收条件确定，不要求每个文档修改都运行全套测试。对实际执行的检查应保留输入、输出、工具链、代码版本和设备配置。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三角色是可选结构，不是 Harness 的定义。小任务可以单 Agent 分阶段执行。需要独立评审的复杂任务再增加评价者，并控制上下文、费用与职责。评价者同样可能出错，模型自检可以是辅助信号，但不应把自我肯定当作验收凭据。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以下案例是自拟教学场景，不代表用户项目的真实故障。不能凭高负载和丢包现象断言是缓冲区、DMA、ISR 或优先级配置问题。先检查发送端、链路、接收处理与解析阶段的证据，按实际平台建立可复现条件。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观测方式本身也可能改变时序，应评估日志和采集的开销。不要假设所有芯片 DMA 中断、缓存一致性或 RTOS API 规则相同。这里不提供未经平台上下文验证的寄存器值或驱动修复代码。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这是说明流程的伪代码，不能直接运行。budget 包含总时间、费用或调用次数限制；计划、执行和验证都使用受预算约束的调用封装，并为保存现场预留资源。execute_bounded 需要实际终止超时进程并处理副作用。verify_required 按全任务验收清单检查，不能只因当前小步骤通过就完成任务。decide_next 合并失败学习、下一步、预算与停滞判断：缺少必需条件为 blocked，全部验收通过为 completed，不可恢复错误或预算耗尽为 failed。先写证据再原子保存状态，成功后才返回。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门禁由受保护的测试或策略执行；修改验收标准本身需要显式记录，避免为了过关而削弱检查。scope 固定不可变代码快照和工具链，获取设备独占租约并持续监测相关配置变更；使用作用域清理机制在所有返回或异常路径释放租约。获取失败映射为 blocked，检查中的范围变化映射为失效并重新验证。all_valid 检查实际执行状态、输出、版本对应与必需项完整性。环境故障可有限重试，缺依赖或不可用设备应阻塞。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可能产生外部副作用的工具动作，重试前必须核对是否已经执行。更稳妥的做法是提供幂等键或查询动作状态。重试次数是工程配置而非通用固定值。审批策略按任务实际授权设置，必要动作未经授权时不得自动越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如果比较人工负担，应把评审、返工和处理异常的时间纳入统一口径。还要观察成功率、耗时分布、工具失败率与人工接管率。不要从一个示例推断更复杂 Harness 必然更划算，也不能把其他团队的基准成绩当成项目预期收益。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 衰减是指原来为某类模型弱点增加的补救机制，随着模型或任务变化可能失去收益。消融比较要控制任务、工具和环境，最好重复运行以处理随机性。不要因为一次成功就删掉控制措施，也不要假设模型越强总成本一定越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对嵌入式项目，可以先从日志分析、协议解析器修复或主机可验证模块开始。驱动、板级时序和固件烧录需要对应的真实环境与工具。是否引入多个 Agent、调度任务或长期记忆，应由实际任务失败类型决定。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可以用 UART 教学案例现场讨论：如果只完成主机单测、没有板卡，应该交付什么结论？答案是保留已验证范围及证据，整体任务按验收需求标记为 blocked，列出板端验证条件。详细 HTML 提供交互过程和完整伪代码。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2958738d5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bac69809ba4661" /><Relationship Type="http://schemas.openxmlformats.org/officeDocument/2006/relationships/slideLayout" Target="/ppt/slideLayouts/slideLayout1.xml" Id="R076a2788667f49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a2788667f49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441affa454348" /><Relationship Type="http://schemas.openxmlformats.org/officeDocument/2006/relationships/image" Target="/ppt/media/image.png" Id="Rd851c9b8ee624da3" /><Relationship Type="http://schemas.openxmlformats.org/officeDocument/2006/relationships/notesSlide" Target="/ppt/notesSlides/notesSlide1.xml" Id="R12031996269f43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43451eb3b44be" /><Relationship Type="http://schemas.openxmlformats.org/officeDocument/2006/relationships/notesSlide" Target="/ppt/notesSlides/notesSlide2.xml" Id="R995ca98f344944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a5a9e279e4f30" /><Relationship Type="http://schemas.openxmlformats.org/officeDocument/2006/relationships/notesSlide" Target="/ppt/notesSlides/notesSlide3.xml" Id="R9818dee92bfb40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afff9c48e4db7" /><Relationship Type="http://schemas.openxmlformats.org/officeDocument/2006/relationships/notesSlide" Target="/ppt/notesSlides/notesSlide4.xml" Id="R85c421c9f1de4e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71d133ce74d33" /><Relationship Type="http://schemas.openxmlformats.org/officeDocument/2006/relationships/notesSlide" Target="/ppt/notesSlides/notesSlide5.xml" Id="Rcc03fd5a167c49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fe3b0020f4c2d" /><Relationship Type="http://schemas.openxmlformats.org/officeDocument/2006/relationships/notesSlide" Target="/ppt/notesSlides/notesSlide6.xml" Id="R8012f9c1f9fe4b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4c69c5a3c4c5a" /><Relationship Type="http://schemas.openxmlformats.org/officeDocument/2006/relationships/notesSlide" Target="/ppt/notesSlides/notesSlide7.xml" Id="Rb73cef1a2de346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9301cbc064e22" /><Relationship Type="http://schemas.openxmlformats.org/officeDocument/2006/relationships/notesSlide" Target="/ppt/notesSlides/notesSlide8.xml" Id="R0a0686a222e748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4eb6590944271" /><Relationship Type="http://schemas.openxmlformats.org/officeDocument/2006/relationships/notesSlide" Target="/ppt/notesSlides/notesSlide9.xml" Id="R537744f64a7843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10b76b4a54a3c" /><Relationship Type="http://schemas.openxmlformats.org/officeDocument/2006/relationships/notesSlide" Target="/ppt/notesSlides/notesSlide10.xml" Id="Ra22fc488f60941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9229e1bae4397" /><Relationship Type="http://schemas.openxmlformats.org/officeDocument/2006/relationships/notesSlide" Target="/ppt/notesSlides/notesSlide11.xml" Id="R1582bff2e0a64d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888ae8fe24f4d" /><Relationship Type="http://schemas.openxmlformats.org/officeDocument/2006/relationships/notesSlide" Target="/ppt/notesSlides/notesSlide12.xml" Id="Rf2e943f4c5b04a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ee560501b4cf4" /><Relationship Type="http://schemas.openxmlformats.org/officeDocument/2006/relationships/notesSlide" Target="/ppt/notesSlides/notesSlide13.xml" Id="R6702815f8ab54d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d90401a384e9f" /><Relationship Type="http://schemas.openxmlformats.org/officeDocument/2006/relationships/notesSlide" Target="/ppt/notesSlides/notesSlide14.xml" Id="R624a9b657ecf47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828e773334424" /><Relationship Type="http://schemas.openxmlformats.org/officeDocument/2006/relationships/notesSlide" Target="/ppt/notesSlides/notesSlide15.xml" Id="R6572fe7c0d4d49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1028a1eee42e5" /><Relationship Type="http://schemas.openxmlformats.org/officeDocument/2006/relationships/notesSlide" Target="/ppt/notesSlides/notesSlide16.xml" Id="R24bc97b3630144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1567b6d514b7a" /><Relationship Type="http://schemas.openxmlformats.org/officeDocument/2006/relationships/notesSlide" Target="/ppt/notesSlides/notesSlide17.xml" Id="Rf5e8b21be65544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1e1a0744048a9" /><Relationship Type="http://schemas.openxmlformats.org/officeDocument/2006/relationships/notesSlide" Target="/ppt/notesSlides/notesSlide18.xml" Id="Rad2e8dbb48a242b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0a7c382fc4cf9" /><Relationship Type="http://schemas.openxmlformats.org/officeDocument/2006/relationships/notesSlide" Target="/ppt/notesSlides/notesSlide19.xml" Id="Rab0479e68f2b4fe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a02b462d74ec0" /><Relationship Type="http://schemas.openxmlformats.org/officeDocument/2006/relationships/notesSlide" Target="/ppt/notesSlides/notesSlide20.xml" Id="Rd49b2fe8501e47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933dcc4fb4829" /><Relationship Type="http://schemas.openxmlformats.org/officeDocument/2006/relationships/notesSlide" Target="/ppt/notesSlides/notesSlide21.xml" Id="Ra2ca891d6b864d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1c9b8ee624da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1DE20FD0-09D4-4FD1-A6C5-58700CCF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60960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  <a:p xmlns:a="http://schemas.openxmlformats.org/drawingml/2006/main">
            <a:pPr>
              <a:defRPr sz="5400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016D2C5-E0EF-42F4-AA7E-8BB55AC6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为 AI Agent 设计可靠的工作环境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1749D93-F45D-4FF4-9FA0-03657669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工程分享 · 概念、机制与嵌入式实践</a:t>
            </a:r>
          </a:p>
        </p:txBody>
      </p:sp>
    </p:spTree>
    <p:extLst>
      <p:ext uri="{BB962C8B-B14F-4D97-AF65-F5344CB8AC3E}">
        <p14:creationId xmlns:p14="http://schemas.microsoft.com/office/powerpoint/2010/main" val="231821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9A787CB-6E33-4B13-8FCC-44AD76EB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Harness Engineering 的工作对象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594E899-F68A-4C2B-A308-CBFDCDB1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围绕模型，设计它获取信息、执行动作和接受检查的系统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FACA517-5FF7-45E0-8FE1-64EB02E0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6B9572-6419-4562-B854-43075BB6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Agent ≈ Model + Harness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4FBC43D-72BA-4841-BBCB-227E6ABA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076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模型负责生成候选方案。Harness 决定它看见什么、</a:t>
            </a:r>
          </a:p>
          <a:p xmlns:a="http://schemas.openxmlformats.org/drawingml/2006/main">
            <a:pPr>
              <a:defRPr sz="25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能做什么、如何验证，以及何时继续或退出。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8C5969B-0861-4285-8821-BAF3F095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工程目标：让任务产出可检查，失败过程可恢复</a:t>
            </a:r>
          </a:p>
        </p:txBody>
      </p:sp>
    </p:spTree>
    <p:extLst>
      <p:ext uri="{BB962C8B-B14F-4D97-AF65-F5344CB8AC3E}">
        <p14:creationId xmlns:p14="http://schemas.microsoft.com/office/powerpoint/2010/main" val="1051514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92F1EA1-E0A8-4494-9AE6-75A560BF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四类 Engineering 的边界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87C393E-D913-4C24-975D-CA5F7181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它们可以协同使用，关注的对象不同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D0DAB6-1B07-4AE0-89A0-B2FD49B2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476750"/>
                <a:gridCol w="4352925"/>
              </a:tblGrid>
              <a:tr h="7315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主要问题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典型产物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7315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这一次该怎么表达要求？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任务指令、输出格式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7315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这一步应该看见哪些信息？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代码片段、约束、压缩后的进度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7315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如何执行、检查、再次尝试？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迭代流程、停止条件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7315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整个任务怎样可靠运行？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工具、状态、门禁、预算与环境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AD92646-92C8-435B-BDAE-80F823F7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Loop 是 Harness 中组织执行的一部分</a:t>
            </a:r>
          </a:p>
        </p:txBody>
      </p:sp>
    </p:spTree>
    <p:extLst>
      <p:ext uri="{BB962C8B-B14F-4D97-AF65-F5344CB8AC3E}">
        <p14:creationId xmlns:p14="http://schemas.microsoft.com/office/powerpoint/2010/main" val="483261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9CEAA76-EBBB-490C-A2B3-0BF9B5AC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用操作系统理解 Harness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5B24874-7E0D-4FEA-99B0-5E61A1A2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一个帮助工程师建立直觉的类比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3D1790-DE99-4EA7-BA21-257639B2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000375"/>
                <a:gridCol w="5495925"/>
              </a:tblGrid>
              <a:tr h="7277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系统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计算机类比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负责什么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7277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处理当前输入，生成候选结果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7277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上下文窗口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RAM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承载当前可见的有限工作信息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7277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操作系统与运行环境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安排输入、动作、状态和资源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7277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运行中的应用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围绕任务实际执行工作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7933C26-4AEE-483D-B615-E1B57790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类比有边界：模型输出有不确定性，结果仍需外部检验</a:t>
            </a:r>
          </a:p>
        </p:txBody>
      </p:sp>
    </p:spTree>
    <p:extLst>
      <p:ext uri="{BB962C8B-B14F-4D97-AF65-F5344CB8AC3E}">
        <p14:creationId xmlns:p14="http://schemas.microsoft.com/office/powerpoint/2010/main" val="20861342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65C08F39-77C7-4E40-9E0D-BF46693C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Harness 的六项职责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46FF80-6769-4DDE-B873-3E8C72C7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每个职责都应能落到工具、文件或明确的运行规则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8565D8-AF57-42FC-84E6-84FFF8C6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191000"/>
                <a:gridCol w="48768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运行时的问题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嵌入式任务中的例子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现在有哪些可信信息？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板卡版本、真实代码、已验证约束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工具与权限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哪些动作可以执行？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限定目录；烧录前核对设备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执行循环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下一步应该做什么？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 → 修改 → 验证 → 再决策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状态恢复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中断后从哪里继续？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任务状态、版本标识、证据路径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验证与观测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什么证据支持结论？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构建日志、测试结果、板端记录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预算与退出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还应继续尝试吗？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轮次上限、超时、停滞与阻塞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254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222BF2C-25C2-4930-AC7E-9DECA71B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五类可维护的工程工件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906D65-C8D4-47A2-B73E-BDA7D2D8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工件有更新责任、读取时机和明确用途，才会发挥作用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BF3BB1A-E9AA-459E-A125-29998C91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619625"/>
                <a:gridCol w="3543300"/>
              </a:tblGrid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工件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应该写什么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解决的问题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AGENTS.md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仓库入口、构建方式、模块边界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每次会话都重新摸索项目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feature_list.json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任务、验收条件、状态、证据引用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遗漏需求或重复实现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初始化例程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核对环境、读取进度、验证基线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在错误目录或坏基线上改动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任务契约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本轮范围、验收、限制、退出条件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实现范围不断扩大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影响地图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真实文件、符号、调用关系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凭空猜测结构和接口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951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2DE51F8-795F-4BBE-809D-204C53CD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把仓库做成 Agent 能读懂的工作台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FA7BE7-16EC-4BDB-B185-B79A9EFE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短入口负责导航，细节留在对应模块和验证材料中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BD6E14-FAAE-4F24-855E-246BAA8A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B782F20-9833-4770-9BFF-26097F4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入口文件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60CC3C-B6B1-450C-9D0F-14334500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2768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项目用途与模块边界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构建和测试入口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需要遵循的代码约束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指向详细文档的路径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A8B07C1-B9A6-4087-BD14-C617A7A7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当前任务上下文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EC4C1D4-E526-49D5-9FF4-4776586D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24175"/>
            <a:ext cx="52768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真实文件与符号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本次验收范围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已有失败证据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已尝试方案与下一步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20B6E0E-5FBF-4770-9359-FD9EC710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可执行约束交给工具检查，文档说明约束的含义</a:t>
            </a:r>
          </a:p>
        </p:txBody>
      </p:sp>
    </p:spTree>
    <p:extLst>
      <p:ext uri="{BB962C8B-B14F-4D97-AF65-F5344CB8AC3E}">
        <p14:creationId xmlns:p14="http://schemas.microsoft.com/office/powerpoint/2010/main" val="13971676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6F0CDA7-C9E6-48FF-A5A9-F9E578F1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前馈与反馈的 2 × 2 视角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88D7A0-F972-46C1-8069-9F04BDE3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按控制发生的时机，以及是否依赖模型判断来分类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E879BA-DEA1-4544-BDF7-C083A705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24100"/>
                <a:gridCol w="4324350"/>
                <a:gridCol w="4324350"/>
              </a:tblGrid>
              <a:tr h="968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动作之前：前馈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产出之后：反馈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968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确定性计算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校验路径、参数和权限</a:t>
                      </a:r>
                    </a:p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限制允许调用的工具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编译、静态检查</a:t>
                      </a:r>
                    </a:p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单元测试、接口契约测试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968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模型推理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解释需求与约束</a:t>
                      </a:r>
                    </a:p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检查计划是否覆盖验收项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语义审查、反例分析</a:t>
                      </a:r>
                    </a:p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结合证据检查行为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4058F74-44BC-4627-AA59-CDA3DD0A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同一工具可能承担不同角色：修改前运行测试可识别基线，</a:t>
            </a:r>
          </a:p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修改后运行测试可检查回归。</a:t>
            </a:r>
          </a:p>
        </p:txBody>
      </p:sp>
    </p:spTree>
    <p:extLst>
      <p:ext uri="{BB962C8B-B14F-4D97-AF65-F5344CB8AC3E}">
        <p14:creationId xmlns:p14="http://schemas.microsoft.com/office/powerpoint/2010/main" val="221777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700F1DD8-2E66-42CD-A25C-BEBA2F98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一次任务的运行过程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9674F4-3F0E-443A-A7CD-0065E1FD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每一步都留下下一步能够使用的结果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D732EA-2D6C-443E-B843-9E1DCC79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C3A4415-ADCE-47BA-8EE9-496F653F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56C755E-AE36-4981-A2A9-5F2A3B9A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33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初始化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9BD83B5-9BB5-4543-B212-11FFFEFF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428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确认目录与环境</a:t>
            </a:r>
          </a:p>
          <a:p xmlns:a="http://schemas.openxmlformats.org/drawingml/2006/main">
            <a:pPr>
              <a:def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读取任务和基线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406AE50-F16B-45C7-BA6F-12E2AC8A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431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0BAB0EA-7AEB-4D78-B4CE-C838E8FC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制定计划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4B8F429-A140-4734-8EEF-AC77C476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2428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定位真实文件</a:t>
            </a:r>
          </a:p>
          <a:p xmlns:a="http://schemas.openxmlformats.org/drawingml/2006/main">
            <a:pPr>
              <a:def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明确本轮验收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420C8E2-1268-4141-AAD7-17A2AC8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3F5AD56-4477-4FBD-8615-497D3B4F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333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执行变更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1589167-0FD7-40E1-B157-CB4F907B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2428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完成一个小目标</a:t>
            </a:r>
          </a:p>
          <a:p xmlns:a="http://schemas.openxmlformats.org/drawingml/2006/main">
            <a:pPr>
              <a:def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记录工具结果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79CEE21-F067-4C5E-8D5C-650B6ABD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431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5E9D877-740A-419B-88CE-F4923404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333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验证决策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0B88656-DB0B-47CB-9C74-C1E9D288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2428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检查证据</a:t>
            </a:r>
          </a:p>
          <a:p xmlns:a="http://schemas.openxmlformats.org/drawingml/2006/main">
            <a:pPr>
              <a:def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继续、完成或退出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EBE51D8-37F2-4C3E-9463-37F4F4E9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验证失败后，带着失败原因回到计划；下一轮延续已保存的状态</a:t>
            </a:r>
          </a:p>
        </p:txBody>
      </p:sp>
    </p:spTree>
    <p:extLst>
      <p:ext uri="{BB962C8B-B14F-4D97-AF65-F5344CB8AC3E}">
        <p14:creationId xmlns:p14="http://schemas.microsoft.com/office/powerpoint/2010/main" val="15125045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5B0747F-E8BA-4DDC-A902-03F89530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跨会话恢复：保存证据，不只保存结论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2ADFCA-C927-44E2-B32E-404BF16D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任务状态必须能追溯到对应的代码和运行条件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20AF56-DD94-452B-858A-450BD2E5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000625"/>
                <a:gridCol w="3543300"/>
              </a:tblGrid>
              <a:tr h="6534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记录项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示例内容（教学用）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6534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任务状态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UART-01 / in_progress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知道当前做到了哪一步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6534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版本与环境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代码快照、工具链、板卡修订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识别旧证据是否仍然适用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6534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验证证据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构建结果、测试记录、失败输入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复核“通过”或“失败”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6534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恢复提示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已尝试方案、失败原因、下一步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避免从零开始或重复碰壁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4313308-1714-4CA1-BFBB-E26BD088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代码或环境改变后，需要重新判断哪些验证结果已经失效</a:t>
            </a:r>
          </a:p>
        </p:txBody>
      </p:sp>
    </p:spTree>
    <p:extLst>
      <p:ext uri="{BB962C8B-B14F-4D97-AF65-F5344CB8AC3E}">
        <p14:creationId xmlns:p14="http://schemas.microsoft.com/office/powerpoint/2010/main" val="71463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C729720-2A0B-4B55-BEA8-58DFD320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验证要分层，每一层都有能力边界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D578C8-F540-4FDD-8842-1AF4FA3D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通过某一项检查，只能支持它实际覆盖的结论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0F2CE7-76D7-4839-B852-604D0320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10075"/>
                <a:gridCol w="4086225"/>
              </a:tblGrid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能够发现什么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仍然无法证明什么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编译与静态检查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类型、链接、部分编码问题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运行时功能和真实时序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主机单元测试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解析、边界、状态转换错误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DMA、ISR 与硬件交互正确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仿真 / 集成测试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接口配合、协议流程问题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真实负载和物理信号行为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板端 / HIL 验证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指定条件下的真实系统行为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未覆盖场景永远不会故障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9B60E85-7B97-4C37-AB9C-ED20B6B4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必需的板端验证缺失，任务进入 blocked，并说明缺少的条件</a:t>
            </a:r>
          </a:p>
        </p:txBody>
      </p:sp>
    </p:spTree>
    <p:extLst>
      <p:ext uri="{BB962C8B-B14F-4D97-AF65-F5344CB8AC3E}">
        <p14:creationId xmlns:p14="http://schemas.microsoft.com/office/powerpoint/2010/main" val="8341037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9847D9B-8894-43E6-9DFE-FC475F73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计划、执行和评价的责任分离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D40BDB5-8902-4522-A68D-76A5AA6C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可以是不同步骤，也可以由不同 Agent 承担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9B3668-50D1-4E44-9314-79E1C0CC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85ABDCE-3EDC-43A8-BEEA-975AE329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7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计划者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64AFFC4-1A59-4CC6-930B-8AA6ADAA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3782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定义任务范围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形成验收条件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列出证据需求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FFB86F3-4FE5-4011-B8BB-CDC0923E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152650"/>
            <a:ext cx="337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8D79B2-F003-46B0-B9E5-EA34BFFC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962275"/>
            <a:ext cx="33782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读取当前代码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实现本轮变更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提供验证材料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EF8CDAC-0774-4072-AE1D-353732AC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152650"/>
            <a:ext cx="337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评价者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ABB7137-8246-40C9-AFA2-27252F58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962275"/>
            <a:ext cx="33782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检查验收覆盖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审视证据与反例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指出未验证项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3A2F27F-8DDC-4DBF-BC19-5A10EF98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独立评价减少同一视角的遗漏，可靠门禁仍依赖真实证据</a:t>
            </a:r>
          </a:p>
        </p:txBody>
      </p:sp>
    </p:spTree>
    <p:extLst>
      <p:ext uri="{BB962C8B-B14F-4D97-AF65-F5344CB8AC3E}">
        <p14:creationId xmlns:p14="http://schemas.microsoft.com/office/powerpoint/2010/main" val="9466711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640C62E-F34A-4FC2-AAA2-FD0ED76F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教学案例：FreeRTOS 串口接收异常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8EEE9E-D17D-4E2A-B5EC-0C42A507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假设任务：高负载下出现序号缺口，需要分析 UART DMA 接收链路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79E07BF-C2F9-4DFD-BDA7-C934C39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C58EAC-4559-4799-9DAB-3D569F4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先确定边界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1F5196C-81EA-405A-90BF-3A9DCFFE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768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复现输入与负载条件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板卡和固件版本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缺口发生在哪个处理阶段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哪些行为必须保持兼容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5398C01-6E96-427F-9255-AB50560F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再确定验收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40761AC-81F6-4DEB-8E72-970F6634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52768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保留能触发问题的输入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覆盖缓冲区边界用例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主机与板端验证分别记录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缺少硬件时列出未验证项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37C1939-92EE-4DC2-8281-71DA1665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本例是流程演示；序号缺口不等于已经证明某个驱动缺陷</a:t>
            </a:r>
          </a:p>
        </p:txBody>
      </p:sp>
    </p:spTree>
    <p:extLst>
      <p:ext uri="{BB962C8B-B14F-4D97-AF65-F5344CB8AC3E}">
        <p14:creationId xmlns:p14="http://schemas.microsoft.com/office/powerpoint/2010/main" val="17287940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D431888-C98B-428A-ADF9-881EE31B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把怀疑点转成可证伪的检查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38B269-5D12-47BA-8CCD-86484F97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以下均为待验证假设，不是已经确认的原因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AD08778-2DFD-4CF7-9EF2-C72D5119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9850"/>
                <a:gridCol w="4305300"/>
                <a:gridCol w="4057650"/>
              </a:tblGrid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怀疑点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需要观察的证据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验证动作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缓冲区边界处理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读写位置、长度、回绕输入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主机回放空 / 满 / 跨边界用例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任务消费不及时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积压量、调度延迟、处理耗时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板端重放并采集相关时间线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DMA / ISR 协作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状态转换、事件顺序、错误计数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依据具体平台检查并测量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解析阶段遗漏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原始字节流与解析输出差异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保留同一输入做分段对照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1446988-E82E-424A-AD9E-B88B1B0F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每次只验证一个关键假设，再决定是否修改代码</a:t>
            </a:r>
          </a:p>
        </p:txBody>
      </p:sp>
    </p:spTree>
    <p:extLst>
      <p:ext uri="{BB962C8B-B14F-4D97-AF65-F5344CB8AC3E}">
        <p14:creationId xmlns:p14="http://schemas.microsoft.com/office/powerpoint/2010/main" val="2551720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04DA5C3D-66E0-4680-8D7F-3B374E02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主循环伪代码：有预算，也有证据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78EA9A-BFEE-476B-BC71-41231B07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示意控制逻辑；helper 的契约由实际工程实现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83F99FF-F2CF-46D7-B7B3-FCB40BD7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FBF5A-F075-4973-9B4F-C7E96529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# 恢复进度；校验代码快照、环境和已有证据是否匹配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4C3B94A-1CF1-4345-A3D2-E7BDCA60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state = restore_and_check(task)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E930D6F-7256-46DC-93AD-845E041D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# 计划、执行、验证共享限额；调用封装强制超时和权限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58A02FB-B207-4F0C-8C32-43323BB0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while budget.remaining() and not state.stalled: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7759806-3E9E-4644-B2BD-2E5FEA03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    plan = plan_one_step(task, state)  # 只处理当前小目标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64CA436-4EC9-4DBE-9D52-6C634E7F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    run = execute_bounded(plan)       # 执行后记录退出码和日志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D94BFCC-C785-4634-BD37-FA38E312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    evidence = verify_required(task, run)  # 按全任务验收清单验证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37F9716-14E7-4586-9660-6EA7819A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    state = decide_next(state, evidence, budget)  # 更新状态和原因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970C152-70E1-42F3-94AE-D55AD640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    save_atomic(state, evidence)         # 保存证据、新状态和下一步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8218747-041D-4135-961A-452EC246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    if state.terminal: return state.status  # 保存成功后才允许退出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C4D2A51-5189-4357-BE22-A055F33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# 预算耗尽或停滞时，同样保存终止原因和未完成项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DE404E5-C8C2-4636-80F1-D9C412F2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state = finish_failed(state, budget)  # 保留已有结果与失败原因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BFBC75B-3001-4B5D-BC8D-59117A5F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save_atomic(state); return state.status  # 持久化最终状态</a:t>
            </a:r>
          </a:p>
        </p:txBody>
      </p:sp>
    </p:spTree>
    <p:extLst>
      <p:ext uri="{BB962C8B-B14F-4D97-AF65-F5344CB8AC3E}">
        <p14:creationId xmlns:p14="http://schemas.microsoft.com/office/powerpoint/2010/main" val="7861659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0">
            <a:extLst xmlns:a="http://schemas.openxmlformats.org/drawingml/2006/main">
              <a:ext uri="{FF2B5EF4-FFF2-40B4-BE49-F238E27FC236}">
                <a16:creationId xmlns:a16="http://schemas.microsoft.com/office/drawing/2014/main" id="{AB19992B-8CE8-417D-871E-C50FFCBF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验证门禁伪代码：缺少检查不能算通过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1E1D7A-1BE9-4F92-AFB0-A4923BD4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验证规则和证据应独立于 Agent 的口头结论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1D6889-C76A-43CA-B8D5-700310BE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9B24ACB-ED45-4797-ACA3-4A913E1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# 拒绝空验收清单，避免“什么也没检查”却得到通过结果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B8BAD69-84C9-42AC-9A8C-319640BC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if required_checks.is_empty(): return INVALID_CONTRACT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5C1EF11-93B7-4604-AF4D-F46827F9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# 固定代码与工具链，独占设备配置；检查范围贯穿整个验证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4B519D1-4AEB-42AD-B4D1-F71B256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557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scope = pin_inputs_and_lease_device()  # 获取稳定的验证范围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50CF68F-D20A-4684-9E9F-446F403B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key = scope.fingerprint                # 证据绑定该范围的标识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3745FFD-9226-4E31-A7EC-A49805BF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for check in required_checks: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AF824CF-3583-472C-813C-AC49092F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    if not check.available(): return BLOCKED  # 明确缺少什么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530A427-4F12-498F-9068-05AF6B04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    result = check.run(scope, timeout=check.limit)  # 限时执行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720213A-6ECB-460A-9986-2E3343BF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    persist(key, check.id, result)            # 保存原始证据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1E377EF-59FA-4932-BEB2-506C654C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    if result.error: return classify(result) # 区分代码和环境失败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8152A17-2D80-407B-A814-06F7AE6D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if not scope.unchanged(): return STALE  # 运行中变化使证据失效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B337067-C21F-44F6-813A-CB2D0A99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# 所有必需项必须已执行、通过，而且属于这个固定范围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EC6812F-CFE1-47D2-8EC2-0844B829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return PASSED if all_valid(key, required_checks) else FAILED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3A4CCA57-BF12-421F-83CD-032CF77F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改了代码就复核证据有效性；必要时重跑受影响的验证</a:t>
            </a:r>
          </a:p>
        </p:txBody>
      </p:sp>
    </p:spTree>
    <p:extLst>
      <p:ext uri="{BB962C8B-B14F-4D97-AF65-F5344CB8AC3E}">
        <p14:creationId xmlns:p14="http://schemas.microsoft.com/office/powerpoint/2010/main" val="3222351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596F2F8-128C-4A61-B7CE-EFE40A82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退出状态与失败处理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E6E8253-BFC6-41FE-85F6-3FD276AC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失败信息决定下一步动作，重复次数不代表取得进展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0BBBAF0-9727-4EC0-A653-7EAB6673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686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8425"/>
                <a:gridCol w="4562475"/>
                <a:gridCol w="3771900"/>
              </a:tblGrid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 / 情况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判定依据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处理动作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completed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当前版本满足所有必需验收项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交付变更与证据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blocked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缺少权限、依赖或必要硬件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保存现场，列明解除条件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可重试失败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明确的暂时性工具 / 环境故障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在预算内有限重试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failed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不可恢复错误、预算耗尽或停滞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停止本轮，报告失败和剩余项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F4D19AE-D1BB-49DC-95A3-87C8B6E6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无进展检测应结合失败原因与产物变化，不能只数循环轮次</a:t>
            </a:r>
          </a:p>
        </p:txBody>
      </p:sp>
    </p:spTree>
    <p:extLst>
      <p:ext uri="{BB962C8B-B14F-4D97-AF65-F5344CB8AC3E}">
        <p14:creationId xmlns:p14="http://schemas.microsoft.com/office/powerpoint/2010/main" val="14666429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4EA9CEA-4C62-4BDC-969C-42360D3E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成本看每个验收变更，而不只看调用次数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FA9A04-35CD-43C8-99DE-CBAA3411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在相同任务集和相同验收口径下比较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EF76C94-9785-45D0-93AE-BCDF7CC6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02EB59D-EEC9-462A-81FE-C6A7BDB0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单位验收成本 = 总运行成本 ÷ 验收通过数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286125"/>
          <a:ext xmlns:a="http://schemas.openxmlformats.org/drawingml/2006/main" cx="109728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81275"/>
                <a:gridCol w="3400425"/>
                <a:gridCol w="2343150"/>
                <a:gridCol w="2647950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演示配置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总成本（任意单位）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验收通过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单位验收成本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FA6EE94-4506-49E4-A2B8-D054F095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示例数字仅演示计算；通过数为 0 时，单位成本没有有限值</a:t>
            </a:r>
          </a:p>
        </p:txBody>
      </p:sp>
    </p:spTree>
    <p:extLst>
      <p:ext uri="{BB962C8B-B14F-4D97-AF65-F5344CB8AC3E}">
        <p14:creationId xmlns:p14="http://schemas.microsoft.com/office/powerpoint/2010/main" val="11399890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807AA171-E9D5-4A23-A05A-8990AAC1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Harness 需要随任务与模型重新评估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3B7FB74-44AF-4336-9DA1-AF46B315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每个额外组件都应能说明：它减少了哪类失败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A611214-6A61-4475-8B1F-A4CA3218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F35B171-9177-4A46-A86F-469BF4A6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保留有效机制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DD762BD-459A-4556-A540-5D56CD27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52768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固定代表性任务集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记录质量、耗时和成本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定位真实失败类型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保留有测量收益的组件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BD9B442-7605-412E-986D-E9432FC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移除过时负担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DA2D757-EF6C-4C91-87B8-15C9D028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62275"/>
            <a:ext cx="52768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一次只关闭一个可选组件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保持验收条件一致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观察回归与异常路径</a:t>
            </a:r>
          </a:p>
          <a:p xmlns:a="http://schemas.openxmlformats.org/drawingml/2006/main">
            <a:pPr>
              <a:def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记录保留或移除的理由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2663F36-AFD6-4E09-A8AB-9D87A40D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86F"/>
                </a:solidFill>
                <a:latin typeface="Microsoft YaHei"/>
                <a:ea typeface="Microsoft YaHei"/>
                <a:cs typeface="Microsoft YaHei"/>
              </a:rPr>
              <a:t>可以精简流程；权限边界和必需验收仍按任务风险保留</a:t>
            </a:r>
          </a:p>
        </p:txBody>
      </p:sp>
    </p:spTree>
    <p:extLst>
      <p:ext uri="{BB962C8B-B14F-4D97-AF65-F5344CB8AC3E}">
        <p14:creationId xmlns:p14="http://schemas.microsoft.com/office/powerpoint/2010/main" val="6058619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7E445F46-9E42-47F0-AEF3-0E8EF76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32E"/>
                </a:solidFill>
                <a:latin typeface="Microsoft YaHei"/>
                <a:ea typeface="Microsoft YaHei"/>
                <a:cs typeface="Microsoft YaHei"/>
              </a:rPr>
              <a:t>一个可执行的落地顺序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0976818-91EA-4B12-BC5D-9EB68351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先让一个边界明确的任务稳定运行，再扩大范围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C36F73-2A0F-42B7-AB8C-98D02C6F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4772025"/>
                <a:gridCol w="4038600"/>
              </a:tblGrid>
              <a:tr h="654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进入下一阶段的条件</a:t>
                      </a:r>
                    </a:p>
                  </a:txBody>
                  <a:tcPr marL="152400" marR="152400" marT="85725" marB="85725" anchor="ctr">
                    <a:solidFill>
                      <a:srgbClr val="10232E"/>
                    </a:solidFill>
                  </a:tcPr>
                </a:tc>
              </a:tr>
              <a:tr h="654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定义任务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范围、基线、验收与约束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能明确判断任务是否完成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654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打通验证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可运行检查和证据记录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失败会被识别并给出原因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654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接入执行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最小工具集、权限、预算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受控环境中完成一次闭环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  <a:tr h="654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支持恢复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状态文件、快照、退出原因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中断后可正确继续</a:t>
                      </a:r>
                    </a:p>
                  </a:txBody>
                  <a:tcPr marL="152400" marR="152400" marT="85725" marB="85725" anchor="ctr">
                    <a:solidFill>
                      <a:srgbClr val="E8EEE8"/>
                    </a:solidFill>
                  </a:tcPr>
                </a:tc>
              </a:tr>
              <a:tr h="654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持续评估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代表性任务集与成本指标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3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新增复杂度有可测量收益</a:t>
                      </a:r>
                    </a:p>
                  </a:txBody>
                  <a:tcPr marL="152400" marR="152400" marT="85725" marB="85725" anchor="ctr"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9921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9B4DAF4A-7DCE-4B7F-85C5-26C3DF28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分享后的三个检查点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4BC7FF4-EAC8-464F-83D6-09026C31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用下一次实际任务检验自己的 Harness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3BA561-20BD-4573-B3B8-9AC19CA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674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CDCF5EC-B324-405C-A265-9184443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717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01  它知道哪些信息是当前可信的？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775561-F52C-4962-82C4-D2FBC1C4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194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02  什么证据可以推翻它的结论？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FBCA9BE-8CCC-412F-996E-4E0E9959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6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7F4EC"/>
                </a:solidFill>
                <a:latin typeface="Microsoft YaHei"/>
                <a:ea typeface="Microsoft YaHei"/>
                <a:cs typeface="Microsoft YaHei"/>
              </a:rPr>
              <a:t>03  中断、失败或耗尽预算后怎么退出？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679B958-F99A-4CC2-8A79-0DDEE352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1D4C3"/>
                </a:solidFill>
                <a:latin typeface="Microsoft YaHei"/>
                <a:ea typeface="Microsoft YaHei"/>
                <a:cs typeface="Microsoft YaHei"/>
              </a:rPr>
              <a:t>把答案落实为工件、工具和验证规则</a:t>
            </a:r>
          </a:p>
        </p:txBody>
      </p:sp>
    </p:spTree>
    <p:extLst>
      <p:ext uri="{BB962C8B-B14F-4D97-AF65-F5344CB8AC3E}">
        <p14:creationId xmlns:p14="http://schemas.microsoft.com/office/powerpoint/2010/main" val="457493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2026-09-08T06:57:55.6280000Z</dcterms:created>
  <dcterms:modified xsi:type="dcterms:W3CDTF">2026-09-08T06:57:55.6280000Z</dcterms:modified>
</coreProperties>
</file>