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781b3cd94947b7" /><Relationship Type="http://schemas.openxmlformats.org/officeDocument/2006/relationships/extended-properties" Target="/docProps/app.xml" Id="R3dc34022e5bb4389" /><Relationship Type="http://schemas.openxmlformats.org/officeDocument/2006/relationships/officeDocument" Target="/ppt/presentation.xml" Id="Rccda01e3beb241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4d4f6030834fa6"/>
  </p:sldMasterIdLst>
  <p:notesMasterIdLst>
    <p:notesMasterId xmlns:r="http://schemas.openxmlformats.org/officeDocument/2006/relationships" r:id="R4c7f29e76b5e4955"/>
  </p:notesMasterIdLst>
  <p:sldIdLst>
    <p:sldId xmlns:r="http://schemas.openxmlformats.org/officeDocument/2006/relationships" id="256" r:id="R782cafbc89aa4d2c"/>
    <p:sldId xmlns:r="http://schemas.openxmlformats.org/officeDocument/2006/relationships" id="257" r:id="R79060b25113d4ee9"/>
    <p:sldId xmlns:r="http://schemas.openxmlformats.org/officeDocument/2006/relationships" id="258" r:id="Rac9ae382e06243d1"/>
    <p:sldId xmlns:r="http://schemas.openxmlformats.org/officeDocument/2006/relationships" id="259" r:id="R9b32ab7505cb4110"/>
    <p:sldId xmlns:r="http://schemas.openxmlformats.org/officeDocument/2006/relationships" id="260" r:id="R8ec0328386c84922"/>
    <p:sldId xmlns:r="http://schemas.openxmlformats.org/officeDocument/2006/relationships" id="261" r:id="Rb5a65983fd8046cf"/>
    <p:sldId xmlns:r="http://schemas.openxmlformats.org/officeDocument/2006/relationships" id="262" r:id="R0fb8e629f9dc4762"/>
    <p:sldId xmlns:r="http://schemas.openxmlformats.org/officeDocument/2006/relationships" id="263" r:id="R89258badaaf54713"/>
    <p:sldId xmlns:r="http://schemas.openxmlformats.org/officeDocument/2006/relationships" id="264" r:id="R353c5852f1054d56"/>
    <p:sldId xmlns:r="http://schemas.openxmlformats.org/officeDocument/2006/relationships" id="265" r:id="R835cd20b0e024ec5"/>
    <p:sldId xmlns:r="http://schemas.openxmlformats.org/officeDocument/2006/relationships" id="266" r:id="R9b53ecf494fa478f"/>
    <p:sldId xmlns:r="http://schemas.openxmlformats.org/officeDocument/2006/relationships" id="267" r:id="R21f78130a5a448d3"/>
    <p:sldId xmlns:r="http://schemas.openxmlformats.org/officeDocument/2006/relationships" id="268" r:id="R48de3b3e95014b0f"/>
    <p:sldId xmlns:r="http://schemas.openxmlformats.org/officeDocument/2006/relationships" id="269" r:id="R1e67af74394d4ac8"/>
    <p:sldId xmlns:r="http://schemas.openxmlformats.org/officeDocument/2006/relationships" id="270" r:id="R67848b638e5e4462"/>
    <p:sldId xmlns:r="http://schemas.openxmlformats.org/officeDocument/2006/relationships" id="271" r:id="Rebb0c42ff3204b33"/>
    <p:sldId xmlns:r="http://schemas.openxmlformats.org/officeDocument/2006/relationships" id="272" r:id="Re8bd698c8c40449f"/>
    <p:sldId xmlns:r="http://schemas.openxmlformats.org/officeDocument/2006/relationships" id="273" r:id="Ra21fe8f7181f4a32"/>
    <p:sldId xmlns:r="http://schemas.openxmlformats.org/officeDocument/2006/relationships" id="274" r:id="R3757a62bff494ff3"/>
    <p:sldId xmlns:r="http://schemas.openxmlformats.org/officeDocument/2006/relationships" id="275" r:id="Rebec5285dfe74b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930f14d5ef4a80" /><Relationship Type="http://schemas.openxmlformats.org/officeDocument/2006/relationships/slideMaster" Target="/ppt/slideMasters/slideMaster1.xml" Id="R0f4d4f6030834fa6" /><Relationship Type="http://schemas.openxmlformats.org/officeDocument/2006/relationships/notesMaster" Target="/ppt/notesMasters/notesMaster1.xml" Id="R4c7f29e76b5e4955" /><Relationship Type="http://schemas.openxmlformats.org/officeDocument/2006/relationships/presProps" Target="/ppt/presProps.xml" Id="R16979f77d93a4cab" /><Relationship Type="http://schemas.openxmlformats.org/officeDocument/2006/relationships/tableStyles" Target="/ppt/tableStyles.xml" Id="R56bdd18d8d7d44d6" /><Relationship Type="http://schemas.openxmlformats.org/officeDocument/2006/relationships/slide" Target="/ppt/slides/slide1.xml" Id="R782cafbc89aa4d2c" /><Relationship Type="http://schemas.openxmlformats.org/officeDocument/2006/relationships/slide" Target="/ppt/slides/slide2.xml" Id="R79060b25113d4ee9" /><Relationship Type="http://schemas.openxmlformats.org/officeDocument/2006/relationships/slide" Target="/ppt/slides/slide3.xml" Id="Rac9ae382e06243d1" /><Relationship Type="http://schemas.openxmlformats.org/officeDocument/2006/relationships/slide" Target="/ppt/slides/slide4.xml" Id="R9b32ab7505cb4110" /><Relationship Type="http://schemas.openxmlformats.org/officeDocument/2006/relationships/slide" Target="/ppt/slides/slide5.xml" Id="R8ec0328386c84922" /><Relationship Type="http://schemas.openxmlformats.org/officeDocument/2006/relationships/slide" Target="/ppt/slides/slide6.xml" Id="Rb5a65983fd8046cf" /><Relationship Type="http://schemas.openxmlformats.org/officeDocument/2006/relationships/slide" Target="/ppt/slides/slide7.xml" Id="R0fb8e629f9dc4762" /><Relationship Type="http://schemas.openxmlformats.org/officeDocument/2006/relationships/slide" Target="/ppt/slides/slide8.xml" Id="R89258badaaf54713" /><Relationship Type="http://schemas.openxmlformats.org/officeDocument/2006/relationships/slide" Target="/ppt/slides/slide9.xml" Id="R353c5852f1054d56" /><Relationship Type="http://schemas.openxmlformats.org/officeDocument/2006/relationships/slide" Target="/ppt/slides/slide10.xml" Id="R835cd20b0e024ec5" /><Relationship Type="http://schemas.openxmlformats.org/officeDocument/2006/relationships/slide" Target="/ppt/slides/slide11.xml" Id="R9b53ecf494fa478f" /><Relationship Type="http://schemas.openxmlformats.org/officeDocument/2006/relationships/slide" Target="/ppt/slides/slide12.xml" Id="R21f78130a5a448d3" /><Relationship Type="http://schemas.openxmlformats.org/officeDocument/2006/relationships/slide" Target="/ppt/slides/slide13.xml" Id="R48de3b3e95014b0f" /><Relationship Type="http://schemas.openxmlformats.org/officeDocument/2006/relationships/slide" Target="/ppt/slides/slide14.xml" Id="R1e67af74394d4ac8" /><Relationship Type="http://schemas.openxmlformats.org/officeDocument/2006/relationships/slide" Target="/ppt/slides/slide15.xml" Id="R67848b638e5e4462" /><Relationship Type="http://schemas.openxmlformats.org/officeDocument/2006/relationships/slide" Target="/ppt/slides/slide16.xml" Id="Rebb0c42ff3204b33" /><Relationship Type="http://schemas.openxmlformats.org/officeDocument/2006/relationships/slide" Target="/ppt/slides/slide17.xml" Id="Re8bd698c8c40449f" /><Relationship Type="http://schemas.openxmlformats.org/officeDocument/2006/relationships/slide" Target="/ppt/slides/slide18.xml" Id="Ra21fe8f7181f4a32" /><Relationship Type="http://schemas.openxmlformats.org/officeDocument/2006/relationships/slide" Target="/ppt/slides/slide19.xml" Id="R3757a62bff494ff3" /><Relationship Type="http://schemas.openxmlformats.org/officeDocument/2006/relationships/slide" Target="/ppt/slides/slide20.xml" Id="Rebec5285dfe74b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e9f270b7e349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16694107b34312" /><Relationship Type="http://schemas.openxmlformats.org/officeDocument/2006/relationships/notesMaster" Target="/ppt/notesMasters/notesMaster1.xml" Id="R1ccc9390d90a4a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fd9130220b4237" /><Relationship Type="http://schemas.openxmlformats.org/officeDocument/2006/relationships/notesMaster" Target="/ppt/notesMasters/notesMaster1.xml" Id="R4670b619af2841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f8b7500aa74438" /><Relationship Type="http://schemas.openxmlformats.org/officeDocument/2006/relationships/notesMaster" Target="/ppt/notesMasters/notesMaster1.xml" Id="Rd67380a199684b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ef18af216d4434" /><Relationship Type="http://schemas.openxmlformats.org/officeDocument/2006/relationships/notesMaster" Target="/ppt/notesMasters/notesMaster1.xml" Id="R6bd6f6358cdc47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55a65294b14122" /><Relationship Type="http://schemas.openxmlformats.org/officeDocument/2006/relationships/notesMaster" Target="/ppt/notesMasters/notesMaster1.xml" Id="R61038b8782964d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fd45b3faf649a0" /><Relationship Type="http://schemas.openxmlformats.org/officeDocument/2006/relationships/notesMaster" Target="/ppt/notesMasters/notesMaster1.xml" Id="Rbdfe4eeaa2be44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f1822d445a4c48" /><Relationship Type="http://schemas.openxmlformats.org/officeDocument/2006/relationships/notesMaster" Target="/ppt/notesMasters/notesMaster1.xml" Id="R89faabce3cd24a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105591c7a8424e" /><Relationship Type="http://schemas.openxmlformats.org/officeDocument/2006/relationships/notesMaster" Target="/ppt/notesMasters/notesMaster1.xml" Id="R50c512821b4343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7aca55b8b24a5a" /><Relationship Type="http://schemas.openxmlformats.org/officeDocument/2006/relationships/notesMaster" Target="/ppt/notesMasters/notesMaster1.xml" Id="R898b23dadd7547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39352579a047a0" /><Relationship Type="http://schemas.openxmlformats.org/officeDocument/2006/relationships/notesMaster" Target="/ppt/notesMasters/notesMaster1.xml" Id="R9d5f6912d4d24f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b6cac745794eb7" /><Relationship Type="http://schemas.openxmlformats.org/officeDocument/2006/relationships/notesMaster" Target="/ppt/notesMasters/notesMaster1.xml" Id="Rb2132a881c274e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f449164557c42b6" /><Relationship Type="http://schemas.openxmlformats.org/officeDocument/2006/relationships/notesMaster" Target="/ppt/notesMasters/notesMaster1.xml" Id="R14f00f7cec1f455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7921d9345ac434a" /><Relationship Type="http://schemas.openxmlformats.org/officeDocument/2006/relationships/notesMaster" Target="/ppt/notesMasters/notesMaster1.xml" Id="R2edd66bf51fd4f8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83d6c3368734281" /><Relationship Type="http://schemas.openxmlformats.org/officeDocument/2006/relationships/notesMaster" Target="/ppt/notesMasters/notesMaster1.xml" Id="R3c1c9ff8ec9a493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84abad1cc934e32" /><Relationship Type="http://schemas.openxmlformats.org/officeDocument/2006/relationships/notesMaster" Target="/ppt/notesMasters/notesMaster1.xml" Id="Rc59368979e3a4aa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de6f85eb7494934" /><Relationship Type="http://schemas.openxmlformats.org/officeDocument/2006/relationships/notesMaster" Target="/ppt/notesMasters/notesMaster1.xml" Id="R16b33de6a59f40b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bd9c64996e045a3" /><Relationship Type="http://schemas.openxmlformats.org/officeDocument/2006/relationships/notesMaster" Target="/ppt/notesMasters/notesMaster1.xml" Id="R016532d505284e6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1c29e7e221145cd" /><Relationship Type="http://schemas.openxmlformats.org/officeDocument/2006/relationships/notesMaster" Target="/ppt/notesMasters/notesMaster1.xml" Id="R44e846b5b61d47f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df6a526134343a5" /><Relationship Type="http://schemas.openxmlformats.org/officeDocument/2006/relationships/notesMaster" Target="/ppt/notesMasters/notesMaster1.xml" Id="R9896839224bf4d3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7d9e7baca1d4b90" /><Relationship Type="http://schemas.openxmlformats.org/officeDocument/2006/relationships/notesMaster" Target="/ppt/notesMasters/notesMaster1.xml" Id="Re804851e12e347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建议分享时长约 20–25 分钟。先建立闭环概念，再解释验证、状态和停止规则，最后用 UART 协议解析教学案例落地。本文中的协议约束、模拟迭代和成本数字均为教学假设，不代表真实项目测试。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这里讨论的是 AI agent 的任务闭环。人给出目标和约束，系统根据证据决定继续、结束或交还人处理。持续推进可以发生在一次任务内部，并不要求定时调度。循环执行也不保证改进，反馈必须影响下一轮决策。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Discover 先读取当前真实状态，避免根据过期记录工作。Plan 选择最有价值的下一步。Execute 实施有限变更。Verify 对照固定验收规则验证具体产物。Iterate 将发现的问题和已尝试的策略写回状态，再计划下一次动作。成功和阻塞都可以成为本次运行的终点。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Verify 是判断产物是否符合要求的关口。State 保存跨轮次所需的工作记忆，但不会自动训练模型参数。Stop 同时覆盖成功和无法继续的情况。工程上必须保留失败与未知，不能把测试未执行、设备不可用或模型自信当作通过。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复频率用于评估投入是否值得，不是普遍适用的固定周频门槛。对于复杂但一次性的编码任务，短闭环仍可有效，是否值得搭建持续自动化需要另算。验收主观或工具不全时可以保留人工检查，先采用辅助式短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这是一组工程化理解方式，并非互斥产品分类。Prompt 表达一次任务，Context 提供相关信息，Harness 为一次运行提供工具、权限和环境，Loop 管理反馈如何驱动持续运行。Graph 用于表达任务依赖和分支，一张图的某个节点内部可以存在修复闭环。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触发器可以是手动、事件或计划任务。Skill 将稳定方法固化为可复用指令。独立 reviewer 可以降低同一上下文的偏见，但第二个模型仍可能出错，不能取代客观测试。连接器负责访问真实环境，它是否存在与是否被授权执行某动作是两个问题。状态存储是贯穿各构件的持久基础。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模型评分适合发现表达问题、遗漏和潜在风险，属于辅助审查。对软件更可靠的证据来自实际运行的检查。测试通过只覆盖测试定义的范围，不能证明没有其他缺陷。生成代码的 agent 不得为了得到绿灯而删除失败测试或降低既定验收标准。报告还需记录版本、配置、执行时间与工具结果。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状态应小而可恢复。除示例字段外，实际项目还可以记录验收规则版本、预算消耗、环境标识和幂等键。恢复时重新核对仓库与设备状态，不应盲目信任上次日志。保存失败要停止并报告，不能继续制造无法追踪的更改。外部状态帮助模型读取过去经历，并不改变模型参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SUCCESS 只在固定验收的必需项目全部通过且证据有效时使用。BUDGET 达到迭代、时间或花费上限。STALLED 是重复失败且策略或证据未发生有效变化。BLOCKED 包括设备不可用、权限不足、环境故障或检查器未知。进入人工处理时输出已完成事项、当前阻塞、最后证据和建议下一步。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这三页伪代码是接口层设计，非某个产品的命令语法。accept 固定本次验收版本。limits 同时包含最大轮次、总时限和 token 或费用上限。persist_attempt 在外部调用前持久登记轮次，避免崩溃恢复后再次获得同一额度。controlled_cycle 在每次调用前持久预留预算，并传递超时与取消信号。结果处理延续到第三页。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safe_call 是执行框架提供的受控调用：检查预算、保留额度、执行调用、记录实际消耗，并在超时后取消子进程。对拒绝取消的进程需要框架兜底终止。修改在隔离工作区产生；基线失败证据和新产物都需记录。验证器使用冻结的验收规则，输出 PASS、FAIL 或 UNKNOWN 以及实际证据。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此处延续第 11 页 try 块成功后的循环体。accepts 必须检查证据属于当前产物和验收版本、必需测试确实执行且全部通过。no_progress 按具体任务定义，可以联合失败特征、产物差异与策略变化判断。stop_and_save 在原子保存当前状态后输出报告；保存失败会显式报错并停止。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本案例是原创教学假设，未对真实代码或硬件执行测试。协议假设为两字节同步头、一个长度字段、可变载荷和两字节 CRC。实际 CRC 多项式、初值、反射设置、长度含义和最大载荷必须由真实协议规格锁定，不能由模型猜测。ISR 到任务的数据搬运和板端吞吐率属于额外系统验证范围。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第一轮重点是保留不完整帧，不能把所有失败一起改。第二轮在读取载荷或 CRC 前检查长度和缓冲区边界。第三轮修复错误帧后的恢复同步。每轮都重跑分片、粘包和之前已通过的回归用例，防止新修复破坏旧行为。测试数减少也不必然代表进展，需要确认没有删除或弱化用例。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流式解析逻辑可用主机侧用例快速验证，但主机通过不能覆盖中断时序、DMA 缓冲复用、任务同步或实物吞吐。协议字节序、CRC 和缓冲区边界仍要在目标编译环境核对。若没有板卡或测试适配器，任务状态应说明“软件验证通过，板端待验证”，不能把整个硬件任务标记为完成。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表中数字是人为构造的输入 token 教学模型，不是某工具实测。假设五次调用，无缓存或压缩，且只比较输入，不包含输出 token、工具费用、验证机器和人工复核。真实成本还受模型价格、缓存命中率和实际调用次数影响。不能简单认定双 agent 的费用总会翻倍，也不存在统一的验收率盈亏门槛。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复运行本身没有价值。对同一失败持续做同类修改应终止或换策略。对验收规则变化需要单独审查。运行恢复时核对产物哈希避免使用过期结果。多个任务写同一个工作区时要明确串行、隔离或租约。表中是设计建议，需要按任务约束配置，并非某工具的默认行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选择一个边界清楚、反馈便宜的任务，例如固定模块的构建失败分类与修复。先手工验证输入输出完整，再沉淀 Skill。封装循环时补齐验证、预算、状态和异常退出。只有重复运行稳定后才加事件或定时调度。试点指标可记录验收通过比例、每个通过结果成本、人工接手次数及故障原因。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可以用三个问题结束分享：完成凭什么判断，失败之后如何变化，什么时候必须停。请听众选出一个真实候选任务，填写触发条件、输入、工具、验收和退出规则。HTML 配套文档包含分步示意、教学模拟器、完整伪代码和落地清单。不要先扩大 agent 数量或运行时长，应先让一个任务闭环可复查。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a62786096440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e8c5d4bebc4e9d" /><Relationship Type="http://schemas.openxmlformats.org/officeDocument/2006/relationships/slideLayout" Target="/ppt/slideLayouts/slideLayout1.xml" Id="R511a8f63654b44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1a8f63654b44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6c4ae52964947" /><Relationship Type="http://schemas.openxmlformats.org/officeDocument/2006/relationships/image" Target="/ppt/media/image.png" Id="Rf6c255a9a8ac42e4" /><Relationship Type="http://schemas.openxmlformats.org/officeDocument/2006/relationships/notesSlide" Target="/ppt/notesSlides/notesSlide1.xml" Id="Rcff374e435f047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86b906d7648f0" /><Relationship Type="http://schemas.openxmlformats.org/officeDocument/2006/relationships/notesSlide" Target="/ppt/notesSlides/notesSlide2.xml" Id="R23771af0a01742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b909652294d76" /><Relationship Type="http://schemas.openxmlformats.org/officeDocument/2006/relationships/notesSlide" Target="/ppt/notesSlides/notesSlide3.xml" Id="R1b65507979b44a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8893ffda04a85" /><Relationship Type="http://schemas.openxmlformats.org/officeDocument/2006/relationships/notesSlide" Target="/ppt/notesSlides/notesSlide4.xml" Id="Rf898705d296840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668080d57421f" /><Relationship Type="http://schemas.openxmlformats.org/officeDocument/2006/relationships/notesSlide" Target="/ppt/notesSlides/notesSlide5.xml" Id="R349cb38783b04b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450d63d7440dd" /><Relationship Type="http://schemas.openxmlformats.org/officeDocument/2006/relationships/notesSlide" Target="/ppt/notesSlides/notesSlide6.xml" Id="Rce4022080a0649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e5336a8094962" /><Relationship Type="http://schemas.openxmlformats.org/officeDocument/2006/relationships/notesSlide" Target="/ppt/notesSlides/notesSlide7.xml" Id="Re51aa628f81b4d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4af1ad35f4674" /><Relationship Type="http://schemas.openxmlformats.org/officeDocument/2006/relationships/notesSlide" Target="/ppt/notesSlides/notesSlide8.xml" Id="Rd0da8866848948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fb603bdfa4403" /><Relationship Type="http://schemas.openxmlformats.org/officeDocument/2006/relationships/notesSlide" Target="/ppt/notesSlides/notesSlide9.xml" Id="R3ddeb9d1279443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852c882b0442a" /><Relationship Type="http://schemas.openxmlformats.org/officeDocument/2006/relationships/notesSlide" Target="/ppt/notesSlides/notesSlide10.xml" Id="R6022ceac4ff2448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21199530342f3" /><Relationship Type="http://schemas.openxmlformats.org/officeDocument/2006/relationships/notesSlide" Target="/ppt/notesSlides/notesSlide11.xml" Id="Re7725406938d4b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0c541498e43b9" /><Relationship Type="http://schemas.openxmlformats.org/officeDocument/2006/relationships/notesSlide" Target="/ppt/notesSlides/notesSlide12.xml" Id="R5744722ab060441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87c6f5a9e4ba8" /><Relationship Type="http://schemas.openxmlformats.org/officeDocument/2006/relationships/notesSlide" Target="/ppt/notesSlides/notesSlide13.xml" Id="R956fae3e7af94a8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f2c649f3f45c0" /><Relationship Type="http://schemas.openxmlformats.org/officeDocument/2006/relationships/notesSlide" Target="/ppt/notesSlides/notesSlide14.xml" Id="R25befaa94f6d4c0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10cff75e0442a" /><Relationship Type="http://schemas.openxmlformats.org/officeDocument/2006/relationships/notesSlide" Target="/ppt/notesSlides/notesSlide15.xml" Id="R17d1f69c970c4fa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d5f7a1772435e" /><Relationship Type="http://schemas.openxmlformats.org/officeDocument/2006/relationships/notesSlide" Target="/ppt/notesSlides/notesSlide16.xml" Id="Rfd36dc37655d4c6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c376029dc43d7" /><Relationship Type="http://schemas.openxmlformats.org/officeDocument/2006/relationships/notesSlide" Target="/ppt/notesSlides/notesSlide17.xml" Id="R81e72ab36c3249b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f35ad601b4107" /><Relationship Type="http://schemas.openxmlformats.org/officeDocument/2006/relationships/notesSlide" Target="/ppt/notesSlides/notesSlide18.xml" Id="R2c80da9ac366490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6b04652aa40f6" /><Relationship Type="http://schemas.openxmlformats.org/officeDocument/2006/relationships/notesSlide" Target="/ppt/notesSlides/notesSlide19.xml" Id="R5528d9565ba4489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62775c3a449b0" /><Relationship Type="http://schemas.openxmlformats.org/officeDocument/2006/relationships/notesSlide" Target="/ppt/notesSlides/notesSlide20.xml" Id="Re7c0e09744364b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c255a9a8ac42e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-0-Loop">
            <a:extLst xmlns:a="http://schemas.openxmlformats.org/drawingml/2006/main">
              <a:ext uri="{FF2B5EF4-FFF2-40B4-BE49-F238E27FC236}">
                <a16:creationId xmlns:a16="http://schemas.microsoft.com/office/drawing/2014/main" id="{8752D6EA-F663-4253-AEB4-F232B0CF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647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Loop</a:t>
            </a:r>
          </a:p>
        </p:txBody>
      </p:sp>
      <p:sp>
        <p:nvSpPr>
          <p:cNvPr id="3" name="text-1-Engineering">
            <a:extLst xmlns:a="http://schemas.openxmlformats.org/drawingml/2006/main">
              <a:ext uri="{FF2B5EF4-FFF2-40B4-BE49-F238E27FC236}">
                <a16:creationId xmlns:a16="http://schemas.microsoft.com/office/drawing/2014/main" id="{19AF127D-E059-45E0-8DD3-5FC970B5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95575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Engineering</a:t>
            </a:r>
          </a:p>
        </p:txBody>
      </p:sp>
      <p:sp>
        <p:nvSpPr>
          <p:cNvPr id="4" name="text-2-让 AI 围绕目标持续推">
            <a:extLst xmlns:a="http://schemas.openxmlformats.org/drawingml/2006/main">
              <a:ext uri="{FF2B5EF4-FFF2-40B4-BE49-F238E27FC236}">
                <a16:creationId xmlns:a16="http://schemas.microsoft.com/office/drawing/2014/main" id="{BD0527D0-AF9A-4879-BC86-382E29B0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767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让 AI 围绕目标持续推进</a:t>
            </a:r>
          </a:p>
        </p:txBody>
      </p:sp>
      <p:sp>
        <p:nvSpPr>
          <p:cNvPr id="5" name="text-3-工程反馈闭环与嵌入式开发">
            <a:extLst xmlns:a="http://schemas.openxmlformats.org/drawingml/2006/main">
              <a:ext uri="{FF2B5EF4-FFF2-40B4-BE49-F238E27FC236}">
                <a16:creationId xmlns:a16="http://schemas.microsoft.com/office/drawing/2014/main" id="{C64D8F8F-3E99-4AE7-B1E8-1F4B96EB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4345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工程反馈闭环与嵌入式开发实践</a:t>
            </a:r>
          </a:p>
        </p:txBody>
      </p:sp>
    </p:spTree>
    <p:extLst>
      <p:ext uri="{BB962C8B-B14F-4D97-AF65-F5344CB8AC3E}">
        <p14:creationId xmlns:p14="http://schemas.microsoft.com/office/powerpoint/2010/main" val="2704096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-Loop Enginee">
            <a:extLst xmlns:a="http://schemas.openxmlformats.org/drawingml/2006/main">
              <a:ext uri="{FF2B5EF4-FFF2-40B4-BE49-F238E27FC236}">
                <a16:creationId xmlns:a16="http://schemas.microsoft.com/office/drawing/2014/main" id="{223C00FF-7E24-4083-B87E-1EA808D2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Loop Engineering 的工作对象</a:t>
            </a:r>
          </a:p>
        </p:txBody>
      </p:sp>
      <p:sp>
        <p:nvSpPr>
          <p:cNvPr id="2" name="text-1-把目标、反馈与下一步动作">
            <a:extLst xmlns:a="http://schemas.openxmlformats.org/drawingml/2006/main">
              <a:ext uri="{FF2B5EF4-FFF2-40B4-BE49-F238E27FC236}">
                <a16:creationId xmlns:a16="http://schemas.microsoft.com/office/drawing/2014/main" id="{F5777E9E-0BD9-4B7A-92A8-27B26FC3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把目标、反馈与下一步动作组织成可运行的系统</a:t>
            </a:r>
          </a:p>
        </p:txBody>
      </p:sp>
      <p:sp>
        <p:nvSpPr>
          <p:cNvPr id="3" name="text-2-02">
            <a:extLst xmlns:a="http://schemas.openxmlformats.org/drawingml/2006/main">
              <a:ext uri="{FF2B5EF4-FFF2-40B4-BE49-F238E27FC236}">
                <a16:creationId xmlns:a16="http://schemas.microsoft.com/office/drawing/2014/main" id="{62CD35FA-F58F-4C20-9A40-589F838E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text-3-目标 + 执行 + 可检">
            <a:extLst xmlns:a="http://schemas.openxmlformats.org/drawingml/2006/main">
              <a:ext uri="{FF2B5EF4-FFF2-40B4-BE49-F238E27FC236}">
                <a16:creationId xmlns:a16="http://schemas.microsoft.com/office/drawing/2014/main" id="{854DD4CD-5D66-4940-B269-6D59EE31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4787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目标 + 执行 + 可检验反馈 + 下一步决策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3124200"/>
          <a:ext xmlns:a="http://schemas.openxmlformats.org/drawingml/2006/main" cx="10972800" cy="21145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4524375"/>
                <a:gridCol w="4257675"/>
              </a:tblGrid>
              <a:tr h="7048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工作方式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谁推动下一步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如何结束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</a:tr>
              <a:tr h="7048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逐次交互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人阅读结果后再下指令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人判断已经足够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7048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工程闭环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控制器根据反馈选择动作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验收通过或触发退出规则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</a:tbl>
          </a:graphicData>
        </a:graphic>
      </p:graphicFrame>
      <p:sp>
        <p:nvSpPr>
          <p:cNvPr id="6" name="text-4-控制器负责流程，模型负责">
            <a:extLst xmlns:a="http://schemas.openxmlformats.org/drawingml/2006/main">
              <a:ext uri="{FF2B5EF4-FFF2-40B4-BE49-F238E27FC236}">
                <a16:creationId xmlns:a16="http://schemas.microsoft.com/office/drawing/2014/main" id="{5EDABD1B-2E56-41B5-9578-30DB7DF1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6262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控制器负责流程，模型负责候选方案，验证器负责证据。</a:t>
            </a:r>
          </a:p>
        </p:txBody>
      </p:sp>
    </p:spTree>
    <p:extLst>
      <p:ext uri="{BB962C8B-B14F-4D97-AF65-F5344CB8AC3E}">
        <p14:creationId xmlns:p14="http://schemas.microsoft.com/office/powerpoint/2010/main" val="1198850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-一次迭代的五个阶段">
            <a:extLst xmlns:a="http://schemas.openxmlformats.org/drawingml/2006/main">
              <a:ext uri="{FF2B5EF4-FFF2-40B4-BE49-F238E27FC236}">
                <a16:creationId xmlns:a16="http://schemas.microsoft.com/office/drawing/2014/main" id="{903597A2-F0EB-4E3A-BC58-DA1AB16C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一次迭代的五个阶段</a:t>
            </a:r>
          </a:p>
        </p:txBody>
      </p:sp>
      <p:sp>
        <p:nvSpPr>
          <p:cNvPr id="2" name="text-1-失败结果进入下一轮，形成">
            <a:extLst xmlns:a="http://schemas.openxmlformats.org/drawingml/2006/main">
              <a:ext uri="{FF2B5EF4-FFF2-40B4-BE49-F238E27FC236}">
                <a16:creationId xmlns:a16="http://schemas.microsoft.com/office/drawing/2014/main" id="{3875584B-E8F9-41A4-A2A4-D557A4DA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失败结果进入下一轮，形成修正动作</a:t>
            </a:r>
          </a:p>
        </p:txBody>
      </p:sp>
      <p:sp>
        <p:nvSpPr>
          <p:cNvPr id="3" name="text-2-03">
            <a:extLst xmlns:a="http://schemas.openxmlformats.org/drawingml/2006/main">
              <a:ext uri="{FF2B5EF4-FFF2-40B4-BE49-F238E27FC236}">
                <a16:creationId xmlns:a16="http://schemas.microsoft.com/office/drawing/2014/main" id="{E9153317-0989-4423-A9F2-DBB73943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771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71750"/>
                <a:gridCol w="4210050"/>
                <a:gridCol w="4191000"/>
              </a:tblGrid>
              <a:tr h="6286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执行内容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留下什么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</a:tr>
              <a:tr h="6286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  DISCOVER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发现任务与当前失败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基线、输入、待办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286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02  PLAN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选择一个可验证的小步骤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方案与预期变化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286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03  EXECUTE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执行修改或调用工具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候选产物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286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04  VERIFY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对照目标检查结果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 / 失败 / 未知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286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05  ITERATE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记录反馈并决定下一步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继续 / 结束 / 交还人工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57061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-闭环的三个关键约束">
            <a:extLst xmlns:a="http://schemas.openxmlformats.org/drawingml/2006/main">
              <a:ext uri="{FF2B5EF4-FFF2-40B4-BE49-F238E27FC236}">
                <a16:creationId xmlns:a16="http://schemas.microsoft.com/office/drawing/2014/main" id="{22B250F7-3FD3-4AB2-80A1-A7F49461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闭环的三个关键约束</a:t>
            </a:r>
          </a:p>
        </p:txBody>
      </p:sp>
      <p:sp>
        <p:nvSpPr>
          <p:cNvPr id="2" name="text-1-它们决定重复运行能否形成">
            <a:extLst xmlns:a="http://schemas.openxmlformats.org/drawingml/2006/main">
              <a:ext uri="{FF2B5EF4-FFF2-40B4-BE49-F238E27FC236}">
                <a16:creationId xmlns:a16="http://schemas.microsoft.com/office/drawing/2014/main" id="{4AFCF169-C56D-4D43-B241-EEAA65AC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它们决定重复运行能否形成有效进展</a:t>
            </a:r>
          </a:p>
        </p:txBody>
      </p:sp>
      <p:sp>
        <p:nvSpPr>
          <p:cNvPr id="3" name="text-2-04">
            <a:extLst xmlns:a="http://schemas.openxmlformats.org/drawingml/2006/main">
              <a:ext uri="{FF2B5EF4-FFF2-40B4-BE49-F238E27FC236}">
                <a16:creationId xmlns:a16="http://schemas.microsoft.com/office/drawing/2014/main" id="{D2FCFFB3-C3FA-4506-B151-4761D5C0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text-3-01">
            <a:extLst xmlns:a="http://schemas.openxmlformats.org/drawingml/2006/main">
              <a:ext uri="{FF2B5EF4-FFF2-40B4-BE49-F238E27FC236}">
                <a16:creationId xmlns:a16="http://schemas.microsoft.com/office/drawing/2014/main" id="{37CACC71-952D-45C0-AC11-EA021C61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4-Verify：验证">
            <a:extLst xmlns:a="http://schemas.openxmlformats.org/drawingml/2006/main">
              <a:ext uri="{FF2B5EF4-FFF2-40B4-BE49-F238E27FC236}">
                <a16:creationId xmlns:a16="http://schemas.microsoft.com/office/drawing/2014/main" id="{21DDDC9D-6425-4D68-98E5-97CCF212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4312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Verify：验证</a:t>
            </a:r>
          </a:p>
        </p:txBody>
      </p:sp>
      <p:sp>
        <p:nvSpPr>
          <p:cNvPr id="6" name="text-5-哪些证据可以拒绝一个错误">
            <a:extLst xmlns:a="http://schemas.openxmlformats.org/drawingml/2006/main">
              <a:ext uri="{FF2B5EF4-FFF2-40B4-BE49-F238E27FC236}">
                <a16:creationId xmlns:a16="http://schemas.microsoft.com/office/drawing/2014/main" id="{FE1093CA-790E-44BB-8916-5D714B8F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5812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哪些证据可以拒绝一个错误结果？</a:t>
            </a:r>
          </a:p>
        </p:txBody>
      </p:sp>
      <p:sp>
        <p:nvSpPr>
          <p:cNvPr id="7" name="text-6-02">
            <a:extLst xmlns:a="http://schemas.openxmlformats.org/drawingml/2006/main">
              <a:ext uri="{FF2B5EF4-FFF2-40B4-BE49-F238E27FC236}">
                <a16:creationId xmlns:a16="http://schemas.microsoft.com/office/drawing/2014/main" id="{F6CB8EEA-5786-49CB-8C6D-007B7DA6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-7-State：状态">
            <a:extLst xmlns:a="http://schemas.openxmlformats.org/drawingml/2006/main">
              <a:ext uri="{FF2B5EF4-FFF2-40B4-BE49-F238E27FC236}">
                <a16:creationId xmlns:a16="http://schemas.microsoft.com/office/drawing/2014/main" id="{43B29F7B-3E8D-4E88-B446-118BBAD8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956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State：状态</a:t>
            </a:r>
          </a:p>
        </p:txBody>
      </p:sp>
      <p:sp>
        <p:nvSpPr>
          <p:cNvPr id="9" name="text-8-已经尝试什么，失败在哪里">
            <a:extLst xmlns:a="http://schemas.openxmlformats.org/drawingml/2006/main">
              <a:ext uri="{FF2B5EF4-FFF2-40B4-BE49-F238E27FC236}">
                <a16:creationId xmlns:a16="http://schemas.microsoft.com/office/drawing/2014/main" id="{913607E3-D3F9-40A7-B7AF-A79B7623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7338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已经尝试什么，失败在哪里，下一步依据是什么？</a:t>
            </a:r>
          </a:p>
        </p:txBody>
      </p:sp>
      <p:sp>
        <p:nvSpPr>
          <p:cNvPr id="10" name="text-9-03">
            <a:extLst xmlns:a="http://schemas.openxmlformats.org/drawingml/2006/main">
              <a:ext uri="{FF2B5EF4-FFF2-40B4-BE49-F238E27FC236}">
                <a16:creationId xmlns:a16="http://schemas.microsoft.com/office/drawing/2014/main" id="{29A894F2-B86A-4570-8B33-6E7C0682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4817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text-10-Stop：停止">
            <a:extLst xmlns:a="http://schemas.openxmlformats.org/drawingml/2006/main">
              <a:ext uri="{FF2B5EF4-FFF2-40B4-BE49-F238E27FC236}">
                <a16:creationId xmlns:a16="http://schemas.microsoft.com/office/drawing/2014/main" id="{4B9EF4EC-4895-48BB-A771-22BB52C2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4817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Stop：停止</a:t>
            </a:r>
          </a:p>
        </p:txBody>
      </p:sp>
      <p:sp>
        <p:nvSpPr>
          <p:cNvPr id="12" name="text-11-何时成功，何时因预算、阻">
            <a:extLst xmlns:a="http://schemas.openxmlformats.org/drawingml/2006/main">
              <a:ext uri="{FF2B5EF4-FFF2-40B4-BE49-F238E27FC236}">
                <a16:creationId xmlns:a16="http://schemas.microsoft.com/office/drawing/2014/main" id="{54E7E3F3-659A-473C-A062-59C231BE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88632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何时成功，何时因预算、阻塞或无进展而退出？</a:t>
            </a:r>
          </a:p>
        </p:txBody>
      </p:sp>
    </p:spTree>
    <p:extLst>
      <p:ext uri="{BB962C8B-B14F-4D97-AF65-F5344CB8AC3E}">
        <p14:creationId xmlns:p14="http://schemas.microsoft.com/office/powerpoint/2010/main" val="14675054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0-适用性判断">
            <a:extLst xmlns:a="http://schemas.openxmlformats.org/drawingml/2006/main">
              <a:ext uri="{FF2B5EF4-FFF2-40B4-BE49-F238E27FC236}">
                <a16:creationId xmlns:a16="http://schemas.microsoft.com/office/drawing/2014/main" id="{62383742-34BF-4E27-891C-590D1B86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适用性判断</a:t>
            </a:r>
          </a:p>
        </p:txBody>
      </p:sp>
      <p:sp>
        <p:nvSpPr>
          <p:cNvPr id="2" name="text-1-先回答这四个问题，再决定">
            <a:extLst xmlns:a="http://schemas.openxmlformats.org/drawingml/2006/main">
              <a:ext uri="{FF2B5EF4-FFF2-40B4-BE49-F238E27FC236}">
                <a16:creationId xmlns:a16="http://schemas.microsoft.com/office/drawing/2014/main" id="{16A22A98-31EC-4BA5-9A13-99DDCC03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先回答这四个问题，再决定自动化程度</a:t>
            </a:r>
          </a:p>
        </p:txBody>
      </p:sp>
      <p:sp>
        <p:nvSpPr>
          <p:cNvPr id="3" name="text-2-05">
            <a:extLst xmlns:a="http://schemas.openxmlformats.org/drawingml/2006/main">
              <a:ext uri="{FF2B5EF4-FFF2-40B4-BE49-F238E27FC236}">
                <a16:creationId xmlns:a16="http://schemas.microsoft.com/office/drawing/2014/main" id="{B7555BF6-441C-427A-9EE0-9EBDCBC2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text-3-01">
            <a:extLst xmlns:a="http://schemas.openxmlformats.org/drawingml/2006/main">
              <a:ext uri="{FF2B5EF4-FFF2-40B4-BE49-F238E27FC236}">
                <a16:creationId xmlns:a16="http://schemas.microsoft.com/office/drawing/2014/main" id="{887B72FC-7447-4555-A60A-45145035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4-任务是否反复出现？">
            <a:extLst xmlns:a="http://schemas.openxmlformats.org/drawingml/2006/main">
              <a:ext uri="{FF2B5EF4-FFF2-40B4-BE49-F238E27FC236}">
                <a16:creationId xmlns:a16="http://schemas.microsoft.com/office/drawing/2014/main" id="{50DDD1E3-CE85-4BD5-80F0-15CF929D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95262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任务是否反复出现？</a:t>
            </a:r>
          </a:p>
        </p:txBody>
      </p:sp>
      <p:sp>
        <p:nvSpPr>
          <p:cNvPr id="6" name="text-5-有稳定需求，维护闭环的投">
            <a:extLst xmlns:a="http://schemas.openxmlformats.org/drawingml/2006/main">
              <a:ext uri="{FF2B5EF4-FFF2-40B4-BE49-F238E27FC236}">
                <a16:creationId xmlns:a16="http://schemas.microsoft.com/office/drawing/2014/main" id="{ECBC70E2-2E1D-4A45-8040-078DBC3D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3907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有稳定需求，维护闭环的投入才可能得到回报。</a:t>
            </a:r>
          </a:p>
        </p:txBody>
      </p:sp>
      <p:sp>
        <p:nvSpPr>
          <p:cNvPr id="7" name="text-6-02">
            <a:extLst xmlns:a="http://schemas.openxmlformats.org/drawingml/2006/main">
              <a:ext uri="{FF2B5EF4-FFF2-40B4-BE49-F238E27FC236}">
                <a16:creationId xmlns:a16="http://schemas.microsoft.com/office/drawing/2014/main" id="{FD946B22-9E52-4E7B-B6AF-3385B8A2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4322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-7-错误输出能否被自动拒绝？">
            <a:extLst xmlns:a="http://schemas.openxmlformats.org/drawingml/2006/main">
              <a:ext uri="{FF2B5EF4-FFF2-40B4-BE49-F238E27FC236}">
                <a16:creationId xmlns:a16="http://schemas.microsoft.com/office/drawing/2014/main" id="{ACB11123-B5A6-40A7-8A04-3BF4A93F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4322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错误输出能否被自动拒绝？</a:t>
            </a:r>
          </a:p>
        </p:txBody>
      </p:sp>
      <p:sp>
        <p:nvSpPr>
          <p:cNvPr id="9" name="text-8-测试、构建、格式规则或业">
            <a:extLst xmlns:a="http://schemas.openxmlformats.org/drawingml/2006/main">
              <a:ext uri="{FF2B5EF4-FFF2-40B4-BE49-F238E27FC236}">
                <a16:creationId xmlns:a16="http://schemas.microsoft.com/office/drawing/2014/main" id="{C2D66B0A-DB2D-46A6-84D0-E63A3B64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3813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测试、构建、格式规则或业务断言能够给出失败。</a:t>
            </a:r>
          </a:p>
        </p:txBody>
      </p:sp>
      <p:sp>
        <p:nvSpPr>
          <p:cNvPr id="10" name="text-9-03">
            <a:extLst xmlns:a="http://schemas.openxmlformats.org/drawingml/2006/main">
              <a:ext uri="{FF2B5EF4-FFF2-40B4-BE49-F238E27FC236}">
                <a16:creationId xmlns:a16="http://schemas.microsoft.com/office/drawing/2014/main" id="{92EABC63-49A7-4512-A4A4-4177B15B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3382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text-10-Agent 是否具备完成">
            <a:extLst xmlns:a="http://schemas.openxmlformats.org/drawingml/2006/main">
              <a:ext uri="{FF2B5EF4-FFF2-40B4-BE49-F238E27FC236}">
                <a16:creationId xmlns:a16="http://schemas.microsoft.com/office/drawing/2014/main" id="{C1DCC90C-CCBF-407C-A49B-E8E40C32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3382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Agent 是否具备完成任务的工具？</a:t>
            </a:r>
          </a:p>
        </p:txBody>
      </p:sp>
      <p:sp>
        <p:nvSpPr>
          <p:cNvPr id="12" name="text-11-代码、构建环境与必要接口">
            <a:extLst xmlns:a="http://schemas.openxmlformats.org/drawingml/2006/main">
              <a:ext uri="{FF2B5EF4-FFF2-40B4-BE49-F238E27FC236}">
                <a16:creationId xmlns:a16="http://schemas.microsoft.com/office/drawing/2014/main" id="{22507416-A975-4356-BCCB-2CD68ABC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3719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代码、构建环境与必要接口实际可用。</a:t>
            </a:r>
          </a:p>
        </p:txBody>
      </p:sp>
      <p:sp>
        <p:nvSpPr>
          <p:cNvPr id="13" name="text-12-04">
            <a:extLst xmlns:a="http://schemas.openxmlformats.org/drawingml/2006/main">
              <a:ext uri="{FF2B5EF4-FFF2-40B4-BE49-F238E27FC236}">
                <a16:creationId xmlns:a16="http://schemas.microsoft.com/office/drawing/2014/main" id="{9583D8AB-6D89-4E38-9DAD-50229330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2442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text-13-完成标准是否足够客观？">
            <a:extLst xmlns:a="http://schemas.openxmlformats.org/drawingml/2006/main">
              <a:ext uri="{FF2B5EF4-FFF2-40B4-BE49-F238E27FC236}">
                <a16:creationId xmlns:a16="http://schemas.microsoft.com/office/drawing/2014/main" id="{8D9DFD58-CA3C-4A3D-B9B2-A1502443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2442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完成标准是否足够客观？</a:t>
            </a:r>
          </a:p>
        </p:txBody>
      </p:sp>
      <p:sp>
        <p:nvSpPr>
          <p:cNvPr id="15" name="text-14-验收条件能够提前写清，并">
            <a:extLst xmlns:a="http://schemas.openxmlformats.org/drawingml/2006/main">
              <a:ext uri="{FF2B5EF4-FFF2-40B4-BE49-F238E27FC236}">
                <a16:creationId xmlns:a16="http://schemas.microsoft.com/office/drawing/2014/main" id="{C53AA9D6-E4AF-4580-9D56-B08B1F21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3625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验收条件能够提前写清，并由他人复查。</a:t>
            </a:r>
          </a:p>
        </p:txBody>
      </p:sp>
    </p:spTree>
    <p:extLst>
      <p:ext uri="{BB962C8B-B14F-4D97-AF65-F5344CB8AC3E}">
        <p14:creationId xmlns:p14="http://schemas.microsoft.com/office/powerpoint/2010/main" val="13025135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-Prompt、Conte">
            <a:extLst xmlns:a="http://schemas.openxmlformats.org/drawingml/2006/main">
              <a:ext uri="{FF2B5EF4-FFF2-40B4-BE49-F238E27FC236}">
                <a16:creationId xmlns:a16="http://schemas.microsoft.com/office/drawing/2014/main" id="{26BF6BAD-1FEE-4228-A189-2B4897AE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Prompt、Context、Harness 与 Loop</a:t>
            </a:r>
          </a:p>
        </p:txBody>
      </p:sp>
      <p:sp>
        <p:nvSpPr>
          <p:cNvPr id="2" name="text-1-它们解决不同层次的问题，">
            <a:extLst xmlns:a="http://schemas.openxmlformats.org/drawingml/2006/main">
              <a:ext uri="{FF2B5EF4-FFF2-40B4-BE49-F238E27FC236}">
                <a16:creationId xmlns:a16="http://schemas.microsoft.com/office/drawing/2014/main" id="{6B74AC83-14F7-4734-947A-5ACD2FB9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它们解决不同层次的问题，可以组合使用</a:t>
            </a:r>
          </a:p>
        </p:txBody>
      </p:sp>
      <p:sp>
        <p:nvSpPr>
          <p:cNvPr id="3" name="text-2-06">
            <a:extLst xmlns:a="http://schemas.openxmlformats.org/drawingml/2006/main">
              <a:ext uri="{FF2B5EF4-FFF2-40B4-BE49-F238E27FC236}">
                <a16:creationId xmlns:a16="http://schemas.microsoft.com/office/drawing/2014/main" id="{BE71186D-1A8A-4B72-8341-6380F1BD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4762500"/>
                <a:gridCol w="4019550"/>
              </a:tblGrid>
              <a:tr h="6667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核心问题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工程落点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</a:tr>
              <a:tr h="6667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Prompt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本次要完成什么？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任务描述与输出要求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667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Context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完成任务需要知道什么？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规格、代码、日志与状态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667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Harness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模型能在什么环境里行动？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工具、权限、隔离与约束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667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Loop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何时继续，如何修正，何时停止？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验证、状态、预算与恢复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</a:tbl>
          </a:graphicData>
        </a:graphic>
      </p:graphicFrame>
      <p:sp>
        <p:nvSpPr>
          <p:cNvPr id="5" name="text-3-Graph 描述任务间的">
            <a:extLst xmlns:a="http://schemas.openxmlformats.org/drawingml/2006/main">
              <a:ext uri="{FF2B5EF4-FFF2-40B4-BE49-F238E27FC236}">
                <a16:creationId xmlns:a16="http://schemas.microsoft.com/office/drawing/2014/main" id="{1F9826E9-7330-4651-A548-A6012D57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5787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Graph 描述任务间的依赖，Loop 描述任务内的反馈迭代。</a:t>
            </a:r>
          </a:p>
        </p:txBody>
      </p:sp>
    </p:spTree>
    <p:extLst>
      <p:ext uri="{BB962C8B-B14F-4D97-AF65-F5344CB8AC3E}">
        <p14:creationId xmlns:p14="http://schemas.microsoft.com/office/powerpoint/2010/main" val="10682002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-闭环系统的五类构件">
            <a:extLst xmlns:a="http://schemas.openxmlformats.org/drawingml/2006/main">
              <a:ext uri="{FF2B5EF4-FFF2-40B4-BE49-F238E27FC236}">
                <a16:creationId xmlns:a16="http://schemas.microsoft.com/office/drawing/2014/main" id="{4CD4F64D-2D32-455B-BD57-47AB8524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闭环系统的五类构件</a:t>
            </a:r>
          </a:p>
        </p:txBody>
      </p:sp>
      <p:sp>
        <p:nvSpPr>
          <p:cNvPr id="2" name="text-1-围绕明确的验证关口连接工">
            <a:extLst xmlns:a="http://schemas.openxmlformats.org/drawingml/2006/main">
              <a:ext uri="{FF2B5EF4-FFF2-40B4-BE49-F238E27FC236}">
                <a16:creationId xmlns:a16="http://schemas.microsoft.com/office/drawing/2014/main" id="{68267EF3-967C-4FDF-A383-45390652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围绕明确的验证关口连接工具与执行者</a:t>
            </a:r>
          </a:p>
        </p:txBody>
      </p:sp>
      <p:sp>
        <p:nvSpPr>
          <p:cNvPr id="3" name="text-2-07">
            <a:extLst xmlns:a="http://schemas.openxmlformats.org/drawingml/2006/main">
              <a:ext uri="{FF2B5EF4-FFF2-40B4-BE49-F238E27FC236}">
                <a16:creationId xmlns:a16="http://schemas.microsoft.com/office/drawing/2014/main" id="{02B42CE1-E9D4-4B37-ACEB-A5A18761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62150"/>
          <a:ext xmlns:a="http://schemas.openxmlformats.org/drawingml/2006/main" cx="10972800" cy="38290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3448050"/>
                <a:gridCol w="4857750"/>
              </a:tblGrid>
              <a:tr h="63817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构件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嵌入式开发中的落点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</a:tr>
              <a:tr h="63817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自动化 / 触发器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决定什么时候启动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CI 失败事件或定时检查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3817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Skill / 规则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复用方法与边界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构建步骤、代码规范、禁止修改区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3817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执行者与检查者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分开实施和复核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生成修复与审查差异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3817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连接器 / 工具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读取和操作真实环境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仓库、构建机、测试适配器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3817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验证器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以证据接受或拒绝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测试结果、静态检查、板端报告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1479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-验证证据与自我评分">
            <a:extLst xmlns:a="http://schemas.openxmlformats.org/drawingml/2006/main">
              <a:ext uri="{FF2B5EF4-FFF2-40B4-BE49-F238E27FC236}">
                <a16:creationId xmlns:a16="http://schemas.microsoft.com/office/drawing/2014/main" id="{35712024-B2AA-4271-96A4-466587D4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验证证据与自我评分</a:t>
            </a:r>
          </a:p>
        </p:txBody>
      </p:sp>
      <p:sp>
        <p:nvSpPr>
          <p:cNvPr id="2" name="text-1-先固定验收规则，再评估具">
            <a:extLst xmlns:a="http://schemas.openxmlformats.org/drawingml/2006/main">
              <a:ext uri="{FF2B5EF4-FFF2-40B4-BE49-F238E27FC236}">
                <a16:creationId xmlns:a16="http://schemas.microsoft.com/office/drawing/2014/main" id="{0E428D97-DE43-4E59-B343-10CD63F9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先固定验收规则，再评估具体产物</a:t>
            </a:r>
          </a:p>
        </p:txBody>
      </p:sp>
      <p:sp>
        <p:nvSpPr>
          <p:cNvPr id="3" name="text-2-08">
            <a:extLst xmlns:a="http://schemas.openxmlformats.org/drawingml/2006/main">
              <a:ext uri="{FF2B5EF4-FFF2-40B4-BE49-F238E27FC236}">
                <a16:creationId xmlns:a16="http://schemas.microsoft.com/office/drawing/2014/main" id="{2D182C31-54F3-4D06-B828-7F0FA1C9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05100"/>
                <a:gridCol w="4162425"/>
                <a:gridCol w="4105275"/>
              </a:tblGrid>
              <a:tr h="64770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检查方式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能说明什么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使用边界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</a:tr>
              <a:tr h="64770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模型自检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给出可能的问题与改进方向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分数不能证明测试通过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4770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独立审查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发现遗漏、边界和设计风险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仍需证据支持结论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4770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外部测试 / 规则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对确定产物执行可复查检查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结论限于已覆盖条件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4770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人工与实物验证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确认系统与现场行为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未执行时必须记录为未知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</a:tbl>
          </a:graphicData>
        </a:graphic>
      </p:graphicFrame>
      <p:sp>
        <p:nvSpPr>
          <p:cNvPr id="5" name="text-3-证据绑定：产物版本 + ">
            <a:extLst xmlns:a="http://schemas.openxmlformats.org/drawingml/2006/main">
              <a:ext uri="{FF2B5EF4-FFF2-40B4-BE49-F238E27FC236}">
                <a16:creationId xmlns:a16="http://schemas.microsoft.com/office/drawing/2014/main" id="{2413D183-4E77-49B9-9813-7E7F0D6D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245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证据绑定：产物版本 + 验收版本 + 测试配置 + 运行结果</a:t>
            </a:r>
          </a:p>
        </p:txBody>
      </p:sp>
    </p:spTree>
    <p:extLst>
      <p:ext uri="{BB962C8B-B14F-4D97-AF65-F5344CB8AC3E}">
        <p14:creationId xmlns:p14="http://schemas.microsoft.com/office/powerpoint/2010/main" val="1441585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0-持久状态与恢复">
            <a:extLst xmlns:a="http://schemas.openxmlformats.org/drawingml/2006/main">
              <a:ext uri="{FF2B5EF4-FFF2-40B4-BE49-F238E27FC236}">
                <a16:creationId xmlns:a16="http://schemas.microsoft.com/office/drawing/2014/main" id="{B4D2FB7E-6EC0-48EB-91E3-101BCCF8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持久状态与恢复</a:t>
            </a:r>
          </a:p>
        </p:txBody>
      </p:sp>
      <p:sp>
        <p:nvSpPr>
          <p:cNvPr id="2" name="text-1-保留决策需要的证据，控制">
            <a:extLst xmlns:a="http://schemas.openxmlformats.org/drawingml/2006/main">
              <a:ext uri="{FF2B5EF4-FFF2-40B4-BE49-F238E27FC236}">
                <a16:creationId xmlns:a16="http://schemas.microsoft.com/office/drawing/2014/main" id="{E127CD0C-4462-4793-9FA4-9104709F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保留决策需要的证据，控制每轮上下文大小</a:t>
            </a:r>
          </a:p>
        </p:txBody>
      </p:sp>
      <p:sp>
        <p:nvSpPr>
          <p:cNvPr id="3" name="text-2-09">
            <a:extLst xmlns:a="http://schemas.openxmlformats.org/drawingml/2006/main">
              <a:ext uri="{FF2B5EF4-FFF2-40B4-BE49-F238E27FC236}">
                <a16:creationId xmlns:a16="http://schemas.microsoft.com/office/drawing/2014/main" id="{88BAB12A-3B3B-4CFC-A69F-7B3D9F3D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text-3-# 状态记录示意：每个字">
            <a:extLst xmlns:a="http://schemas.openxmlformats.org/drawingml/2006/main">
              <a:ext uri="{FF2B5EF4-FFF2-40B4-BE49-F238E27FC236}">
                <a16:creationId xmlns:a16="http://schemas.microsoft.com/office/drawing/2014/main" id="{B5150E8E-C54D-4550-A00A-D4CAAD62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# 状态记录示意：每个字段服务于后续决策</a:t>
            </a:r>
          </a:p>
        </p:txBody>
      </p:sp>
      <p:sp>
        <p:nvSpPr>
          <p:cNvPr id="5" name="text-4-task_id: uar">
            <a:extLst xmlns:a="http://schemas.openxmlformats.org/drawingml/2006/main">
              <a:ext uri="{FF2B5EF4-FFF2-40B4-BE49-F238E27FC236}">
                <a16:creationId xmlns:a16="http://schemas.microsoft.com/office/drawing/2014/main" id="{535B75FD-2AE4-45EB-893C-5849F052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task_id: uart_parser_fix       # 关联同一任务</a:t>
            </a:r>
          </a:p>
        </p:txBody>
      </p:sp>
      <p:sp>
        <p:nvSpPr>
          <p:cNvPr id="6" name="text-5-artifact_id:">
            <a:extLst xmlns:a="http://schemas.openxmlformats.org/drawingml/2006/main">
              <a:ext uri="{FF2B5EF4-FFF2-40B4-BE49-F238E27FC236}">
                <a16:creationId xmlns:a16="http://schemas.microsoft.com/office/drawing/2014/main" id="{75AA315A-D344-41E5-AB9F-2C528839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artifact_id: candidate_hash    # 绑定候选产物版本</a:t>
            </a:r>
          </a:p>
        </p:txBody>
      </p:sp>
      <p:sp>
        <p:nvSpPr>
          <p:cNvPr id="7" name="text-6-acceptance_i">
            <a:extLst xmlns:a="http://schemas.openxmlformats.org/drawingml/2006/main">
              <a:ext uri="{FF2B5EF4-FFF2-40B4-BE49-F238E27FC236}">
                <a16:creationId xmlns:a16="http://schemas.microsoft.com/office/drawing/2014/main" id="{8490F78C-64B3-44C6-BE5E-34DD49D1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08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acceptance_id: locked_spec     # 锁定本次验收规则</a:t>
            </a:r>
          </a:p>
        </p:txBody>
      </p:sp>
      <p:sp>
        <p:nvSpPr>
          <p:cNvPr id="8" name="text-7-attempt: 2  ">
            <a:extLst xmlns:a="http://schemas.openxmlformats.org/drawingml/2006/main">
              <a:ext uri="{FF2B5EF4-FFF2-40B4-BE49-F238E27FC236}">
                <a16:creationId xmlns:a16="http://schemas.microsoft.com/office/drawing/2014/main" id="{27FABEB5-1A58-45DF-B4AC-15144771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attempt: 2                    # 已执行的迭代次数</a:t>
            </a:r>
          </a:p>
        </p:txBody>
      </p:sp>
      <p:sp>
        <p:nvSpPr>
          <p:cNvPr id="9" name="text-8-failed_check">
            <a:extLst xmlns:a="http://schemas.openxmlformats.org/drawingml/2006/main">
              <a:ext uri="{FF2B5EF4-FFF2-40B4-BE49-F238E27FC236}">
                <a16:creationId xmlns:a16="http://schemas.microsoft.com/office/drawing/2014/main" id="{72B72BDE-C2AA-44F9-87A7-0BB0962A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failed_checks: [fragmented]    # 仍未满足的条件</a:t>
            </a:r>
          </a:p>
        </p:txBody>
      </p:sp>
      <p:sp>
        <p:nvSpPr>
          <p:cNvPr id="10" name="text-9-tried: [buff">
            <a:extLst xmlns:a="http://schemas.openxmlformats.org/drawingml/2006/main">
              <a:ext uri="{FF2B5EF4-FFF2-40B4-BE49-F238E27FC236}">
                <a16:creationId xmlns:a16="http://schemas.microsoft.com/office/drawing/2014/main" id="{AD813EC3-71F0-4E45-9F4E-84432A58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tried: [buffer_only]           # 避免重复无效策略</a:t>
            </a:r>
          </a:p>
        </p:txBody>
      </p:sp>
      <p:sp>
        <p:nvSpPr>
          <p:cNvPr id="11" name="text-10-next_step: p">
            <a:extLst xmlns:a="http://schemas.openxmlformats.org/drawingml/2006/main">
              <a:ext uri="{FF2B5EF4-FFF2-40B4-BE49-F238E27FC236}">
                <a16:creationId xmlns:a16="http://schemas.microsoft.com/office/drawing/2014/main" id="{23C11826-B86B-487E-8869-19409E93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next_step: preserve_tail       # 下一轮的明确入口</a:t>
            </a:r>
          </a:p>
        </p:txBody>
      </p:sp>
      <p:sp>
        <p:nvSpPr>
          <p:cNvPr id="12" name="text-11-evidence_pat">
            <a:extLst xmlns:a="http://schemas.openxmlformats.org/drawingml/2006/main">
              <a:ext uri="{FF2B5EF4-FFF2-40B4-BE49-F238E27FC236}">
                <a16:creationId xmlns:a16="http://schemas.microsoft.com/office/drawing/2014/main" id="{7DFBFB54-8782-4786-B94C-B84668DD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evidence_path: run_02/report   # 原始证据放文件</a:t>
            </a:r>
          </a:p>
        </p:txBody>
      </p:sp>
      <p:sp>
        <p:nvSpPr>
          <p:cNvPr id="13" name="text-12-status: RETR">
            <a:extLst xmlns:a="http://schemas.openxmlformats.org/drawingml/2006/main">
              <a:ext uri="{FF2B5EF4-FFF2-40B4-BE49-F238E27FC236}">
                <a16:creationId xmlns:a16="http://schemas.microsoft.com/office/drawing/2014/main" id="{F424AF17-05A2-479D-B9C6-3AFF23DE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status: RETRY                 # 可恢复的当前状态</a:t>
            </a:r>
          </a:p>
        </p:txBody>
      </p:sp>
      <p:sp>
        <p:nvSpPr>
          <p:cNvPr id="14" name="text-13-每轮只装入任务相关摘要；">
            <a:extLst xmlns:a="http://schemas.openxmlformats.org/drawingml/2006/main">
              <a:ext uri="{FF2B5EF4-FFF2-40B4-BE49-F238E27FC236}">
                <a16:creationId xmlns:a16="http://schemas.microsoft.com/office/drawing/2014/main" id="{21056866-9343-4949-A9A3-780B31D0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每轮只装入任务相关摘要；详细日志按需读取。</a:t>
            </a:r>
          </a:p>
        </p:txBody>
      </p:sp>
    </p:spTree>
    <p:extLst>
      <p:ext uri="{BB962C8B-B14F-4D97-AF65-F5344CB8AC3E}">
        <p14:creationId xmlns:p14="http://schemas.microsoft.com/office/powerpoint/2010/main" val="11220532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-退出条件与人工接手">
            <a:extLst xmlns:a="http://schemas.openxmlformats.org/drawingml/2006/main">
              <a:ext uri="{FF2B5EF4-FFF2-40B4-BE49-F238E27FC236}">
                <a16:creationId xmlns:a16="http://schemas.microsoft.com/office/drawing/2014/main" id="{1434E687-677A-439E-8B31-2B9E1EBD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退出条件与人工接手</a:t>
            </a:r>
          </a:p>
        </p:txBody>
      </p:sp>
      <p:sp>
        <p:nvSpPr>
          <p:cNvPr id="2" name="text-1-停止也是闭环的正常结果">
            <a:extLst xmlns:a="http://schemas.openxmlformats.org/drawingml/2006/main">
              <a:ext uri="{FF2B5EF4-FFF2-40B4-BE49-F238E27FC236}">
                <a16:creationId xmlns:a16="http://schemas.microsoft.com/office/drawing/2014/main" id="{3092B2FB-6022-4212-88EC-D44A63A9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停止也是闭环的正常结果</a:t>
            </a:r>
          </a:p>
        </p:txBody>
      </p:sp>
      <p:sp>
        <p:nvSpPr>
          <p:cNvPr id="3" name="text-2-10">
            <a:extLst xmlns:a="http://schemas.openxmlformats.org/drawingml/2006/main">
              <a:ext uri="{FF2B5EF4-FFF2-40B4-BE49-F238E27FC236}">
                <a16:creationId xmlns:a16="http://schemas.microsoft.com/office/drawing/2014/main" id="{C578C60F-F046-4FB1-9661-E8E58684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066925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81250"/>
                <a:gridCol w="4324350"/>
                <a:gridCol w="4267200"/>
              </a:tblGrid>
              <a:tr h="64770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触发条件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交付内容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</a:tr>
              <a:tr h="64770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SUCCESS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必需验收全部通过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候选产物与复查证据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4770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BUDGET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次数、时长或成本到限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停止点与剩余任务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4770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STALLED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连续无新证据或有效变化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重复失败与已尝试方案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4770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BLOCKED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依赖缺失或结果为未知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阻塞原因与恢复所需条件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</a:tbl>
          </a:graphicData>
        </a:graphic>
      </p:graphicFrame>
      <p:sp>
        <p:nvSpPr>
          <p:cNvPr id="5" name="text-3-无进展看失败特征与产物变">
            <a:extLst xmlns:a="http://schemas.openxmlformats.org/drawingml/2006/main">
              <a:ext uri="{FF2B5EF4-FFF2-40B4-BE49-F238E27FC236}">
                <a16:creationId xmlns:a16="http://schemas.microsoft.com/office/drawing/2014/main" id="{69D06D1A-6FD5-4921-B949-1B28DFD8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007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6BE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6BE69"/>
                </a:solidFill>
                <a:latin typeface="Microsoft YaHei"/>
                <a:ea typeface="Microsoft YaHei"/>
                <a:cs typeface="Microsoft YaHei"/>
              </a:rPr>
              <a:t>无进展看失败特征与产物变化，不能只看模型是否说“有进展”。</a:t>
            </a:r>
          </a:p>
        </p:txBody>
      </p:sp>
    </p:spTree>
    <p:extLst>
      <p:ext uri="{BB962C8B-B14F-4D97-AF65-F5344CB8AC3E}">
        <p14:creationId xmlns:p14="http://schemas.microsoft.com/office/powerpoint/2010/main" val="18636106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0-伪代码：受约束的单次执行">
            <a:extLst xmlns:a="http://schemas.openxmlformats.org/drawingml/2006/main">
              <a:ext uri="{FF2B5EF4-FFF2-40B4-BE49-F238E27FC236}">
                <a16:creationId xmlns:a16="http://schemas.microsoft.com/office/drawing/2014/main" id="{5F01622E-C6E5-4E21-83F8-41C3D460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伪代码：受约束的单次执行</a:t>
            </a:r>
          </a:p>
        </p:txBody>
      </p:sp>
      <p:sp>
        <p:nvSpPr>
          <p:cNvPr id="2" name="text-1-1 / 3  初始化与调">
            <a:extLst xmlns:a="http://schemas.openxmlformats.org/drawingml/2006/main">
              <a:ext uri="{FF2B5EF4-FFF2-40B4-BE49-F238E27FC236}">
                <a16:creationId xmlns:a16="http://schemas.microsoft.com/office/drawing/2014/main" id="{80203A42-71C9-4339-9B63-A37616CD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 / 3  初始化与调用前检查</a:t>
            </a:r>
          </a:p>
        </p:txBody>
      </p:sp>
      <p:sp>
        <p:nvSpPr>
          <p:cNvPr id="3" name="text-2-11">
            <a:extLst xmlns:a="http://schemas.openxmlformats.org/drawingml/2006/main">
              <a:ext uri="{FF2B5EF4-FFF2-40B4-BE49-F238E27FC236}">
                <a16:creationId xmlns:a16="http://schemas.microsoft.com/office/drawing/2014/main" id="{E48FAB71-43D8-4E8F-9555-7EFCA346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text-3-# 先加载记录，再核对当">
            <a:extLst xmlns:a="http://schemas.openxmlformats.org/drawingml/2006/main">
              <a:ext uri="{FF2B5EF4-FFF2-40B4-BE49-F238E27FC236}">
                <a16:creationId xmlns:a16="http://schemas.microsoft.com/office/drawing/2014/main" id="{59BF79FD-38D1-4C42-8928-7B19D420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# 先加载记录，再核对当前仓库与环境</a:t>
            </a:r>
          </a:p>
        </p:txBody>
      </p:sp>
      <p:sp>
        <p:nvSpPr>
          <p:cNvPr id="5" name="text-4-state = load">
            <a:extLst xmlns:a="http://schemas.openxmlformats.org/drawingml/2006/main">
              <a:ext uri="{FF2B5EF4-FFF2-40B4-BE49-F238E27FC236}">
                <a16:creationId xmlns:a16="http://schemas.microsoft.com/office/drawing/2014/main" id="{68D8F6DE-27B4-4F4D-92FB-95F57B87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955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state = load_and_reconcile(task_id)</a:t>
            </a:r>
          </a:p>
        </p:txBody>
      </p:sp>
      <p:sp>
        <p:nvSpPr>
          <p:cNvPr id="6" name="text-5-accept = loc">
            <a:extLst xmlns:a="http://schemas.openxmlformats.org/drawingml/2006/main">
              <a:ext uri="{FF2B5EF4-FFF2-40B4-BE49-F238E27FC236}">
                <a16:creationId xmlns:a16="http://schemas.microsoft.com/office/drawing/2014/main" id="{608926F7-8747-4200-A31B-B7F30B10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accept = lock_acceptance(spec)  # 本次验收不可被执行者降低</a:t>
            </a:r>
          </a:p>
        </p:txBody>
      </p:sp>
      <p:sp>
        <p:nvSpPr>
          <p:cNvPr id="7" name="text-6-for attempt ">
            <a:extLst xmlns:a="http://schemas.openxmlformats.org/drawingml/2006/main">
              <a:ext uri="{FF2B5EF4-FFF2-40B4-BE49-F238E27FC236}">
                <a16:creationId xmlns:a16="http://schemas.microsoft.com/office/drawing/2014/main" id="{4FE1708A-588E-440B-9636-03237F06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for attempt in state.attempt + 1..limits.max_rounds:</a:t>
            </a:r>
          </a:p>
        </p:txBody>
      </p:sp>
      <p:sp>
        <p:nvSpPr>
          <p:cNvPr id="8" name="text-7-    if not b">
            <a:extLst xmlns:a="http://schemas.openxmlformats.org/drawingml/2006/main">
              <a:ext uri="{FF2B5EF4-FFF2-40B4-BE49-F238E27FC236}">
                <a16:creationId xmlns:a16="http://schemas.microsoft.com/office/drawing/2014/main" id="{819BDBBB-DD53-4DD8-A833-83CABFD9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70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if not budget.can_start():  # 调用前检查并预留预算</a:t>
            </a:r>
          </a:p>
        </p:txBody>
      </p:sp>
      <p:sp>
        <p:nvSpPr>
          <p:cNvPr id="9" name="text-8-        retu">
            <a:extLst xmlns:a="http://schemas.openxmlformats.org/drawingml/2006/main">
              <a:ext uri="{FF2B5EF4-FFF2-40B4-BE49-F238E27FC236}">
                <a16:creationId xmlns:a16="http://schemas.microsoft.com/office/drawing/2014/main" id="{DFDB2950-6D5F-4222-9AB6-C4DC65C5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    return stop_and_save(BUDGET, state)</a:t>
            </a:r>
          </a:p>
        </p:txBody>
      </p:sp>
      <p:sp>
        <p:nvSpPr>
          <p:cNvPr id="10" name="text-9-    try:">
            <a:extLst xmlns:a="http://schemas.openxmlformats.org/drawingml/2006/main">
              <a:ext uri="{FF2B5EF4-FFF2-40B4-BE49-F238E27FC236}">
                <a16:creationId xmlns:a16="http://schemas.microsoft.com/office/drawing/2014/main" id="{5B687850-34EE-4FB5-8E5B-3A6E4230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try:</a:t>
            </a:r>
          </a:p>
        </p:txBody>
      </p:sp>
      <p:sp>
        <p:nvSpPr>
          <p:cNvPr id="11" name="text-10-        pers">
            <a:extLst xmlns:a="http://schemas.openxmlformats.org/drawingml/2006/main">
              <a:ext uri="{FF2B5EF4-FFF2-40B4-BE49-F238E27FC236}">
                <a16:creationId xmlns:a16="http://schemas.microsoft.com/office/drawing/2014/main" id="{2B37195F-B4B9-40C8-8ABC-84E14BFA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    persist_attempt(state, attempt)  # 调用前持久登记轮次</a:t>
            </a:r>
          </a:p>
        </p:txBody>
      </p:sp>
      <p:sp>
        <p:nvSpPr>
          <p:cNvPr id="12" name="text-11-        resu">
            <a:extLst xmlns:a="http://schemas.openxmlformats.org/drawingml/2006/main">
              <a:ext uri="{FF2B5EF4-FFF2-40B4-BE49-F238E27FC236}">
                <a16:creationId xmlns:a16="http://schemas.microsoft.com/office/drawing/2014/main" id="{0FDCB202-B82C-459B-9F08-6F1783EB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    result = controlled_cycle(state, accept, limits)</a:t>
            </a:r>
          </a:p>
        </p:txBody>
      </p:sp>
      <p:sp>
        <p:nvSpPr>
          <p:cNvPr id="13" name="text-12-    catch Bu">
            <a:extLst xmlns:a="http://schemas.openxmlformats.org/drawingml/2006/main">
              <a:ext uri="{FF2B5EF4-FFF2-40B4-BE49-F238E27FC236}">
                <a16:creationId xmlns:a16="http://schemas.microsoft.com/office/drawing/2014/main" id="{E3E9DA9C-AE9E-405E-925D-C436AAB5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863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catch BudgetLimit:         # 单次调用也可能触发预算限额</a:t>
            </a:r>
          </a:p>
        </p:txBody>
      </p:sp>
      <p:sp>
        <p:nvSpPr>
          <p:cNvPr id="14" name="text-13-        retu">
            <a:extLst xmlns:a="http://schemas.openxmlformats.org/drawingml/2006/main">
              <a:ext uri="{FF2B5EF4-FFF2-40B4-BE49-F238E27FC236}">
                <a16:creationId xmlns:a16="http://schemas.microsoft.com/office/drawing/2014/main" id="{BBF8CAAD-5401-4A8A-9D70-ABA7A947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    return stop_and_save(BUDGET, state)</a:t>
            </a:r>
          </a:p>
        </p:txBody>
      </p:sp>
      <p:sp>
        <p:nvSpPr>
          <p:cNvPr id="15" name="text-14-    catch er">
            <a:extLst xmlns:a="http://schemas.openxmlformats.org/drawingml/2006/main">
              <a:ext uri="{FF2B5EF4-FFF2-40B4-BE49-F238E27FC236}">
                <a16:creationId xmlns:a16="http://schemas.microsoft.com/office/drawing/2014/main" id="{F5A6B168-FA1C-4510-B578-95B1BED0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340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catch error:</a:t>
            </a:r>
          </a:p>
        </p:txBody>
      </p:sp>
      <p:sp>
        <p:nvSpPr>
          <p:cNvPr id="16" name="text-15-        retu">
            <a:extLst xmlns:a="http://schemas.openxmlformats.org/drawingml/2006/main">
              <a:ext uri="{FF2B5EF4-FFF2-40B4-BE49-F238E27FC236}">
                <a16:creationId xmlns:a16="http://schemas.microsoft.com/office/drawing/2014/main" id="{7A148FD2-400D-4AA8-ABCA-B355F6DD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    return stop_and_save(BLOCKED, state, error)</a:t>
            </a:r>
          </a:p>
        </p:txBody>
      </p:sp>
    </p:spTree>
    <p:extLst>
      <p:ext uri="{BB962C8B-B14F-4D97-AF65-F5344CB8AC3E}">
        <p14:creationId xmlns:p14="http://schemas.microsoft.com/office/powerpoint/2010/main" val="6982773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-伪代码：执行与外部验证">
            <a:extLst xmlns:a="http://schemas.openxmlformats.org/drawingml/2006/main">
              <a:ext uri="{FF2B5EF4-FFF2-40B4-BE49-F238E27FC236}">
                <a16:creationId xmlns:a16="http://schemas.microsoft.com/office/drawing/2014/main" id="{C96718FB-B5FE-4AE5-A006-4996DE7E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伪代码：执行与外部验证</a:t>
            </a:r>
          </a:p>
        </p:txBody>
      </p:sp>
      <p:sp>
        <p:nvSpPr>
          <p:cNvPr id="2" name="text-1-2 / 3  每一步都受">
            <a:extLst xmlns:a="http://schemas.openxmlformats.org/drawingml/2006/main">
              <a:ext uri="{FF2B5EF4-FFF2-40B4-BE49-F238E27FC236}">
                <a16:creationId xmlns:a16="http://schemas.microsoft.com/office/drawing/2014/main" id="{377CA58D-501E-43B1-BF28-F76800CD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2 / 3  每一步都受预算与超时控制</a:t>
            </a:r>
          </a:p>
        </p:txBody>
      </p:sp>
      <p:sp>
        <p:nvSpPr>
          <p:cNvPr id="3" name="text-2-12">
            <a:extLst xmlns:a="http://schemas.openxmlformats.org/drawingml/2006/main">
              <a:ext uri="{FF2B5EF4-FFF2-40B4-BE49-F238E27FC236}">
                <a16:creationId xmlns:a16="http://schemas.microsoft.com/office/drawing/2014/main" id="{F96B6518-C3B1-4E6C-ADDD-078D7899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text-3-function con">
            <a:extLst xmlns:a="http://schemas.openxmlformats.org/drawingml/2006/main">
              <a:ext uri="{FF2B5EF4-FFF2-40B4-BE49-F238E27FC236}">
                <a16:creationId xmlns:a16="http://schemas.microsoft.com/office/drawing/2014/main" id="{F2FA2CD7-5F2B-4183-866F-6C4C99D5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function controlled_cycle(state, accept, limits):</a:t>
            </a:r>
          </a:p>
        </p:txBody>
      </p:sp>
      <p:sp>
        <p:nvSpPr>
          <p:cNvPr id="5" name="text-4-    facts = ">
            <a:extLst xmlns:a="http://schemas.openxmlformats.org/drawingml/2006/main">
              <a:ext uri="{FF2B5EF4-FFF2-40B4-BE49-F238E27FC236}">
                <a16:creationId xmlns:a16="http://schemas.microsoft.com/office/drawing/2014/main" id="{E5085DAE-D1C7-4F97-9B62-F0E7E796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955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facts = safe_call(discover, state)  # 读取真实失败</a:t>
            </a:r>
          </a:p>
        </p:txBody>
      </p:sp>
      <p:sp>
        <p:nvSpPr>
          <p:cNvPr id="6" name="text-5-    plan = s">
            <a:extLst xmlns:a="http://schemas.openxmlformats.org/drawingml/2006/main">
              <a:ext uri="{FF2B5EF4-FFF2-40B4-BE49-F238E27FC236}">
                <a16:creationId xmlns:a16="http://schemas.microsoft.com/office/drawing/2014/main" id="{F4F75D39-89E9-4DC5-B720-10598AF2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plan = safe_call(plan_next, facts)  # 选择一个小改动</a:t>
            </a:r>
          </a:p>
        </p:txBody>
      </p:sp>
      <p:sp>
        <p:nvSpPr>
          <p:cNvPr id="7" name="text-6-    work = s">
            <a:extLst xmlns:a="http://schemas.openxmlformats.org/drawingml/2006/main">
              <a:ext uri="{FF2B5EF4-FFF2-40B4-BE49-F238E27FC236}">
                <a16:creationId xmlns:a16="http://schemas.microsoft.com/office/drawing/2014/main" id="{A47BA440-32BF-4381-9997-8958B5F2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work = safe_call(execute, plan)    # 在隔离区执行</a:t>
            </a:r>
          </a:p>
        </p:txBody>
      </p:sp>
      <p:sp>
        <p:nvSpPr>
          <p:cNvPr id="8" name="text-7-    verdict ">
            <a:extLst xmlns:a="http://schemas.openxmlformats.org/drawingml/2006/main">
              <a:ext uri="{FF2B5EF4-FFF2-40B4-BE49-F238E27FC236}">
                <a16:creationId xmlns:a16="http://schemas.microsoft.com/office/drawing/2014/main" id="{F0506697-6A60-405F-93DF-C5BF28B5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70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verdict = safe_call(verify, work, accept)</a:t>
            </a:r>
          </a:p>
        </p:txBody>
      </p:sp>
      <p:sp>
        <p:nvSpPr>
          <p:cNvPr id="9" name="text-8-    # safe_c">
            <a:extLst xmlns:a="http://schemas.openxmlformats.org/drawingml/2006/main">
              <a:ext uri="{FF2B5EF4-FFF2-40B4-BE49-F238E27FC236}">
                <a16:creationId xmlns:a16="http://schemas.microsoft.com/office/drawing/2014/main" id="{DD9BA01E-FCF9-4C49-A9C6-10817C73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    # safe_call 对每个工具 / 模型调用执行以下约束</a:t>
            </a:r>
          </a:p>
        </p:txBody>
      </p:sp>
      <p:sp>
        <p:nvSpPr>
          <p:cNvPr id="10" name="text-9-    # 调用前持久预">
            <a:extLst xmlns:a="http://schemas.openxmlformats.org/drawingml/2006/main">
              <a:ext uri="{FF2B5EF4-FFF2-40B4-BE49-F238E27FC236}">
                <a16:creationId xmlns:a16="http://schemas.microsoft.com/office/drawing/2014/main" id="{374A488F-F1E2-45C3-BF36-CC9900AB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    # 调用前持久预留预算，设置截止时间，并传递取消信号</a:t>
            </a:r>
          </a:p>
        </p:txBody>
      </p:sp>
      <p:sp>
        <p:nvSpPr>
          <p:cNvPr id="11" name="text-10-    # 调用后登记真">
            <a:extLst xmlns:a="http://schemas.openxmlformats.org/drawingml/2006/main">
              <a:ext uri="{FF2B5EF4-FFF2-40B4-BE49-F238E27FC236}">
                <a16:creationId xmlns:a16="http://schemas.microsoft.com/office/drawing/2014/main" id="{812A5623-9D70-4F9A-8816-07178CA0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    # 调用后登记真实消耗，超时或故障返回异常</a:t>
            </a:r>
          </a:p>
        </p:txBody>
      </p:sp>
      <p:sp>
        <p:nvSpPr>
          <p:cNvPr id="12" name="text-11-    # verify">
            <a:extLst xmlns:a="http://schemas.openxmlformats.org/drawingml/2006/main">
              <a:ext uri="{FF2B5EF4-FFF2-40B4-BE49-F238E27FC236}">
                <a16:creationId xmlns:a16="http://schemas.microsoft.com/office/drawing/2014/main" id="{D557E9C9-FDA3-48E8-8619-D1C85156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    # verify 必须输出通过、失败或未知及对应证据</a:t>
            </a:r>
          </a:p>
        </p:txBody>
      </p:sp>
      <p:sp>
        <p:nvSpPr>
          <p:cNvPr id="13" name="text-12-    return {">
            <a:extLst xmlns:a="http://schemas.openxmlformats.org/drawingml/2006/main">
              <a:ext uri="{FF2B5EF4-FFF2-40B4-BE49-F238E27FC236}">
                <a16:creationId xmlns:a16="http://schemas.microsoft.com/office/drawing/2014/main" id="{1241B48F-3AF4-4DAB-A1C6-BC74761D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863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return {work, verdict}            # 返回可审计结果</a:t>
            </a:r>
          </a:p>
        </p:txBody>
      </p:sp>
    </p:spTree>
    <p:extLst>
      <p:ext uri="{BB962C8B-B14F-4D97-AF65-F5344CB8AC3E}">
        <p14:creationId xmlns:p14="http://schemas.microsoft.com/office/powerpoint/2010/main" val="15210061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0-伪代码：状态与停止决策">
            <a:extLst xmlns:a="http://schemas.openxmlformats.org/drawingml/2006/main">
              <a:ext uri="{FF2B5EF4-FFF2-40B4-BE49-F238E27FC236}">
                <a16:creationId xmlns:a16="http://schemas.microsoft.com/office/drawing/2014/main" id="{17F3BCA2-44BD-4214-9612-D2AB3489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伪代码：状态与停止决策</a:t>
            </a:r>
          </a:p>
        </p:txBody>
      </p:sp>
      <p:sp>
        <p:nvSpPr>
          <p:cNvPr id="2" name="text-1-3 / 3  每种结局都">
            <a:extLst xmlns:a="http://schemas.openxmlformats.org/drawingml/2006/main">
              <a:ext uri="{FF2B5EF4-FFF2-40B4-BE49-F238E27FC236}">
                <a16:creationId xmlns:a16="http://schemas.microsoft.com/office/drawing/2014/main" id="{0ACD8F02-BECD-4720-A905-460DD38C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3 / 3  每种结局都保留恢复入口</a:t>
            </a:r>
          </a:p>
        </p:txBody>
      </p:sp>
      <p:sp>
        <p:nvSpPr>
          <p:cNvPr id="3" name="text-2-13">
            <a:extLst xmlns:a="http://schemas.openxmlformats.org/drawingml/2006/main">
              <a:ext uri="{FF2B5EF4-FFF2-40B4-BE49-F238E27FC236}">
                <a16:creationId xmlns:a16="http://schemas.microsoft.com/office/drawing/2014/main" id="{64BD2A14-2D53-4AAB-BF83-538C5C9E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text-3-    state = ">
            <a:extLst xmlns:a="http://schemas.openxmlformats.org/drawingml/2006/main">
              <a:ext uri="{FF2B5EF4-FFF2-40B4-BE49-F238E27FC236}">
                <a16:creationId xmlns:a16="http://schemas.microsoft.com/office/drawing/2014/main" id="{DB94139B-0772-48DE-9A05-0840BE49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state = merge(state, result, attempt)  # 登记证据与轮次</a:t>
            </a:r>
          </a:p>
        </p:txBody>
      </p:sp>
      <p:sp>
        <p:nvSpPr>
          <p:cNvPr id="5" name="text-4-    atomic_s">
            <a:extLst xmlns:a="http://schemas.openxmlformats.org/drawingml/2006/main">
              <a:ext uri="{FF2B5EF4-FFF2-40B4-BE49-F238E27FC236}">
                <a16:creationId xmlns:a16="http://schemas.microsoft.com/office/drawing/2014/main" id="{19B68803-5986-4379-8797-D24706C8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955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atomic_save(state)                    # 临时文件后替换</a:t>
            </a:r>
          </a:p>
        </p:txBody>
      </p:sp>
      <p:sp>
        <p:nvSpPr>
          <p:cNvPr id="6" name="text-5-    if accep">
            <a:extLst xmlns:a="http://schemas.openxmlformats.org/drawingml/2006/main">
              <a:ext uri="{FF2B5EF4-FFF2-40B4-BE49-F238E27FC236}">
                <a16:creationId xmlns:a16="http://schemas.microsoft.com/office/drawing/2014/main" id="{B1AA841A-78CB-4362-995A-9EDFF0C6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if accepts(result, accept):           # 必需验收全部通过</a:t>
            </a:r>
          </a:p>
        </p:txBody>
      </p:sp>
      <p:sp>
        <p:nvSpPr>
          <p:cNvPr id="7" name="text-6-        retu">
            <a:extLst xmlns:a="http://schemas.openxmlformats.org/drawingml/2006/main">
              <a:ext uri="{FF2B5EF4-FFF2-40B4-BE49-F238E27FC236}">
                <a16:creationId xmlns:a16="http://schemas.microsoft.com/office/drawing/2014/main" id="{7F1D12B7-D705-4D2E-9704-2454DDDA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    return stop_and_save(SUCCESS, state)</a:t>
            </a:r>
          </a:p>
        </p:txBody>
      </p:sp>
      <p:sp>
        <p:nvSpPr>
          <p:cNvPr id="8" name="text-7-    if resul">
            <a:extLst xmlns:a="http://schemas.openxmlformats.org/drawingml/2006/main">
              <a:ext uri="{FF2B5EF4-FFF2-40B4-BE49-F238E27FC236}">
                <a16:creationId xmlns:a16="http://schemas.microsoft.com/office/drawing/2014/main" id="{D3BB2A69-DD76-4E71-9695-BDC1945D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70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if result.verdict == UNKNOWN:         # 未执行不能算通过</a:t>
            </a:r>
          </a:p>
        </p:txBody>
      </p:sp>
      <p:sp>
        <p:nvSpPr>
          <p:cNvPr id="9" name="text-8-        retu">
            <a:extLst xmlns:a="http://schemas.openxmlformats.org/drawingml/2006/main">
              <a:ext uri="{FF2B5EF4-FFF2-40B4-BE49-F238E27FC236}">
                <a16:creationId xmlns:a16="http://schemas.microsoft.com/office/drawing/2014/main" id="{CDD52E62-938F-4F8D-976F-CC577CE7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    return stop_and_save(BLOCKED, state)</a:t>
            </a:r>
          </a:p>
        </p:txBody>
      </p:sp>
      <p:sp>
        <p:nvSpPr>
          <p:cNvPr id="10" name="text-9-    if no_pr">
            <a:extLst xmlns:a="http://schemas.openxmlformats.org/drawingml/2006/main">
              <a:ext uri="{FF2B5EF4-FFF2-40B4-BE49-F238E27FC236}">
                <a16:creationId xmlns:a16="http://schemas.microsoft.com/office/drawing/2014/main" id="{C508ED64-BB76-4380-B49D-0CC629A2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if no_progress(state):                # 相同失败持续出现</a:t>
            </a:r>
          </a:p>
        </p:txBody>
      </p:sp>
      <p:sp>
        <p:nvSpPr>
          <p:cNvPr id="11" name="text-10-        retu">
            <a:extLst xmlns:a="http://schemas.openxmlformats.org/drawingml/2006/main">
              <a:ext uri="{FF2B5EF4-FFF2-40B4-BE49-F238E27FC236}">
                <a16:creationId xmlns:a16="http://schemas.microsoft.com/office/drawing/2014/main" id="{901DB5C0-DC5E-4832-B9E3-0D236412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    return stop_and_save(STALLED, state)</a:t>
            </a:r>
          </a:p>
        </p:txBody>
      </p:sp>
      <p:sp>
        <p:nvSpPr>
          <p:cNvPr id="12" name="text-11-    # 否则把失败证">
            <a:extLst xmlns:a="http://schemas.openxmlformats.org/drawingml/2006/main">
              <a:ext uri="{FF2B5EF4-FFF2-40B4-BE49-F238E27FC236}">
                <a16:creationId xmlns:a16="http://schemas.microsoft.com/office/drawing/2014/main" id="{BA9B2E6E-9BFA-45A9-B996-A261F0A3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    # 否则把失败证据带入下一轮计划</a:t>
            </a:r>
          </a:p>
        </p:txBody>
      </p:sp>
      <p:sp>
        <p:nvSpPr>
          <p:cNvPr id="13" name="text-12-return stop_">
            <a:extLst xmlns:a="http://schemas.openxmlformats.org/drawingml/2006/main">
              <a:ext uri="{FF2B5EF4-FFF2-40B4-BE49-F238E27FC236}">
                <a16:creationId xmlns:a16="http://schemas.microsoft.com/office/drawing/2014/main" id="{AFADFC4D-E993-42B9-9131-E07B9F2B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863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return stop_and_save(BUDGET, state)        # 轮次耗尽也保存</a:t>
            </a:r>
          </a:p>
        </p:txBody>
      </p:sp>
      <p:sp>
        <p:nvSpPr>
          <p:cNvPr id="14" name="text-13-# stop_and_s">
            <a:extLst xmlns:a="http://schemas.openxmlformats.org/drawingml/2006/main">
              <a:ext uri="{FF2B5EF4-FFF2-40B4-BE49-F238E27FC236}">
                <a16:creationId xmlns:a16="http://schemas.microsoft.com/office/drawing/2014/main" id="{91396D14-E9EA-4366-8A2F-544C6FB9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# stop_and_save：原子落盘 + 结果摘要 + 下一步建议</a:t>
            </a:r>
          </a:p>
        </p:txBody>
      </p:sp>
    </p:spTree>
    <p:extLst>
      <p:ext uri="{BB962C8B-B14F-4D97-AF65-F5344CB8AC3E}">
        <p14:creationId xmlns:p14="http://schemas.microsoft.com/office/powerpoint/2010/main" val="17318233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-教学案例：UART 流式">
            <a:extLst xmlns:a="http://schemas.openxmlformats.org/drawingml/2006/main">
              <a:ext uri="{FF2B5EF4-FFF2-40B4-BE49-F238E27FC236}">
                <a16:creationId xmlns:a16="http://schemas.microsoft.com/office/drawing/2014/main" id="{097A2110-DD4B-4F17-A30A-9D02D224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教学案例：UART 流式协议解析</a:t>
            </a:r>
          </a:p>
        </p:txBody>
      </p:sp>
      <p:sp>
        <p:nvSpPr>
          <p:cNvPr id="2" name="text-1-目标：在固定协议规则下正">
            <a:extLst xmlns:a="http://schemas.openxmlformats.org/drawingml/2006/main">
              <a:ext uri="{FF2B5EF4-FFF2-40B4-BE49-F238E27FC236}">
                <a16:creationId xmlns:a16="http://schemas.microsoft.com/office/drawing/2014/main" id="{8B0634F8-066A-40BB-92C4-2035333E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目标：在固定协议规则下正确处理分片与粘包</a:t>
            </a:r>
          </a:p>
        </p:txBody>
      </p:sp>
      <p:sp>
        <p:nvSpPr>
          <p:cNvPr id="3" name="text-2-14">
            <a:extLst xmlns:a="http://schemas.openxmlformats.org/drawingml/2006/main">
              <a:ext uri="{FF2B5EF4-FFF2-40B4-BE49-F238E27FC236}">
                <a16:creationId xmlns:a16="http://schemas.microsoft.com/office/drawing/2014/main" id="{5D832EFC-360A-4ABC-90A7-788FEDDE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06692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8305800"/>
              </a:tblGrid>
              <a:tr h="579438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契约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本次约束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</a:tr>
              <a:tr h="579438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输入格式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字节同步头 + 长度 + 载荷 + 2 字节 CRC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579438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正确行为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分片帧等待后续字节，连续完整帧逐个输出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579438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异常行为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拒绝长度越界与 CRC 错误，按规格恢复同步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579438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完成证据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固定用例通过，构建通过，相关回归无新增失败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579438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修改边界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限定解析模块，保持既有协议与接口不变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</a:tbl>
          </a:graphicData>
        </a:graphic>
      </p:graphicFrame>
      <p:sp>
        <p:nvSpPr>
          <p:cNvPr id="5" name="text-3-教学假设：CRC 参数、">
            <a:extLst xmlns:a="http://schemas.openxmlformats.org/drawingml/2006/main">
              <a:ext uri="{FF2B5EF4-FFF2-40B4-BE49-F238E27FC236}">
                <a16:creationId xmlns:a16="http://schemas.microsoft.com/office/drawing/2014/main" id="{B8D9DA21-4272-4DAA-8EAF-3EDF8E95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38825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6BE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6BE69"/>
                </a:solidFill>
                <a:latin typeface="Microsoft YaHei"/>
                <a:ea typeface="Microsoft YaHei"/>
                <a:cs typeface="Microsoft YaHei"/>
              </a:rPr>
              <a:t>教学假设：CRC 参数、字节序与最大载荷由协议规格锁定。</a:t>
            </a:r>
          </a:p>
        </p:txBody>
      </p:sp>
    </p:spTree>
    <p:extLst>
      <p:ext uri="{BB962C8B-B14F-4D97-AF65-F5344CB8AC3E}">
        <p14:creationId xmlns:p14="http://schemas.microsoft.com/office/powerpoint/2010/main" val="16089261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-教学推演：失败如何推动下">
            <a:extLst xmlns:a="http://schemas.openxmlformats.org/drawingml/2006/main">
              <a:ext uri="{FF2B5EF4-FFF2-40B4-BE49-F238E27FC236}">
                <a16:creationId xmlns:a16="http://schemas.microsoft.com/office/drawing/2014/main" id="{4B67E365-B35A-4CB8-A5F7-D29049F0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教学推演：失败如何推动下一轮</a:t>
            </a:r>
          </a:p>
        </p:txBody>
      </p:sp>
      <p:sp>
        <p:nvSpPr>
          <p:cNvPr id="2" name="text-1-以下是预设场景，展示决策">
            <a:extLst xmlns:a="http://schemas.openxmlformats.org/drawingml/2006/main">
              <a:ext uri="{FF2B5EF4-FFF2-40B4-BE49-F238E27FC236}">
                <a16:creationId xmlns:a16="http://schemas.microsoft.com/office/drawing/2014/main" id="{D79AE532-E862-4805-A62C-C583EFF5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以下是预设场景，展示决策逻辑，不代表实测结果</a:t>
            </a:r>
          </a:p>
        </p:txBody>
      </p:sp>
      <p:sp>
        <p:nvSpPr>
          <p:cNvPr id="3" name="text-2-15">
            <a:extLst xmlns:a="http://schemas.openxmlformats.org/drawingml/2006/main">
              <a:ext uri="{FF2B5EF4-FFF2-40B4-BE49-F238E27FC236}">
                <a16:creationId xmlns:a16="http://schemas.microsoft.com/office/drawing/2014/main" id="{38892BF4-C003-4B38-B1FD-AF0CDE34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228850"/>
          <a:ext xmlns:a="http://schemas.openxmlformats.org/drawingml/2006/main" cx="10972800" cy="2971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952500"/>
                <a:gridCol w="3048000"/>
                <a:gridCol w="3429000"/>
                <a:gridCol w="3543300"/>
              </a:tblGrid>
              <a:tr h="7429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轮次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发现的失败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最小修正方向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下一轮证据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</a:tr>
              <a:tr h="7429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半帧被提前消费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保留未完成帧字节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分片用例结果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7429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异常长度未正确拒绝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先检查长度与缓存边界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长度边界与原有回归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7429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错误帧后无法恢复解析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按规格消费字节并重同步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CRC、恢复与完整回归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</a:tbl>
          </a:graphicData>
        </a:graphic>
      </p:graphicFrame>
      <p:sp>
        <p:nvSpPr>
          <p:cNvPr id="5" name="text-3-每轮输出：代码差异、用例">
            <a:extLst xmlns:a="http://schemas.openxmlformats.org/drawingml/2006/main">
              <a:ext uri="{FF2B5EF4-FFF2-40B4-BE49-F238E27FC236}">
                <a16:creationId xmlns:a16="http://schemas.microsoft.com/office/drawing/2014/main" id="{6ACCA922-40A3-4DF5-AC78-1A798A73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3405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每轮输出：代码差异、用例结果、失败特征与下一步。</a:t>
            </a:r>
          </a:p>
        </p:txBody>
      </p:sp>
    </p:spTree>
    <p:extLst>
      <p:ext uri="{BB962C8B-B14F-4D97-AF65-F5344CB8AC3E}">
        <p14:creationId xmlns:p14="http://schemas.microsoft.com/office/powerpoint/2010/main" val="4367194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-FreeRTOS 与板端">
            <a:extLst xmlns:a="http://schemas.openxmlformats.org/drawingml/2006/main">
              <a:ext uri="{FF2B5EF4-FFF2-40B4-BE49-F238E27FC236}">
                <a16:creationId xmlns:a16="http://schemas.microsoft.com/office/drawing/2014/main" id="{BFE272D4-363D-4E0A-824B-36B7C13D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FreeRTOS 与板端验证边界</a:t>
            </a:r>
          </a:p>
        </p:txBody>
      </p:sp>
      <p:sp>
        <p:nvSpPr>
          <p:cNvPr id="2" name="text-1-主机验证和系统验证覆盖不">
            <a:extLst xmlns:a="http://schemas.openxmlformats.org/drawingml/2006/main">
              <a:ext uri="{FF2B5EF4-FFF2-40B4-BE49-F238E27FC236}">
                <a16:creationId xmlns:a16="http://schemas.microsoft.com/office/drawing/2014/main" id="{4DD278F1-3F9A-46CF-BBB8-65A82AD5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主机验证和系统验证覆盖不同问题</a:t>
            </a:r>
          </a:p>
        </p:txBody>
      </p:sp>
      <p:sp>
        <p:nvSpPr>
          <p:cNvPr id="3" name="text-2-16">
            <a:extLst xmlns:a="http://schemas.openxmlformats.org/drawingml/2006/main">
              <a:ext uri="{FF2B5EF4-FFF2-40B4-BE49-F238E27FC236}">
                <a16:creationId xmlns:a16="http://schemas.microsoft.com/office/drawing/2014/main" id="{A03D2A35-C43C-4584-9093-B9462255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text-3-主机侧可快速闭环">
            <a:extLst xmlns:a="http://schemas.openxmlformats.org/drawingml/2006/main">
              <a:ext uri="{FF2B5EF4-FFF2-40B4-BE49-F238E27FC236}">
                <a16:creationId xmlns:a16="http://schemas.microsoft.com/office/drawing/2014/main" id="{D22EEAFD-82B9-429A-8CB4-AAF55335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主机侧可快速闭环</a:t>
            </a:r>
          </a:p>
        </p:txBody>
      </p:sp>
      <p:sp>
        <p:nvSpPr>
          <p:cNvPr id="5" name="text-4-分片、粘包与非法输入&#10;内">
            <a:extLst xmlns:a="http://schemas.openxmlformats.org/drawingml/2006/main">
              <a:ext uri="{FF2B5EF4-FFF2-40B4-BE49-F238E27FC236}">
                <a16:creationId xmlns:a16="http://schemas.microsoft.com/office/drawing/2014/main" id="{468FA741-3E21-42BA-81C5-C51F8B85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504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分片、粘包与非法输入</a:t>
            </a:r>
          </a:p>
          <a:p xmlns:a="http://schemas.openxmlformats.org/drawingml/2006/main">
            <a:pPr>
              <a:def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内存边界与协议回归</a:t>
            </a:r>
          </a:p>
          <a:p xmlns:a="http://schemas.openxmlformats.org/drawingml/2006/main">
            <a:pPr>
              <a:def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构建与静态检查</a:t>
            </a:r>
          </a:p>
        </p:txBody>
      </p:sp>
      <p:sp>
        <p:nvSpPr>
          <p:cNvPr id="6" name="text-5-板端需补充真实证据">
            <a:extLst xmlns:a="http://schemas.openxmlformats.org/drawingml/2006/main">
              <a:ext uri="{FF2B5EF4-FFF2-40B4-BE49-F238E27FC236}">
                <a16:creationId xmlns:a16="http://schemas.microsoft.com/office/drawing/2014/main" id="{AF745614-E74B-48FB-89CD-F36E7443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3360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6BE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6BE69"/>
                </a:solidFill>
                <a:latin typeface="Microsoft YaHei"/>
                <a:ea typeface="Microsoft YaHei"/>
                <a:cs typeface="Microsoft YaHei"/>
              </a:rPr>
              <a:t>板端需补充真实证据</a:t>
            </a:r>
          </a:p>
        </p:txBody>
      </p:sp>
      <p:sp>
        <p:nvSpPr>
          <p:cNvPr id="7" name="text-6-中断与任务之间的交接&#10;D">
            <a:extLst xmlns:a="http://schemas.openxmlformats.org/drawingml/2006/main">
              <a:ext uri="{FF2B5EF4-FFF2-40B4-BE49-F238E27FC236}">
                <a16:creationId xmlns:a16="http://schemas.microsoft.com/office/drawing/2014/main" id="{EAAE9429-90B2-4863-845C-F1992FAC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95600"/>
            <a:ext cx="504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中断与任务之间的交接</a:t>
            </a:r>
          </a:p>
          <a:p xmlns:a="http://schemas.openxmlformats.org/drawingml/2006/main">
            <a:pPr>
              <a:def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DMA / 缓冲区并发行为</a:t>
            </a:r>
          </a:p>
          <a:p xmlns:a="http://schemas.openxmlformats.org/drawingml/2006/main">
            <a:pPr>
              <a:def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复位恢复、吞吐与时序</a:t>
            </a:r>
          </a:p>
        </p:txBody>
      </p:sp>
      <p:sp>
        <p:nvSpPr>
          <p:cNvPr id="8" name="text-7-设备不可用 → 保存软件">
            <a:extLst xmlns:a="http://schemas.openxmlformats.org/drawingml/2006/main">
              <a:ext uri="{FF2B5EF4-FFF2-40B4-BE49-F238E27FC236}">
                <a16:creationId xmlns:a16="http://schemas.microsoft.com/office/drawing/2014/main" id="{6D247BDB-2278-4998-AE5F-D6FD4B0C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95950"/>
            <a:ext cx="10915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设备不可用 → 保存软件证据与板端待办 → 交还人工恢复条件</a:t>
            </a:r>
          </a:p>
        </p:txBody>
      </p:sp>
    </p:spTree>
    <p:extLst>
      <p:ext uri="{BB962C8B-B14F-4D97-AF65-F5344CB8AC3E}">
        <p14:creationId xmlns:p14="http://schemas.microsoft.com/office/powerpoint/2010/main" val="15747468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-成本来自重复读取与重复尝">
            <a:extLst xmlns:a="http://schemas.openxmlformats.org/drawingml/2006/main">
              <a:ext uri="{FF2B5EF4-FFF2-40B4-BE49-F238E27FC236}">
                <a16:creationId xmlns:a16="http://schemas.microsoft.com/office/drawing/2014/main" id="{2C5C019A-5EEE-485E-8ECB-13F505D1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成本来自重复读取与重复尝试</a:t>
            </a:r>
          </a:p>
        </p:txBody>
      </p:sp>
      <p:sp>
        <p:nvSpPr>
          <p:cNvPr id="2" name="text-1-用每个验收通过结果的总成">
            <a:extLst xmlns:a="http://schemas.openxmlformats.org/drawingml/2006/main">
              <a:ext uri="{FF2B5EF4-FFF2-40B4-BE49-F238E27FC236}">
                <a16:creationId xmlns:a16="http://schemas.microsoft.com/office/drawing/2014/main" id="{93AEC9F1-19AA-44B9-BAD0-253D1C2C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用每个验收通过结果的总成本评估收益</a:t>
            </a:r>
          </a:p>
        </p:txBody>
      </p:sp>
      <p:sp>
        <p:nvSpPr>
          <p:cNvPr id="3" name="text-2-17">
            <a:extLst xmlns:a="http://schemas.openxmlformats.org/drawingml/2006/main">
              <a:ext uri="{FF2B5EF4-FFF2-40B4-BE49-F238E27FC236}">
                <a16:creationId xmlns:a16="http://schemas.microsoft.com/office/drawing/2014/main" id="{E591ECDC-191C-40E6-9CF0-94F77A9F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2152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43250"/>
                <a:gridCol w="5353050"/>
                <a:gridCol w="2476500"/>
              </a:tblGrid>
              <a:tr h="7175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输入上下文策略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1 → 5 次调用，千 token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累计输入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</a:tr>
              <a:tr h="7175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逐轮保留新增历史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/ 12 / 16 / 20 / 24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 千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7175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固定摘要预算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/ 8 / 8 / 8 / 8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 千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</a:tbl>
          </a:graphicData>
        </a:graphic>
      </p:graphicFrame>
      <p:sp>
        <p:nvSpPr>
          <p:cNvPr id="5" name="text-3-教学假设：5 次调用，仅">
            <a:extLst xmlns:a="http://schemas.openxmlformats.org/drawingml/2006/main">
              <a:ext uri="{FF2B5EF4-FFF2-40B4-BE49-F238E27FC236}">
                <a16:creationId xmlns:a16="http://schemas.microsoft.com/office/drawing/2014/main" id="{184E0614-3111-4A40-8FD9-47F35DDC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05325"/>
            <a:ext cx="10915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6BE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6BE69"/>
                </a:solidFill>
                <a:latin typeface="Microsoft YaHei"/>
                <a:ea typeface="Microsoft YaHei"/>
                <a:cs typeface="Microsoft YaHei"/>
              </a:rPr>
              <a:t>教学假设：5 次调用，仅计算输入，不含缓存、输出与工具。</a:t>
            </a:r>
          </a:p>
        </p:txBody>
      </p:sp>
      <p:sp>
        <p:nvSpPr>
          <p:cNvPr id="6" name="text-4-单位验收成本 =（模型 ">
            <a:extLst xmlns:a="http://schemas.openxmlformats.org/drawingml/2006/main">
              <a:ext uri="{FF2B5EF4-FFF2-40B4-BE49-F238E27FC236}">
                <a16:creationId xmlns:a16="http://schemas.microsoft.com/office/drawing/2014/main" id="{6EF174AC-2933-4380-B5B9-A49017A1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05425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单位验收成本 =（模型 + 工具 + 人工复核成本）÷ 验收通过数</a:t>
            </a:r>
          </a:p>
        </p:txBody>
      </p:sp>
    </p:spTree>
    <p:extLst>
      <p:ext uri="{BB962C8B-B14F-4D97-AF65-F5344CB8AC3E}">
        <p14:creationId xmlns:p14="http://schemas.microsoft.com/office/powerpoint/2010/main" val="13262727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-常见失败模式与处理">
            <a:extLst xmlns:a="http://schemas.openxmlformats.org/drawingml/2006/main">
              <a:ext uri="{FF2B5EF4-FFF2-40B4-BE49-F238E27FC236}">
                <a16:creationId xmlns:a16="http://schemas.microsoft.com/office/drawing/2014/main" id="{DB85EE8F-55C8-4EA3-A21E-ED7AB9EC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常见失败模式与处理</a:t>
            </a:r>
          </a:p>
        </p:txBody>
      </p:sp>
      <p:sp>
        <p:nvSpPr>
          <p:cNvPr id="2" name="text-1-把失败原因转成下一步动作">
            <a:extLst xmlns:a="http://schemas.openxmlformats.org/drawingml/2006/main">
              <a:ext uri="{FF2B5EF4-FFF2-40B4-BE49-F238E27FC236}">
                <a16:creationId xmlns:a16="http://schemas.microsoft.com/office/drawing/2014/main" id="{F12569D2-394D-4A6A-8430-4F817A71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把失败原因转成下一步动作</a:t>
            </a:r>
          </a:p>
        </p:txBody>
      </p:sp>
      <p:sp>
        <p:nvSpPr>
          <p:cNvPr id="3" name="text-2-18">
            <a:extLst xmlns:a="http://schemas.openxmlformats.org/drawingml/2006/main">
              <a:ext uri="{FF2B5EF4-FFF2-40B4-BE49-F238E27FC236}">
                <a16:creationId xmlns:a16="http://schemas.microsoft.com/office/drawing/2014/main" id="{D6334476-6591-407C-A56B-7AF95831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81250"/>
                <a:gridCol w="4524375"/>
                <a:gridCol w="4067175"/>
              </a:tblGrid>
              <a:tr h="61912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失败模式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表面现象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处理方式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</a:tr>
              <a:tr h="61912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自证成功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模型说完成，测试没有执行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强制读取外部检查结果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1912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假进展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反复改同一位置，失败未变化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无进展计数与人工升级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1912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验收漂移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删用例、放宽阈值后变绿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固定验收版本并审查变更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1912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状态过期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新产物沿用旧报告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证据绑定版本，恢复时重核对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1912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重复副作用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同一任务重复创建结果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幂等标识、隔离与单任务锁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301456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0-落地顺序">
            <a:extLst xmlns:a="http://schemas.openxmlformats.org/drawingml/2006/main">
              <a:ext uri="{FF2B5EF4-FFF2-40B4-BE49-F238E27FC236}">
                <a16:creationId xmlns:a16="http://schemas.microsoft.com/office/drawing/2014/main" id="{5D91FAF0-85FB-4ED5-89A3-7A3F3C8E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落地顺序</a:t>
            </a:r>
          </a:p>
        </p:txBody>
      </p:sp>
      <p:sp>
        <p:nvSpPr>
          <p:cNvPr id="2" name="text-1-先稳定一个小任务，再把可">
            <a:extLst xmlns:a="http://schemas.openxmlformats.org/drawingml/2006/main">
              <a:ext uri="{FF2B5EF4-FFF2-40B4-BE49-F238E27FC236}">
                <a16:creationId xmlns:a16="http://schemas.microsoft.com/office/drawing/2014/main" id="{76351328-C541-4CD3-A3E4-92D8B5BA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先稳定一个小任务，再把可靠做法固化</a:t>
            </a:r>
          </a:p>
        </p:txBody>
      </p:sp>
      <p:sp>
        <p:nvSpPr>
          <p:cNvPr id="3" name="text-2-19">
            <a:extLst xmlns:a="http://schemas.openxmlformats.org/drawingml/2006/main">
              <a:ext uri="{FF2B5EF4-FFF2-40B4-BE49-F238E27FC236}">
                <a16:creationId xmlns:a16="http://schemas.microsoft.com/office/drawing/2014/main" id="{9D5BF2F6-A0A3-4D22-86AE-90432122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4" name="text-3-01">
            <a:extLst xmlns:a="http://schemas.openxmlformats.org/drawingml/2006/main">
              <a:ext uri="{FF2B5EF4-FFF2-40B4-BE49-F238E27FC236}">
                <a16:creationId xmlns:a16="http://schemas.microsoft.com/office/drawing/2014/main" id="{89FA54DE-723E-410E-9FED-CA3B16E5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4-跑通一次人工流程">
            <a:extLst xmlns:a="http://schemas.openxmlformats.org/drawingml/2006/main">
              <a:ext uri="{FF2B5EF4-FFF2-40B4-BE49-F238E27FC236}">
                <a16:creationId xmlns:a16="http://schemas.microsoft.com/office/drawing/2014/main" id="{36EFAE97-A6AF-44C1-992A-EE424C08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0977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跑通一次人工流程</a:t>
            </a:r>
          </a:p>
        </p:txBody>
      </p:sp>
      <p:sp>
        <p:nvSpPr>
          <p:cNvPr id="6" name="text-5-明确输入、工具、验收和输">
            <a:extLst xmlns:a="http://schemas.openxmlformats.org/drawingml/2006/main">
              <a:ext uri="{FF2B5EF4-FFF2-40B4-BE49-F238E27FC236}">
                <a16:creationId xmlns:a16="http://schemas.microsoft.com/office/drawing/2014/main" id="{8FE80C35-895A-4E23-9620-CB2EC7FB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44792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明确输入、工具、验收和输出证据。</a:t>
            </a:r>
          </a:p>
        </p:txBody>
      </p:sp>
      <p:sp>
        <p:nvSpPr>
          <p:cNvPr id="7" name="text-6-02">
            <a:extLst xmlns:a="http://schemas.openxmlformats.org/drawingml/2006/main">
              <a:ext uri="{FF2B5EF4-FFF2-40B4-BE49-F238E27FC236}">
                <a16:creationId xmlns:a16="http://schemas.microsoft.com/office/drawing/2014/main" id="{03BA7FF5-4326-4EAC-858A-88422E17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9085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-7-固化为 Skill">
            <a:extLst xmlns:a="http://schemas.openxmlformats.org/drawingml/2006/main">
              <a:ext uri="{FF2B5EF4-FFF2-40B4-BE49-F238E27FC236}">
                <a16:creationId xmlns:a16="http://schemas.microsoft.com/office/drawing/2014/main" id="{B26248C8-B1D1-4398-9C8C-52206CEE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908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固化为 Skill</a:t>
            </a:r>
          </a:p>
        </p:txBody>
      </p:sp>
      <p:sp>
        <p:nvSpPr>
          <p:cNvPr id="9" name="text-8-保存步骤、约束和失败处理">
            <a:extLst xmlns:a="http://schemas.openxmlformats.org/drawingml/2006/main">
              <a:ext uri="{FF2B5EF4-FFF2-40B4-BE49-F238E27FC236}">
                <a16:creationId xmlns:a16="http://schemas.microsoft.com/office/drawing/2014/main" id="{425EFD08-63F4-4ED4-94F1-2DC0EE1B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4290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保存步骤、约束和失败处理方法。</a:t>
            </a:r>
          </a:p>
        </p:txBody>
      </p:sp>
      <p:sp>
        <p:nvSpPr>
          <p:cNvPr id="10" name="text-9-03">
            <a:extLst xmlns:a="http://schemas.openxmlformats.org/drawingml/2006/main">
              <a:ext uri="{FF2B5EF4-FFF2-40B4-BE49-F238E27FC236}">
                <a16:creationId xmlns:a16="http://schemas.microsoft.com/office/drawing/2014/main" id="{76A4ED86-B811-40AF-8140-55D0C12A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text-10-加入有限闭环">
            <a:extLst xmlns:a="http://schemas.openxmlformats.org/drawingml/2006/main">
              <a:ext uri="{FF2B5EF4-FFF2-40B4-BE49-F238E27FC236}">
                <a16:creationId xmlns:a16="http://schemas.microsoft.com/office/drawing/2014/main" id="{17E65EC1-8C28-4192-8AB1-1B2E9F69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7192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加入有限闭环</a:t>
            </a:r>
          </a:p>
        </p:txBody>
      </p:sp>
      <p:sp>
        <p:nvSpPr>
          <p:cNvPr id="12" name="text-11-补上验证、状态、预算与人">
            <a:extLst xmlns:a="http://schemas.openxmlformats.org/drawingml/2006/main">
              <a:ext uri="{FF2B5EF4-FFF2-40B4-BE49-F238E27FC236}">
                <a16:creationId xmlns:a16="http://schemas.microsoft.com/office/drawing/2014/main" id="{740D0083-705D-4C87-92D9-9D007FB0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4100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补上验证、状态、预算与人工接手。</a:t>
            </a:r>
          </a:p>
        </p:txBody>
      </p:sp>
      <p:sp>
        <p:nvSpPr>
          <p:cNvPr id="13" name="text-12-04">
            <a:extLst xmlns:a="http://schemas.openxmlformats.org/drawingml/2006/main">
              <a:ext uri="{FF2B5EF4-FFF2-40B4-BE49-F238E27FC236}">
                <a16:creationId xmlns:a16="http://schemas.microsoft.com/office/drawing/2014/main" id="{54A736D5-DB2A-4072-97AE-C0FC824B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text-13-最后接入调度">
            <a:extLst xmlns:a="http://schemas.openxmlformats.org/drawingml/2006/main">
              <a:ext uri="{FF2B5EF4-FFF2-40B4-BE49-F238E27FC236}">
                <a16:creationId xmlns:a16="http://schemas.microsoft.com/office/drawing/2014/main" id="{DCFCF3C8-8662-407B-A60F-9D4AD16C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530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最后接入调度</a:t>
            </a:r>
          </a:p>
        </p:txBody>
      </p:sp>
      <p:sp>
        <p:nvSpPr>
          <p:cNvPr id="15" name="text-14-观察验收成本与失败原因，">
            <a:extLst xmlns:a="http://schemas.openxmlformats.org/drawingml/2006/main">
              <a:ext uri="{FF2B5EF4-FFF2-40B4-BE49-F238E27FC236}">
                <a16:creationId xmlns:a16="http://schemas.microsoft.com/office/drawing/2014/main" id="{28C35DBC-C7E7-44A8-A07A-3B712C03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39115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观察验收成本与失败原因，再扩大范围。</a:t>
            </a:r>
          </a:p>
        </p:txBody>
      </p:sp>
    </p:spTree>
    <p:extLst>
      <p:ext uri="{BB962C8B-B14F-4D97-AF65-F5344CB8AC3E}">
        <p14:creationId xmlns:p14="http://schemas.microsoft.com/office/powerpoint/2010/main" val="18590736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-下一步：选择一个可验证的">
            <a:extLst xmlns:a="http://schemas.openxmlformats.org/drawingml/2006/main">
              <a:ext uri="{FF2B5EF4-FFF2-40B4-BE49-F238E27FC236}">
                <a16:creationId xmlns:a16="http://schemas.microsoft.com/office/drawing/2014/main" id="{65DAA6ED-F88D-449C-9368-FD1B686A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下一步：选择一个可验证的小任务</a:t>
            </a:r>
          </a:p>
        </p:txBody>
      </p:sp>
      <p:sp>
        <p:nvSpPr>
          <p:cNvPr id="2" name="text-1-把闭环规格写清，再让 A">
            <a:extLst xmlns:a="http://schemas.openxmlformats.org/drawingml/2006/main">
              <a:ext uri="{FF2B5EF4-FFF2-40B4-BE49-F238E27FC236}">
                <a16:creationId xmlns:a16="http://schemas.microsoft.com/office/drawing/2014/main" id="{69F0AC85-C868-4F1C-A996-1929FF0A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把闭环规格写清，再让 Agent 开始执行</a:t>
            </a:r>
          </a:p>
        </p:txBody>
      </p:sp>
      <p:sp>
        <p:nvSpPr>
          <p:cNvPr id="3" name="text-2-20">
            <a:extLst xmlns:a="http://schemas.openxmlformats.org/drawingml/2006/main">
              <a:ext uri="{FF2B5EF4-FFF2-40B4-BE49-F238E27FC236}">
                <a16:creationId xmlns:a16="http://schemas.microsoft.com/office/drawing/2014/main" id="{FE3BA62B-B124-4F68-B25A-D05BA72B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" name="text-3-完成凭什么判断？">
            <a:extLst xmlns:a="http://schemas.openxmlformats.org/drawingml/2006/main">
              <a:ext uri="{FF2B5EF4-FFF2-40B4-BE49-F238E27FC236}">
                <a16:creationId xmlns:a16="http://schemas.microsoft.com/office/drawing/2014/main" id="{AB929815-8C88-4930-B3D2-88F49904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76475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完成凭什么判断？</a:t>
            </a:r>
          </a:p>
        </p:txBody>
      </p:sp>
      <p:sp>
        <p:nvSpPr>
          <p:cNvPr id="5" name="text-4-失败之后如何变化？">
            <a:extLst xmlns:a="http://schemas.openxmlformats.org/drawingml/2006/main">
              <a:ext uri="{FF2B5EF4-FFF2-40B4-BE49-F238E27FC236}">
                <a16:creationId xmlns:a16="http://schemas.microsoft.com/office/drawing/2014/main" id="{B76C99A8-7C14-4F32-8309-D492B6BF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失败之后如何变化？</a:t>
            </a:r>
          </a:p>
        </p:txBody>
      </p:sp>
      <p:sp>
        <p:nvSpPr>
          <p:cNvPr id="6" name="text-5-什么时候必须停？">
            <a:extLst xmlns:a="http://schemas.openxmlformats.org/drawingml/2006/main">
              <a:ext uri="{FF2B5EF4-FFF2-40B4-BE49-F238E27FC236}">
                <a16:creationId xmlns:a16="http://schemas.microsoft.com/office/drawing/2014/main" id="{94738C41-A4F0-410D-84C0-1AB6BAE8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76725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6BE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F6BE69"/>
                </a:solidFill>
                <a:latin typeface="Microsoft YaHei"/>
                <a:ea typeface="Microsoft YaHei"/>
                <a:cs typeface="Microsoft YaHei"/>
              </a:rPr>
              <a:t>什么时候必须停？</a:t>
            </a:r>
          </a:p>
        </p:txBody>
      </p:sp>
      <p:sp>
        <p:nvSpPr>
          <p:cNvPr id="7" name="text-6-交付目标：一个任务契约、">
            <a:extLst xmlns:a="http://schemas.openxmlformats.org/drawingml/2006/main">
              <a:ext uri="{FF2B5EF4-FFF2-40B4-BE49-F238E27FC236}">
                <a16:creationId xmlns:a16="http://schemas.microsoft.com/office/drawing/2014/main" id="{4367135F-E34E-4B25-822F-D116C31A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686425"/>
            <a:ext cx="10763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交付目标：一个任务契约、一条证据链、一个可恢复的闭环。</a:t>
            </a:r>
          </a:p>
        </p:txBody>
      </p:sp>
    </p:spTree>
    <p:extLst>
      <p:ext uri="{BB962C8B-B14F-4D97-AF65-F5344CB8AC3E}">
        <p14:creationId xmlns:p14="http://schemas.microsoft.com/office/powerpoint/2010/main" val="15260610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2026-09-08T06:26:44.4450000Z</dcterms:created>
  <dcterms:modified xsi:type="dcterms:W3CDTF">2026-09-08T06:26:44.4460000Z</dcterms:modified>
</coreProperties>
</file>