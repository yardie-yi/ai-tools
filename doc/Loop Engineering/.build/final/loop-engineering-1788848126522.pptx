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723d5f1ef44e5" /><Relationship Type="http://schemas.openxmlformats.org/officeDocument/2006/relationships/extended-properties" Target="/docProps/app.xml" Id="R89c9fbdb82224a64" /><Relationship Type="http://schemas.openxmlformats.org/officeDocument/2006/relationships/officeDocument" Target="/ppt/presentation.xml" Id="R27beb6599f2a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b753809e904e59"/>
  </p:sldMasterIdLst>
  <p:notesMasterIdLst>
    <p:notesMasterId xmlns:r="http://schemas.openxmlformats.org/officeDocument/2006/relationships" r:id="Rec632ec70181436a"/>
  </p:notesMasterIdLst>
  <p:sldIdLst>
    <p:sldId xmlns:r="http://schemas.openxmlformats.org/officeDocument/2006/relationships" id="256" r:id="R47deabcb7ff74f0d"/>
    <p:sldId xmlns:r="http://schemas.openxmlformats.org/officeDocument/2006/relationships" id="257" r:id="R7f4eaf93d0474e24"/>
    <p:sldId xmlns:r="http://schemas.openxmlformats.org/officeDocument/2006/relationships" id="258" r:id="R1a84b6cfd25a4b8b"/>
    <p:sldId xmlns:r="http://schemas.openxmlformats.org/officeDocument/2006/relationships" id="259" r:id="Rce13cd5eaae44731"/>
    <p:sldId xmlns:r="http://schemas.openxmlformats.org/officeDocument/2006/relationships" id="260" r:id="R94b765b2ca83454f"/>
    <p:sldId xmlns:r="http://schemas.openxmlformats.org/officeDocument/2006/relationships" id="261" r:id="R16a65144fd8d4454"/>
    <p:sldId xmlns:r="http://schemas.openxmlformats.org/officeDocument/2006/relationships" id="262" r:id="R08e1ef1d85d4454e"/>
    <p:sldId xmlns:r="http://schemas.openxmlformats.org/officeDocument/2006/relationships" id="263" r:id="R78afe03f14ee4f08"/>
    <p:sldId xmlns:r="http://schemas.openxmlformats.org/officeDocument/2006/relationships" id="264" r:id="R466fdb3274eb4bb2"/>
    <p:sldId xmlns:r="http://schemas.openxmlformats.org/officeDocument/2006/relationships" id="265" r:id="R72553aeba48346fb"/>
    <p:sldId xmlns:r="http://schemas.openxmlformats.org/officeDocument/2006/relationships" id="266" r:id="R9bd92dd8f96e4173"/>
    <p:sldId xmlns:r="http://schemas.openxmlformats.org/officeDocument/2006/relationships" id="267" r:id="R5cf7dc1705d34ae0"/>
    <p:sldId xmlns:r="http://schemas.openxmlformats.org/officeDocument/2006/relationships" id="268" r:id="Rf036510c474a47a7"/>
    <p:sldId xmlns:r="http://schemas.openxmlformats.org/officeDocument/2006/relationships" id="269" r:id="Rf2587a428ccf4834"/>
    <p:sldId xmlns:r="http://schemas.openxmlformats.org/officeDocument/2006/relationships" id="270" r:id="Rcf01cf6aa73b4044"/>
    <p:sldId xmlns:r="http://schemas.openxmlformats.org/officeDocument/2006/relationships" id="271" r:id="R54e666b1a9ca45d7"/>
    <p:sldId xmlns:r="http://schemas.openxmlformats.org/officeDocument/2006/relationships" id="272" r:id="Rc6c23acfbae44747"/>
    <p:sldId xmlns:r="http://schemas.openxmlformats.org/officeDocument/2006/relationships" id="273" r:id="Rd58bd1a51f7641f7"/>
    <p:sldId xmlns:r="http://schemas.openxmlformats.org/officeDocument/2006/relationships" id="274" r:id="R02f23ea8ec7245e7"/>
    <p:sldId xmlns:r="http://schemas.openxmlformats.org/officeDocument/2006/relationships" id="275" r:id="Rdce93442698a4c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bac789b514ed7" /><Relationship Type="http://schemas.openxmlformats.org/officeDocument/2006/relationships/slideMaster" Target="/ppt/slideMasters/slideMaster1.xml" Id="Ra9b753809e904e59" /><Relationship Type="http://schemas.openxmlformats.org/officeDocument/2006/relationships/notesMaster" Target="/ppt/notesMasters/notesMaster1.xml" Id="Rec632ec70181436a" /><Relationship Type="http://schemas.openxmlformats.org/officeDocument/2006/relationships/presProps" Target="/ppt/presProps.xml" Id="R78ec459a3e374712" /><Relationship Type="http://schemas.openxmlformats.org/officeDocument/2006/relationships/tableStyles" Target="/ppt/tableStyles.xml" Id="Rcb7575df913c4a37" /><Relationship Type="http://schemas.openxmlformats.org/officeDocument/2006/relationships/slide" Target="/ppt/slides/slide1.xml" Id="R47deabcb7ff74f0d" /><Relationship Type="http://schemas.openxmlformats.org/officeDocument/2006/relationships/slide" Target="/ppt/slides/slide2.xml" Id="R7f4eaf93d0474e24" /><Relationship Type="http://schemas.openxmlformats.org/officeDocument/2006/relationships/slide" Target="/ppt/slides/slide3.xml" Id="R1a84b6cfd25a4b8b" /><Relationship Type="http://schemas.openxmlformats.org/officeDocument/2006/relationships/slide" Target="/ppt/slides/slide4.xml" Id="Rce13cd5eaae44731" /><Relationship Type="http://schemas.openxmlformats.org/officeDocument/2006/relationships/slide" Target="/ppt/slides/slide5.xml" Id="R94b765b2ca83454f" /><Relationship Type="http://schemas.openxmlformats.org/officeDocument/2006/relationships/slide" Target="/ppt/slides/slide6.xml" Id="R16a65144fd8d4454" /><Relationship Type="http://schemas.openxmlformats.org/officeDocument/2006/relationships/slide" Target="/ppt/slides/slide7.xml" Id="R08e1ef1d85d4454e" /><Relationship Type="http://schemas.openxmlformats.org/officeDocument/2006/relationships/slide" Target="/ppt/slides/slide8.xml" Id="R78afe03f14ee4f08" /><Relationship Type="http://schemas.openxmlformats.org/officeDocument/2006/relationships/slide" Target="/ppt/slides/slide9.xml" Id="R466fdb3274eb4bb2" /><Relationship Type="http://schemas.openxmlformats.org/officeDocument/2006/relationships/slide" Target="/ppt/slides/slide10.xml" Id="R72553aeba48346fb" /><Relationship Type="http://schemas.openxmlformats.org/officeDocument/2006/relationships/slide" Target="/ppt/slides/slide11.xml" Id="R9bd92dd8f96e4173" /><Relationship Type="http://schemas.openxmlformats.org/officeDocument/2006/relationships/slide" Target="/ppt/slides/slide12.xml" Id="R5cf7dc1705d34ae0" /><Relationship Type="http://schemas.openxmlformats.org/officeDocument/2006/relationships/slide" Target="/ppt/slides/slide13.xml" Id="Rf036510c474a47a7" /><Relationship Type="http://schemas.openxmlformats.org/officeDocument/2006/relationships/slide" Target="/ppt/slides/slide14.xml" Id="Rf2587a428ccf4834" /><Relationship Type="http://schemas.openxmlformats.org/officeDocument/2006/relationships/slide" Target="/ppt/slides/slide15.xml" Id="Rcf01cf6aa73b4044" /><Relationship Type="http://schemas.openxmlformats.org/officeDocument/2006/relationships/slide" Target="/ppt/slides/slide16.xml" Id="R54e666b1a9ca45d7" /><Relationship Type="http://schemas.openxmlformats.org/officeDocument/2006/relationships/slide" Target="/ppt/slides/slide17.xml" Id="Rc6c23acfbae44747" /><Relationship Type="http://schemas.openxmlformats.org/officeDocument/2006/relationships/slide" Target="/ppt/slides/slide18.xml" Id="Rd58bd1a51f7641f7" /><Relationship Type="http://schemas.openxmlformats.org/officeDocument/2006/relationships/slide" Target="/ppt/slides/slide19.xml" Id="R02f23ea8ec7245e7" /><Relationship Type="http://schemas.openxmlformats.org/officeDocument/2006/relationships/slide" Target="/ppt/slides/slide20.xml" Id="Rdce93442698a4c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e9ed3c8374f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ba0ef10cce43e1" /><Relationship Type="http://schemas.openxmlformats.org/officeDocument/2006/relationships/notesMaster" Target="/ppt/notesMasters/notesMaster1.xml" Id="R752d6ea9bdbe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e5e0a7cecf45a6" /><Relationship Type="http://schemas.openxmlformats.org/officeDocument/2006/relationships/notesMaster" Target="/ppt/notesMasters/notesMaster1.xml" Id="Ra483d628acb1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5255ee34e14925" /><Relationship Type="http://schemas.openxmlformats.org/officeDocument/2006/relationships/notesMaster" Target="/ppt/notesMasters/notesMaster1.xml" Id="Rb7e881867bfb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69cce5d6c945c9" /><Relationship Type="http://schemas.openxmlformats.org/officeDocument/2006/relationships/notesMaster" Target="/ppt/notesMasters/notesMaster1.xml" Id="Rd95fa6242bc2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1d2f5eeb1d45ed" /><Relationship Type="http://schemas.openxmlformats.org/officeDocument/2006/relationships/notesMaster" Target="/ppt/notesMasters/notesMaster1.xml" Id="R2c58d68b73b749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59fb0a82094349" /><Relationship Type="http://schemas.openxmlformats.org/officeDocument/2006/relationships/notesMaster" Target="/ppt/notesMasters/notesMaster1.xml" Id="Rc224540fdc1045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8177c96544912" /><Relationship Type="http://schemas.openxmlformats.org/officeDocument/2006/relationships/notesMaster" Target="/ppt/notesMasters/notesMaster1.xml" Id="Rcf34953f54974c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2a1861e9184fe9" /><Relationship Type="http://schemas.openxmlformats.org/officeDocument/2006/relationships/notesMaster" Target="/ppt/notesMasters/notesMaster1.xml" Id="Ref0a5ecce26046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e5b47e6e84d2a" /><Relationship Type="http://schemas.openxmlformats.org/officeDocument/2006/relationships/notesMaster" Target="/ppt/notesMasters/notesMaster1.xml" Id="Rfe77feb304f641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72e9fea70442d" /><Relationship Type="http://schemas.openxmlformats.org/officeDocument/2006/relationships/notesMaster" Target="/ppt/notesMasters/notesMaster1.xml" Id="R44bfc57a47e34f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5d238b7324fb5" /><Relationship Type="http://schemas.openxmlformats.org/officeDocument/2006/relationships/notesMaster" Target="/ppt/notesMasters/notesMaster1.xml" Id="R2dcef590509e4e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47d4464174ddc" /><Relationship Type="http://schemas.openxmlformats.org/officeDocument/2006/relationships/notesMaster" Target="/ppt/notesMasters/notesMaster1.xml" Id="R8fcfff77ee0f4e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6f0f00388643b6" /><Relationship Type="http://schemas.openxmlformats.org/officeDocument/2006/relationships/notesMaster" Target="/ppt/notesMasters/notesMaster1.xml" Id="R68144aa565d24d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c3442c6bf74a6e" /><Relationship Type="http://schemas.openxmlformats.org/officeDocument/2006/relationships/notesMaster" Target="/ppt/notesMasters/notesMaster1.xml" Id="R34b0015b7ecf42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6cabc1cffc4340" /><Relationship Type="http://schemas.openxmlformats.org/officeDocument/2006/relationships/notesMaster" Target="/ppt/notesMasters/notesMaster1.xml" Id="R62d443869f2547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9b60f0f26f4986" /><Relationship Type="http://schemas.openxmlformats.org/officeDocument/2006/relationships/notesMaster" Target="/ppt/notesMasters/notesMaster1.xml" Id="R47a1449d2ada42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e6205d2cd54347" /><Relationship Type="http://schemas.openxmlformats.org/officeDocument/2006/relationships/notesMaster" Target="/ppt/notesMasters/notesMaster1.xml" Id="R24eae8756eb146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c54aa4f4c34ca7" /><Relationship Type="http://schemas.openxmlformats.org/officeDocument/2006/relationships/notesMaster" Target="/ppt/notesMasters/notesMaster1.xml" Id="R5163fab73bc441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8b7eb500c1471a" /><Relationship Type="http://schemas.openxmlformats.org/officeDocument/2006/relationships/notesMaster" Target="/ppt/notesMasters/notesMaster1.xml" Id="R3c2a17b264af4e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26669476b2439a" /><Relationship Type="http://schemas.openxmlformats.org/officeDocument/2006/relationships/notesMaster" Target="/ppt/notesMasters/notesMaster1.xml" Id="R9115d592e1b0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建议分享时长约 20–25 分钟。先建立闭环概念，再解释验证、状态和停止规则，最后用 UART 协议解析教学案例落地。本文中的协议约束、模拟迭代和成本数字均为教学假设，不代表真实项目测试。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这里讨论的是 AI agent 的任务闭环。人给出目标和约束，系统根据证据决定继续、结束或交还人处理。持续推进可以发生在一次任务内部，并不要求定时调度。循环执行也不保证改进，反馈必须影响下一轮决策。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 先读取当前真实状态，避免根据过期记录工作。Plan 选择最有价值的下一步。Execute 实施有限变更。Verify 对照固定验收规则验证具体产物。Iterate 将发现的问题和已尝试的策略写回状态，再计划下一次动作。成功和阻塞都可以成为本次运行的终点。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是判断产物是否符合要求的关口。State 保存跨轮次所需的工作记忆，但不会自动训练模型参数。Stop 同时覆盖成功和无法继续的情况。工程上必须保留失败与未知，不能把测试未执行、设备不可用或模型自信当作通过。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频率用于评估投入是否值得，不是普遍适用的固定周频门槛。对于复杂但一次性的编码任务，短闭环仍可有效，是否值得搭建持续自动化需要另算。验收主观或工具不全时可以保留人工检查，先采用辅助式短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这是一组工程化理解方式，并非互斥产品分类。Prompt 表达一次任务，Context 提供相关信息，Harness 为一次运行提供工具、权限和环境，Loop 管理反馈如何驱动持续运行。Graph 用于表达任务依赖和分支，一张图的某个节点内部可以存在修复闭环。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触发器可以是手动、事件或计划任务。Skill 将稳定方法固化为可复用指令。独立 reviewer 可以降低同一上下文的偏见，但第二个模型仍可能出错，不能取代客观测试。连接器负责访问真实环境，它是否存在与是否被授权执行某动作是两个问题。状态存储是贯穿各构件的持久基础。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模型评分适合发现表达问题、遗漏和潜在风险，属于辅助审查。对软件更可靠的证据来自实际运行的检查。测试通过只覆盖测试定义的范围，不能证明没有其他缺陷。生成代码的 agent 不得为了得到绿灯而删除失败测试或降低既定验收标准。报告还需记录版本、配置、执行时间与工具结果。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应小而可恢复。除示例字段外，实际项目还可以记录验收规则版本、预算消耗、环境标识和幂等键。恢复时重新核对仓库与设备状态，不应盲目信任上次日志。保存失败要停止并报告，不能继续制造无法追踪的更改。外部状态帮助模型读取过去经历，并不改变模型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只在固定验收的必需项目全部通过且证据有效时使用。BUDGET 达到迭代、时间或花费上限。STALLED 是重复失败且策略或证据未发生有效变化。BLOCKED 包括设备不可用、权限不足、环境故障或检查器未知。进入人工处理时输出已完成事项、当前阻塞、最后证据和建议下一步。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这三页伪代码是接口层设计，非某个产品的命令语法。accept 固定本次验收版本。limits 同时包含最大轮次、总时限和 token 或费用上限。controlled_cycle 需在每次模型和工具调用之前预留预算，并给工具传递超时与取消信号。状态保存和故障处理在后两页继续。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safe_call 是执行框架提供的受控调用：检查预算、保留额度、执行调用、记录实际消耗，并在超时后取消子进程。对拒绝取消的进程需要框架兜底终止。修改在隔离工作区产生；基线失败证据和新产物都需记录。验证器使用冻结的验收规则，输出 PASS、FAIL 或 UNKNOWN 以及实际证据。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此处延续第 11 页 try 块成功后的循环体。accepts 必须检查证据属于当前产物和验收版本、必需测试确实执行且全部通过。no_progress 按具体任务定义，可以联合失败特征、产物差异与策略变化判断。stop_and_save 在原子保存当前状态后输出报告；保存失败会显式报错并停止。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本案例是原创教学假设，未对真实代码或硬件执行测试。协议假设为两字节同步头、一个长度字段、可变载荷和两字节 CRC。实际 CRC 多项式、初值、反射设置、长度含义和最大载荷必须由真实协议规格锁定，不能由模型猜测。ISR 到任务的数据搬运和板端吞吐率属于额外系统验证范围。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第一轮重点是保留不完整帧，不能把所有失败一起改。第二轮处理粘包时，需要在消费一帧后检查缓冲区中的下一帧。第三轮覆盖非法长度和 CRC 恢复同步。每轮都重跑之前已通过的回归用例，防止新修复破坏旧行为。测试数减少也不必然代表进展，需要确认没有删除或弱化用例。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流式解析逻辑可用主机侧用例快速验证，但主机通过不能覆盖中断时序、DMA 缓冲复用、任务同步或实物吞吐。协议字节序、CRC 和缓冲区边界仍要在目标编译环境核对。若没有板卡或测试适配器，任务状态应说明“软件验证通过，板端待验证”，不能把整个硬件任务标记为完成。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表中数字是人为构造的输入 token 教学模型，不是某工具实测。假设五次调用，无缓存或压缩，且只比较输入，不包含输出 token、工具费用、验证机器和人工复核。真实成本还受模型价格、缓存命中率和实际调用次数影响。不能简单认定双 agent 的费用总会翻倍，也不存在统一的验收率盈亏门槛。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运行本身没有价值。对同一失败持续做同类修改应终止或换策略。对验收规则变化需要单独审查。运行恢复时核对产物哈希避免使用过期结果。多个任务写同一个工作区时要明确串行、隔离或租约。表中是设计建议，需要按任务约束配置，并非某工具的默认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选择一个边界清楚、反馈便宜的任务，例如固定模块的构建失败分类与修复。先手工验证输入输出完整，再沉淀 Skill。封装循环时补齐验证、预算、状态和异常退出。只有重复运行稳定后才加事件或定时调度。试点指标可记录验收通过比例、每个通过结果成本、人工接手次数及故障原因。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可以用三个问题结束分享：完成凭什么判断，失败之后如何变化，什么时候必须停。请听众选出一个真实候选任务，填写触发条件、输入、工具、验收和退出规则。HTML 配套文档包含分步示意、教学模拟器、完整伪代码和落地清单。不要先扩大 agent 数量或运行时长，应先让一个任务闭环可复查。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c7d691111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29a3481e504adc" /><Relationship Type="http://schemas.openxmlformats.org/officeDocument/2006/relationships/slideLayout" Target="/ppt/slideLayouts/slideLayout1.xml" Id="Rf23876421ff04d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876421ff04d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c87333a0c4b7d" /><Relationship Type="http://schemas.openxmlformats.org/officeDocument/2006/relationships/image" Target="/ppt/media/image.png" Id="R1bf74f0fb30947b4" /><Relationship Type="http://schemas.openxmlformats.org/officeDocument/2006/relationships/notesSlide" Target="/ppt/notesSlides/notesSlide1.xml" Id="R1175ecf31ca1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a074dd81e4ac7" /><Relationship Type="http://schemas.openxmlformats.org/officeDocument/2006/relationships/notesSlide" Target="/ppt/notesSlides/notesSlide2.xml" Id="Re40015e2366f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520179a5c46b8" /><Relationship Type="http://schemas.openxmlformats.org/officeDocument/2006/relationships/notesSlide" Target="/ppt/notesSlides/notesSlide3.xml" Id="R088ae30d418c40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19cd2e8044b80" /><Relationship Type="http://schemas.openxmlformats.org/officeDocument/2006/relationships/notesSlide" Target="/ppt/notesSlides/notesSlide4.xml" Id="R054f2c88f6be41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5c9181c8f4393" /><Relationship Type="http://schemas.openxmlformats.org/officeDocument/2006/relationships/notesSlide" Target="/ppt/notesSlides/notesSlide5.xml" Id="R7a29f59066af47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930c0ef4d4e6c" /><Relationship Type="http://schemas.openxmlformats.org/officeDocument/2006/relationships/notesSlide" Target="/ppt/notesSlides/notesSlide6.xml" Id="R3bd535f1f16b4b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678dcce7f4225" /><Relationship Type="http://schemas.openxmlformats.org/officeDocument/2006/relationships/notesSlide" Target="/ppt/notesSlides/notesSlide7.xml" Id="R0204b80451e740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10cde23d64841" /><Relationship Type="http://schemas.openxmlformats.org/officeDocument/2006/relationships/notesSlide" Target="/ppt/notesSlides/notesSlide8.xml" Id="R76ca47bf75794b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238e102494f70" /><Relationship Type="http://schemas.openxmlformats.org/officeDocument/2006/relationships/notesSlide" Target="/ppt/notesSlides/notesSlide9.xml" Id="R55535d86994944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2151f821d450c" /><Relationship Type="http://schemas.openxmlformats.org/officeDocument/2006/relationships/notesSlide" Target="/ppt/notesSlides/notesSlide10.xml" Id="R3ecd4d1fc5b245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8cb0b0e8f4340" /><Relationship Type="http://schemas.openxmlformats.org/officeDocument/2006/relationships/notesSlide" Target="/ppt/notesSlides/notesSlide11.xml" Id="R6763efd3bc744d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24e990cc1478b" /><Relationship Type="http://schemas.openxmlformats.org/officeDocument/2006/relationships/notesSlide" Target="/ppt/notesSlides/notesSlide12.xml" Id="R585fab6ef93141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5dcf97ea840d5" /><Relationship Type="http://schemas.openxmlformats.org/officeDocument/2006/relationships/notesSlide" Target="/ppt/notesSlides/notesSlide13.xml" Id="R1b2e41e5cfea49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653164b0b4ed7" /><Relationship Type="http://schemas.openxmlformats.org/officeDocument/2006/relationships/notesSlide" Target="/ppt/notesSlides/notesSlide14.xml" Id="R225ad7cfe96040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36fca01694587" /><Relationship Type="http://schemas.openxmlformats.org/officeDocument/2006/relationships/notesSlide" Target="/ppt/notesSlides/notesSlide15.xml" Id="R22c694f9bc324a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b7956a994159" /><Relationship Type="http://schemas.openxmlformats.org/officeDocument/2006/relationships/notesSlide" Target="/ppt/notesSlides/notesSlide16.xml" Id="R4d88a32b781047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d9456bb024322" /><Relationship Type="http://schemas.openxmlformats.org/officeDocument/2006/relationships/notesSlide" Target="/ppt/notesSlides/notesSlide17.xml" Id="R64372ebeb77e41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2210308e4405" /><Relationship Type="http://schemas.openxmlformats.org/officeDocument/2006/relationships/notesSlide" Target="/ppt/notesSlides/notesSlide18.xml" Id="R13c6e998dbc948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f0268be744c35" /><Relationship Type="http://schemas.openxmlformats.org/officeDocument/2006/relationships/notesSlide" Target="/ppt/notesSlides/notesSlide19.xml" Id="R288882097f0349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8c8a424a945ae" /><Relationship Type="http://schemas.openxmlformats.org/officeDocument/2006/relationships/notesSlide" Target="/ppt/notesSlides/notesSlide20.xml" Id="Rcf30848a0c9c48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74f0fb30947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-Loop">
            <a:extLst xmlns:a="http://schemas.openxmlformats.org/drawingml/2006/main">
              <a:ext uri="{FF2B5EF4-FFF2-40B4-BE49-F238E27FC236}">
                <a16:creationId xmlns:a16="http://schemas.microsoft.com/office/drawing/2014/main" id="{9CE82281-FBB2-44A9-A626-ADA3E63E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3" name="text-1-Engineering">
            <a:extLst xmlns:a="http://schemas.openxmlformats.org/drawingml/2006/main">
              <a:ext uri="{FF2B5EF4-FFF2-40B4-BE49-F238E27FC236}">
                <a16:creationId xmlns:a16="http://schemas.microsoft.com/office/drawing/2014/main" id="{49D48D29-4895-4206-8D81-F8DA1A8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2-让 AI 围绕目标持续推">
            <a:extLst xmlns:a="http://schemas.openxmlformats.org/drawingml/2006/main">
              <a:ext uri="{FF2B5EF4-FFF2-40B4-BE49-F238E27FC236}">
                <a16:creationId xmlns:a16="http://schemas.microsoft.com/office/drawing/2014/main" id="{32A43B9F-70F1-4525-89BA-95BB2BC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让 AI 围绕目标持续推进</a:t>
            </a:r>
          </a:p>
        </p:txBody>
      </p:sp>
      <p:sp>
        <p:nvSpPr>
          <p:cNvPr id="5" name="text-3-工程反馈闭环与嵌入式开发">
            <a:extLst xmlns:a="http://schemas.openxmlformats.org/drawingml/2006/main">
              <a:ext uri="{FF2B5EF4-FFF2-40B4-BE49-F238E27FC236}">
                <a16:creationId xmlns:a16="http://schemas.microsoft.com/office/drawing/2014/main" id="{D354A40E-A011-4376-B027-E8DDDAE4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工程反馈闭环与嵌入式开发实践</a:t>
            </a:r>
          </a:p>
        </p:txBody>
      </p:sp>
    </p:spTree>
    <p:extLst>
      <p:ext uri="{BB962C8B-B14F-4D97-AF65-F5344CB8AC3E}">
        <p14:creationId xmlns:p14="http://schemas.microsoft.com/office/powerpoint/2010/main" val="2099775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Loop Enginee">
            <a:extLst xmlns:a="http://schemas.openxmlformats.org/drawingml/2006/main">
              <a:ext uri="{FF2B5EF4-FFF2-40B4-BE49-F238E27FC236}">
                <a16:creationId xmlns:a16="http://schemas.microsoft.com/office/drawing/2014/main" id="{0DC38EA3-FF68-474D-B615-9EA7DD2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 Engineering 的工作对象</a:t>
            </a:r>
          </a:p>
        </p:txBody>
      </p:sp>
      <p:sp>
        <p:nvSpPr>
          <p:cNvPr id="2" name="text-1-把目标、反馈与下一步动作">
            <a:extLst xmlns:a="http://schemas.openxmlformats.org/drawingml/2006/main">
              <a:ext uri="{FF2B5EF4-FFF2-40B4-BE49-F238E27FC236}">
                <a16:creationId xmlns:a16="http://schemas.microsoft.com/office/drawing/2014/main" id="{1D6CBD51-C858-421B-9894-FC17DC25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把目标、反馈与下一步动作组织成可运行的系统</a:t>
            </a:r>
          </a:p>
        </p:txBody>
      </p:sp>
      <p:sp>
        <p:nvSpPr>
          <p:cNvPr id="3" name="text-2-02">
            <a:extLst xmlns:a="http://schemas.openxmlformats.org/drawingml/2006/main">
              <a:ext uri="{FF2B5EF4-FFF2-40B4-BE49-F238E27FC236}">
                <a16:creationId xmlns:a16="http://schemas.microsoft.com/office/drawing/2014/main" id="{DD73A943-8FFD-4EFC-944B-94B1BDD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-目标 + 执行 + 可检">
            <a:extLst xmlns:a="http://schemas.openxmlformats.org/drawingml/2006/main">
              <a:ext uri="{FF2B5EF4-FFF2-40B4-BE49-F238E27FC236}">
                <a16:creationId xmlns:a16="http://schemas.microsoft.com/office/drawing/2014/main" id="{AF153852-BA1F-4357-8E59-5044563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目标 + 执行 + 可检验反馈 + 下一步决策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12420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24375"/>
                <a:gridCol w="4257675"/>
              </a:tblGrid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谁推动下一步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如何结束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逐次交互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人阅读结果后再下指令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人判断已经足够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工程闭环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控制器根据反馈选择动作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验收通过或触发退出规则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6" name="text-4-控制器负责流程，模型负责">
            <a:extLst xmlns:a="http://schemas.openxmlformats.org/drawingml/2006/main">
              <a:ext uri="{FF2B5EF4-FFF2-40B4-BE49-F238E27FC236}">
                <a16:creationId xmlns:a16="http://schemas.microsoft.com/office/drawing/2014/main" id="{F4273833-2F82-4092-8F3B-4B15DA6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控制器负责流程，模型负责候选方案，验证器负责证据。</a:t>
            </a:r>
          </a:p>
        </p:txBody>
      </p:sp>
    </p:spTree>
    <p:extLst>
      <p:ext uri="{BB962C8B-B14F-4D97-AF65-F5344CB8AC3E}">
        <p14:creationId xmlns:p14="http://schemas.microsoft.com/office/powerpoint/2010/main" val="412188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一次迭代的五个阶段">
            <a:extLst xmlns:a="http://schemas.openxmlformats.org/drawingml/2006/main">
              <a:ext uri="{FF2B5EF4-FFF2-40B4-BE49-F238E27FC236}">
                <a16:creationId xmlns:a16="http://schemas.microsoft.com/office/drawing/2014/main" id="{DCFA8391-7CC6-42CB-93E5-1A7010A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一次迭代的五个阶段</a:t>
            </a:r>
          </a:p>
        </p:txBody>
      </p:sp>
      <p:sp>
        <p:nvSpPr>
          <p:cNvPr id="2" name="text-1-失败结果进入下一轮，形成">
            <a:extLst xmlns:a="http://schemas.openxmlformats.org/drawingml/2006/main">
              <a:ext uri="{FF2B5EF4-FFF2-40B4-BE49-F238E27FC236}">
                <a16:creationId xmlns:a16="http://schemas.microsoft.com/office/drawing/2014/main" id="{0B69E7B6-E0CE-42D4-BBA6-F59DBD24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失败结果进入下一轮，形成修正动作</a:t>
            </a:r>
          </a:p>
        </p:txBody>
      </p:sp>
      <p:sp>
        <p:nvSpPr>
          <p:cNvPr id="3" name="text-2-03">
            <a:extLst xmlns:a="http://schemas.openxmlformats.org/drawingml/2006/main">
              <a:ext uri="{FF2B5EF4-FFF2-40B4-BE49-F238E27FC236}">
                <a16:creationId xmlns:a16="http://schemas.microsoft.com/office/drawing/2014/main" id="{10B6D2F5-B48B-4520-9CD5-09576E8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0050"/>
                <a:gridCol w="4191000"/>
              </a:tblGrid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DISCOVER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发现任务与当前失败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基线、输入、待办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PLAN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选择一个可验证的小步骤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方案与预期变化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EXECUTE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执行修改或调用工具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VERIFY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对照目标检查结果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ITERATE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记录反馈并决定下一步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 / 结束 / 交还人工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77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-闭环的三个关键约束">
            <a:extLst xmlns:a="http://schemas.openxmlformats.org/drawingml/2006/main">
              <a:ext uri="{FF2B5EF4-FFF2-40B4-BE49-F238E27FC236}">
                <a16:creationId xmlns:a16="http://schemas.microsoft.com/office/drawing/2014/main" id="{192254AE-0102-451C-8019-E36AF9BC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闭环的三个关键约束</a:t>
            </a:r>
          </a:p>
        </p:txBody>
      </p:sp>
      <p:sp>
        <p:nvSpPr>
          <p:cNvPr id="2" name="text-1-它们决定重复运行能否形成">
            <a:extLst xmlns:a="http://schemas.openxmlformats.org/drawingml/2006/main">
              <a:ext uri="{FF2B5EF4-FFF2-40B4-BE49-F238E27FC236}">
                <a16:creationId xmlns:a16="http://schemas.microsoft.com/office/drawing/2014/main" id="{A75FB2BE-2315-4F45-AE29-5D9F65BE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它们决定重复运行能否形成有效进展</a:t>
            </a:r>
          </a:p>
        </p:txBody>
      </p:sp>
      <p:sp>
        <p:nvSpPr>
          <p:cNvPr id="3" name="text-2-04">
            <a:extLst xmlns:a="http://schemas.openxmlformats.org/drawingml/2006/main">
              <a:ext uri="{FF2B5EF4-FFF2-40B4-BE49-F238E27FC236}">
                <a16:creationId xmlns:a16="http://schemas.microsoft.com/office/drawing/2014/main" id="{2317037F-207C-4430-BD16-269F8A1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96B8AD6E-22CD-492D-83F5-D926398F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Verify：验证">
            <a:extLst xmlns:a="http://schemas.openxmlformats.org/drawingml/2006/main">
              <a:ext uri="{FF2B5EF4-FFF2-40B4-BE49-F238E27FC236}">
                <a16:creationId xmlns:a16="http://schemas.microsoft.com/office/drawing/2014/main" id="{0DC61ECE-1BDF-4AAA-A24D-94CA561D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3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Verify：验证</a:t>
            </a:r>
          </a:p>
        </p:txBody>
      </p:sp>
      <p:sp>
        <p:nvSpPr>
          <p:cNvPr id="6" name="text-5-哪些证据可以拒绝一个错误">
            <a:extLst xmlns:a="http://schemas.openxmlformats.org/drawingml/2006/main">
              <a:ext uri="{FF2B5EF4-FFF2-40B4-BE49-F238E27FC236}">
                <a16:creationId xmlns:a16="http://schemas.microsoft.com/office/drawing/2014/main" id="{7EAD9B15-7F38-4CE5-8F3B-9B7A823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81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哪些证据可以拒绝一个错误结果？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DE906DC4-64B0-4CF2-8DB8-0DBA859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State：状态">
            <a:extLst xmlns:a="http://schemas.openxmlformats.org/drawingml/2006/main">
              <a:ext uri="{FF2B5EF4-FFF2-40B4-BE49-F238E27FC236}">
                <a16:creationId xmlns:a16="http://schemas.microsoft.com/office/drawing/2014/main" id="{4257AF21-DE2E-44E6-9891-DAF70406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State：状态</a:t>
            </a:r>
          </a:p>
        </p:txBody>
      </p:sp>
      <p:sp>
        <p:nvSpPr>
          <p:cNvPr id="9" name="text-8-已经尝试什么，失败在哪里">
            <a:extLst xmlns:a="http://schemas.openxmlformats.org/drawingml/2006/main">
              <a:ext uri="{FF2B5EF4-FFF2-40B4-BE49-F238E27FC236}">
                <a16:creationId xmlns:a16="http://schemas.microsoft.com/office/drawing/2014/main" id="{247706BC-3DF2-4A85-A0F8-BBEBCF5F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338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已经尝试什么，失败在哪里，下一步依据是什么？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166D9D70-9FB5-426A-944E-B2F8972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Stop：停止">
            <a:extLst xmlns:a="http://schemas.openxmlformats.org/drawingml/2006/main">
              <a:ext uri="{FF2B5EF4-FFF2-40B4-BE49-F238E27FC236}">
                <a16:creationId xmlns:a16="http://schemas.microsoft.com/office/drawing/2014/main" id="{729A0D3D-326C-4B08-A135-C8E04F84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Stop：停止</a:t>
            </a:r>
          </a:p>
        </p:txBody>
      </p:sp>
      <p:sp>
        <p:nvSpPr>
          <p:cNvPr id="12" name="text-11-何时成功，何时因预算、阻">
            <a:extLst xmlns:a="http://schemas.openxmlformats.org/drawingml/2006/main">
              <a:ext uri="{FF2B5EF4-FFF2-40B4-BE49-F238E27FC236}">
                <a16:creationId xmlns:a16="http://schemas.microsoft.com/office/drawing/2014/main" id="{DE625048-869E-4170-9091-88B6EC3D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86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何时成功，何时因预算、阻塞或无进展而退出？</a:t>
            </a:r>
          </a:p>
        </p:txBody>
      </p:sp>
    </p:spTree>
    <p:extLst>
      <p:ext uri="{BB962C8B-B14F-4D97-AF65-F5344CB8AC3E}">
        <p14:creationId xmlns:p14="http://schemas.microsoft.com/office/powerpoint/2010/main" val="1990917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适用性判断">
            <a:extLst xmlns:a="http://schemas.openxmlformats.org/drawingml/2006/main">
              <a:ext uri="{FF2B5EF4-FFF2-40B4-BE49-F238E27FC236}">
                <a16:creationId xmlns:a16="http://schemas.microsoft.com/office/drawing/2014/main" id="{1DCE58FF-EE9E-49E2-97A2-A60AE3C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适用性判断</a:t>
            </a:r>
          </a:p>
        </p:txBody>
      </p:sp>
      <p:sp>
        <p:nvSpPr>
          <p:cNvPr id="2" name="text-1-先回答这四个问题，再决定">
            <a:extLst xmlns:a="http://schemas.openxmlformats.org/drawingml/2006/main">
              <a:ext uri="{FF2B5EF4-FFF2-40B4-BE49-F238E27FC236}">
                <a16:creationId xmlns:a16="http://schemas.microsoft.com/office/drawing/2014/main" id="{289BCED4-7EFC-4549-8D0B-2A19267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先回答这四个问题，再决定自动化程度</a:t>
            </a:r>
          </a:p>
        </p:txBody>
      </p:sp>
      <p:sp>
        <p:nvSpPr>
          <p:cNvPr id="3" name="text-2-05">
            <a:extLst xmlns:a="http://schemas.openxmlformats.org/drawingml/2006/main">
              <a:ext uri="{FF2B5EF4-FFF2-40B4-BE49-F238E27FC236}">
                <a16:creationId xmlns:a16="http://schemas.microsoft.com/office/drawing/2014/main" id="{88B22499-6CE7-47C3-A341-2D719D31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76D24FBE-D1D4-4721-B530-B5995DE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任务是否反复出现？">
            <a:extLst xmlns:a="http://schemas.openxmlformats.org/drawingml/2006/main">
              <a:ext uri="{FF2B5EF4-FFF2-40B4-BE49-F238E27FC236}">
                <a16:creationId xmlns:a16="http://schemas.microsoft.com/office/drawing/2014/main" id="{961AA3CD-8D7A-424E-9FEE-082810C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任务是否反复出现？</a:t>
            </a:r>
          </a:p>
        </p:txBody>
      </p:sp>
      <p:sp>
        <p:nvSpPr>
          <p:cNvPr id="6" name="text-5-有稳定需求，维护闭环的投">
            <a:extLst xmlns:a="http://schemas.openxmlformats.org/drawingml/2006/main">
              <a:ext uri="{FF2B5EF4-FFF2-40B4-BE49-F238E27FC236}">
                <a16:creationId xmlns:a16="http://schemas.microsoft.com/office/drawing/2014/main" id="{583188FA-3D35-4681-9ED5-5323B206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有稳定需求，维护闭环的投入才可能得到回报。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3AC55396-117B-4345-86E9-0F6886B2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错误输出能否被自动拒绝？">
            <a:extLst xmlns:a="http://schemas.openxmlformats.org/drawingml/2006/main">
              <a:ext uri="{FF2B5EF4-FFF2-40B4-BE49-F238E27FC236}">
                <a16:creationId xmlns:a16="http://schemas.microsoft.com/office/drawing/2014/main" id="{3F7B1F92-C9DD-4C79-AE6E-6F4EB48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错误输出能否被自动拒绝？</a:t>
            </a:r>
          </a:p>
        </p:txBody>
      </p:sp>
      <p:sp>
        <p:nvSpPr>
          <p:cNvPr id="9" name="text-8-测试、构建、格式规则或业">
            <a:extLst xmlns:a="http://schemas.openxmlformats.org/drawingml/2006/main">
              <a:ext uri="{FF2B5EF4-FFF2-40B4-BE49-F238E27FC236}">
                <a16:creationId xmlns:a16="http://schemas.microsoft.com/office/drawing/2014/main" id="{78F4CFF9-A17F-41C6-8D9F-7C67159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81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测试、构建、格式规则或业务断言能够给出失败。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CD60320E-D5D3-4F9E-BDF2-C49F601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Agent 是否具备完成">
            <a:extLst xmlns:a="http://schemas.openxmlformats.org/drawingml/2006/main">
              <a:ext uri="{FF2B5EF4-FFF2-40B4-BE49-F238E27FC236}">
                <a16:creationId xmlns:a16="http://schemas.microsoft.com/office/drawing/2014/main" id="{E287724B-3C25-41CC-AA62-BE32DD71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338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Agent 是否具备完成任务的工具？</a:t>
            </a:r>
          </a:p>
        </p:txBody>
      </p:sp>
      <p:sp>
        <p:nvSpPr>
          <p:cNvPr id="12" name="text-11-代码、构建环境与必要接口">
            <a:extLst xmlns:a="http://schemas.openxmlformats.org/drawingml/2006/main">
              <a:ext uri="{FF2B5EF4-FFF2-40B4-BE49-F238E27FC236}">
                <a16:creationId xmlns:a16="http://schemas.microsoft.com/office/drawing/2014/main" id="{14B58526-E4C0-475D-81BC-6C1FC00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371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代码、构建环境与必要接口实际可用。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67CBE8BE-4B6C-4732-BEC3-D00DC8D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完成标准是否足够客观？">
            <a:extLst xmlns:a="http://schemas.openxmlformats.org/drawingml/2006/main">
              <a:ext uri="{FF2B5EF4-FFF2-40B4-BE49-F238E27FC236}">
                <a16:creationId xmlns:a16="http://schemas.microsoft.com/office/drawing/2014/main" id="{465576AF-2E3A-4CD5-8000-BEFAE79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完成标准是否足够客观？</a:t>
            </a:r>
          </a:p>
        </p:txBody>
      </p:sp>
      <p:sp>
        <p:nvSpPr>
          <p:cNvPr id="15" name="text-14-验收条件能够提前写清，并">
            <a:extLst xmlns:a="http://schemas.openxmlformats.org/drawingml/2006/main">
              <a:ext uri="{FF2B5EF4-FFF2-40B4-BE49-F238E27FC236}">
                <a16:creationId xmlns:a16="http://schemas.microsoft.com/office/drawing/2014/main" id="{5E7D1DC9-7DD3-4788-A23B-9FDE905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6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验收条件能够提前写清，并由他人复查。</a:t>
            </a:r>
          </a:p>
        </p:txBody>
      </p:sp>
    </p:spTree>
    <p:extLst>
      <p:ext uri="{BB962C8B-B14F-4D97-AF65-F5344CB8AC3E}">
        <p14:creationId xmlns:p14="http://schemas.microsoft.com/office/powerpoint/2010/main" val="684847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Prompt、Conte">
            <a:extLst xmlns:a="http://schemas.openxmlformats.org/drawingml/2006/main">
              <a:ext uri="{FF2B5EF4-FFF2-40B4-BE49-F238E27FC236}">
                <a16:creationId xmlns:a16="http://schemas.microsoft.com/office/drawing/2014/main" id="{5B335F06-D1A3-4489-9D2B-93611545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Prompt、Context、Harness 与 Loop</a:t>
            </a:r>
          </a:p>
        </p:txBody>
      </p:sp>
      <p:sp>
        <p:nvSpPr>
          <p:cNvPr id="2" name="text-1-它们解决不同层次的问题，">
            <a:extLst xmlns:a="http://schemas.openxmlformats.org/drawingml/2006/main">
              <a:ext uri="{FF2B5EF4-FFF2-40B4-BE49-F238E27FC236}">
                <a16:creationId xmlns:a16="http://schemas.microsoft.com/office/drawing/2014/main" id="{B1B4F1AC-5C97-44D8-A037-84E9EDD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它们解决不同层次的问题，可以组合使用</a:t>
            </a:r>
          </a:p>
        </p:txBody>
      </p:sp>
      <p:sp>
        <p:nvSpPr>
          <p:cNvPr id="3" name="text-2-06">
            <a:extLst xmlns:a="http://schemas.openxmlformats.org/drawingml/2006/main">
              <a:ext uri="{FF2B5EF4-FFF2-40B4-BE49-F238E27FC236}">
                <a16:creationId xmlns:a16="http://schemas.microsoft.com/office/drawing/2014/main" id="{D736C292-DEE8-427B-B3D9-E36966C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762500"/>
                <a:gridCol w="4019550"/>
              </a:tblGrid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本次要完成什么？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任务描述与输出要求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完成任务需要知道什么？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规格、代码、日志与状态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模型能在什么环境里行动？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工具、权限、隔离与约束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何时继续，如何修正，何时停止？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验证、状态、预算与恢复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Graph 描述任务间的">
            <a:extLst xmlns:a="http://schemas.openxmlformats.org/drawingml/2006/main">
              <a:ext uri="{FF2B5EF4-FFF2-40B4-BE49-F238E27FC236}">
                <a16:creationId xmlns:a16="http://schemas.microsoft.com/office/drawing/2014/main" id="{2662CF86-531B-4587-A6A1-CA754F3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Graph 描述任务间的依赖，Loop 描述任务内的反馈迭代。</a:t>
            </a:r>
          </a:p>
        </p:txBody>
      </p:sp>
    </p:spTree>
    <p:extLst>
      <p:ext uri="{BB962C8B-B14F-4D97-AF65-F5344CB8AC3E}">
        <p14:creationId xmlns:p14="http://schemas.microsoft.com/office/powerpoint/2010/main" val="985925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闭环系统的五类构件">
            <a:extLst xmlns:a="http://schemas.openxmlformats.org/drawingml/2006/main">
              <a:ext uri="{FF2B5EF4-FFF2-40B4-BE49-F238E27FC236}">
                <a16:creationId xmlns:a16="http://schemas.microsoft.com/office/drawing/2014/main" id="{92EB77BF-AB53-4F19-A144-C7D4362B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闭环系统的五类构件</a:t>
            </a:r>
          </a:p>
        </p:txBody>
      </p:sp>
      <p:sp>
        <p:nvSpPr>
          <p:cNvPr id="2" name="text-1-围绕明确的验证关口连接工">
            <a:extLst xmlns:a="http://schemas.openxmlformats.org/drawingml/2006/main">
              <a:ext uri="{FF2B5EF4-FFF2-40B4-BE49-F238E27FC236}">
                <a16:creationId xmlns:a16="http://schemas.microsoft.com/office/drawing/2014/main" id="{28AA5C0B-CD40-4FFD-A7C1-6269A4F3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围绕明确的验证关口连接工具与执行者</a:t>
            </a:r>
          </a:p>
        </p:txBody>
      </p:sp>
      <p:sp>
        <p:nvSpPr>
          <p:cNvPr id="3" name="text-2-07">
            <a:extLst xmlns:a="http://schemas.openxmlformats.org/drawingml/2006/main">
              <a:ext uri="{FF2B5EF4-FFF2-40B4-BE49-F238E27FC236}">
                <a16:creationId xmlns:a16="http://schemas.microsoft.com/office/drawing/2014/main" id="{BD026A03-75D7-4480-B594-5F26464E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448050"/>
                <a:gridCol w="4857750"/>
              </a:tblGrid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嵌入式开发中的落点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 / 触发器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决定什么时候启动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失败事件或定时检查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复用方法与边界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构建步骤、代码规范、禁止修改区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执行者与检查者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分开实施和复核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生成修复与审查差异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连接器 / 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读取和操作真实环境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仓库、构建机、测试适配器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以证据接受或拒绝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测试结果、静态检查、板端报告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6255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验证证据与自我评分">
            <a:extLst xmlns:a="http://schemas.openxmlformats.org/drawingml/2006/main">
              <a:ext uri="{FF2B5EF4-FFF2-40B4-BE49-F238E27FC236}">
                <a16:creationId xmlns:a16="http://schemas.microsoft.com/office/drawing/2014/main" id="{D3AF8984-16E1-4D2A-A58C-62A1A180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验证证据与自我评分</a:t>
            </a:r>
          </a:p>
        </p:txBody>
      </p:sp>
      <p:sp>
        <p:nvSpPr>
          <p:cNvPr id="2" name="text-1-先固定验收规则，再评估具">
            <a:extLst xmlns:a="http://schemas.openxmlformats.org/drawingml/2006/main">
              <a:ext uri="{FF2B5EF4-FFF2-40B4-BE49-F238E27FC236}">
                <a16:creationId xmlns:a16="http://schemas.microsoft.com/office/drawing/2014/main" id="{868EC02C-50DB-43CC-8A6D-E901702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先固定验收规则，再评估具体产物</a:t>
            </a:r>
          </a:p>
        </p:txBody>
      </p:sp>
      <p:sp>
        <p:nvSpPr>
          <p:cNvPr id="3" name="text-2-08">
            <a:extLst xmlns:a="http://schemas.openxmlformats.org/drawingml/2006/main">
              <a:ext uri="{FF2B5EF4-FFF2-40B4-BE49-F238E27FC236}">
                <a16:creationId xmlns:a16="http://schemas.microsoft.com/office/drawing/2014/main" id="{4BAC2A7E-F14C-417E-A8B2-54DA5C5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4162425"/>
                <a:gridCol w="4105275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使用边界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模型自检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给出可能的问题与改进方向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分数不能证明测试通过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独立审查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发现遗漏、边界和设计风险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仍需证据支持结论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外部测试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对确定产物执行可复查检查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结论限于已覆盖条件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人工与实物验证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确认系统与现场行为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未执行时必须记录为未知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证据绑定：产物版本 + ">
            <a:extLst xmlns:a="http://schemas.openxmlformats.org/drawingml/2006/main">
              <a:ext uri="{FF2B5EF4-FFF2-40B4-BE49-F238E27FC236}">
                <a16:creationId xmlns:a16="http://schemas.microsoft.com/office/drawing/2014/main" id="{6BEA44AC-B649-40F2-BC41-BE540C8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证据绑定：产物版本 + 验收版本 + 测试配置 + 运行结果</a:t>
            </a:r>
          </a:p>
        </p:txBody>
      </p:sp>
    </p:spTree>
    <p:extLst>
      <p:ext uri="{BB962C8B-B14F-4D97-AF65-F5344CB8AC3E}">
        <p14:creationId xmlns:p14="http://schemas.microsoft.com/office/powerpoint/2010/main" val="289479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持久状态与恢复">
            <a:extLst xmlns:a="http://schemas.openxmlformats.org/drawingml/2006/main">
              <a:ext uri="{FF2B5EF4-FFF2-40B4-BE49-F238E27FC236}">
                <a16:creationId xmlns:a16="http://schemas.microsoft.com/office/drawing/2014/main" id="{A2B2A7AC-3E35-4B56-9975-14F5249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持久状态与恢复</a:t>
            </a:r>
          </a:p>
        </p:txBody>
      </p:sp>
      <p:sp>
        <p:nvSpPr>
          <p:cNvPr id="2" name="text-1-保留决策需要的证据，控制">
            <a:extLst xmlns:a="http://schemas.openxmlformats.org/drawingml/2006/main">
              <a:ext uri="{FF2B5EF4-FFF2-40B4-BE49-F238E27FC236}">
                <a16:creationId xmlns:a16="http://schemas.microsoft.com/office/drawing/2014/main" id="{BC1E050C-4749-41CC-ABDD-B4C6EE1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保留决策需要的证据，控制每轮上下文大小</a:t>
            </a:r>
          </a:p>
        </p:txBody>
      </p:sp>
      <p:sp>
        <p:nvSpPr>
          <p:cNvPr id="3" name="text-2-09">
            <a:extLst xmlns:a="http://schemas.openxmlformats.org/drawingml/2006/main">
              <a:ext uri="{FF2B5EF4-FFF2-40B4-BE49-F238E27FC236}">
                <a16:creationId xmlns:a16="http://schemas.microsoft.com/office/drawing/2014/main" id="{43F6A6BD-1A25-40E6-9C12-69CD96E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-# 状态记录示意：每个字">
            <a:extLst xmlns:a="http://schemas.openxmlformats.org/drawingml/2006/main">
              <a:ext uri="{FF2B5EF4-FFF2-40B4-BE49-F238E27FC236}">
                <a16:creationId xmlns:a16="http://schemas.microsoft.com/office/drawing/2014/main" id="{906CD31F-C633-4EBA-A577-163AF62A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状态记录示意：每个字段服务于后续决策</a:t>
            </a:r>
          </a:p>
        </p:txBody>
      </p:sp>
      <p:sp>
        <p:nvSpPr>
          <p:cNvPr id="5" name="text-4-task_id: uar">
            <a:extLst xmlns:a="http://schemas.openxmlformats.org/drawingml/2006/main">
              <a:ext uri="{FF2B5EF4-FFF2-40B4-BE49-F238E27FC236}">
                <a16:creationId xmlns:a16="http://schemas.microsoft.com/office/drawing/2014/main" id="{E971467D-27ED-43CF-9826-5A3AA43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task_id: uart_parser_fix       # 关联同一任务</a:t>
            </a:r>
          </a:p>
        </p:txBody>
      </p:sp>
      <p:sp>
        <p:nvSpPr>
          <p:cNvPr id="6" name="text-5-artifact_id:">
            <a:extLst xmlns:a="http://schemas.openxmlformats.org/drawingml/2006/main">
              <a:ext uri="{FF2B5EF4-FFF2-40B4-BE49-F238E27FC236}">
                <a16:creationId xmlns:a16="http://schemas.microsoft.com/office/drawing/2014/main" id="{498E763A-ADC8-49B8-A09B-51521FC1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artifact_id: candidate_hash    # 绑定候选产物版本</a:t>
            </a:r>
          </a:p>
        </p:txBody>
      </p:sp>
      <p:sp>
        <p:nvSpPr>
          <p:cNvPr id="7" name="text-6-acceptance_i">
            <a:extLst xmlns:a="http://schemas.openxmlformats.org/drawingml/2006/main">
              <a:ext uri="{FF2B5EF4-FFF2-40B4-BE49-F238E27FC236}">
                <a16:creationId xmlns:a16="http://schemas.microsoft.com/office/drawing/2014/main" id="{B89816DE-7419-42BA-90D5-3B99AED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acceptance_id: locked_spec     # 锁定本次验收规则</a:t>
            </a:r>
          </a:p>
        </p:txBody>
      </p:sp>
      <p:sp>
        <p:nvSpPr>
          <p:cNvPr id="8" name="text-7-attempt: 2  ">
            <a:extLst xmlns:a="http://schemas.openxmlformats.org/drawingml/2006/main">
              <a:ext uri="{FF2B5EF4-FFF2-40B4-BE49-F238E27FC236}">
                <a16:creationId xmlns:a16="http://schemas.microsoft.com/office/drawing/2014/main" id="{79BC756B-4BA8-4BD4-9861-236E012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attempt: 2                    # 已执行的迭代次数</a:t>
            </a:r>
          </a:p>
        </p:txBody>
      </p:sp>
      <p:sp>
        <p:nvSpPr>
          <p:cNvPr id="9" name="text-8-failed_check">
            <a:extLst xmlns:a="http://schemas.openxmlformats.org/drawingml/2006/main">
              <a:ext uri="{FF2B5EF4-FFF2-40B4-BE49-F238E27FC236}">
                <a16:creationId xmlns:a16="http://schemas.microsoft.com/office/drawing/2014/main" id="{62C5C50E-614B-4D85-A1D1-829DF420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failed_checks: [fragmented]    # 仍未满足的条件</a:t>
            </a:r>
          </a:p>
        </p:txBody>
      </p:sp>
      <p:sp>
        <p:nvSpPr>
          <p:cNvPr id="10" name="text-9-tried: [buff">
            <a:extLst xmlns:a="http://schemas.openxmlformats.org/drawingml/2006/main">
              <a:ext uri="{FF2B5EF4-FFF2-40B4-BE49-F238E27FC236}">
                <a16:creationId xmlns:a16="http://schemas.microsoft.com/office/drawing/2014/main" id="{80EE4D98-B41F-4B7D-8294-4D2BA2C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tried: [buffer_only]           # 避免重复无效策略</a:t>
            </a:r>
          </a:p>
        </p:txBody>
      </p:sp>
      <p:sp>
        <p:nvSpPr>
          <p:cNvPr id="11" name="text-10-next_step: p">
            <a:extLst xmlns:a="http://schemas.openxmlformats.org/drawingml/2006/main">
              <a:ext uri="{FF2B5EF4-FFF2-40B4-BE49-F238E27FC236}">
                <a16:creationId xmlns:a16="http://schemas.microsoft.com/office/drawing/2014/main" id="{7826A033-BFDC-4BB4-B279-50C5208F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next_step: preserve_tail       # 下一轮的明确入口</a:t>
            </a:r>
          </a:p>
        </p:txBody>
      </p:sp>
      <p:sp>
        <p:nvSpPr>
          <p:cNvPr id="12" name="text-11-evidence_pat">
            <a:extLst xmlns:a="http://schemas.openxmlformats.org/drawingml/2006/main">
              <a:ext uri="{FF2B5EF4-FFF2-40B4-BE49-F238E27FC236}">
                <a16:creationId xmlns:a16="http://schemas.microsoft.com/office/drawing/2014/main" id="{6B19B68A-9BB3-457F-B98F-DE8CA6A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evidence_path: run_02/report   # 原始证据放文件</a:t>
            </a:r>
          </a:p>
        </p:txBody>
      </p:sp>
      <p:sp>
        <p:nvSpPr>
          <p:cNvPr id="13" name="text-12-status: RETR">
            <a:extLst xmlns:a="http://schemas.openxmlformats.org/drawingml/2006/main">
              <a:ext uri="{FF2B5EF4-FFF2-40B4-BE49-F238E27FC236}">
                <a16:creationId xmlns:a16="http://schemas.microsoft.com/office/drawing/2014/main" id="{A3B89944-486F-4FD6-B5A0-1DBD2EA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status: RETRY                 # 可恢复的当前状态</a:t>
            </a:r>
          </a:p>
        </p:txBody>
      </p:sp>
      <p:sp>
        <p:nvSpPr>
          <p:cNvPr id="14" name="text-13-每轮只装入任务相关摘要；">
            <a:extLst xmlns:a="http://schemas.openxmlformats.org/drawingml/2006/main">
              <a:ext uri="{FF2B5EF4-FFF2-40B4-BE49-F238E27FC236}">
                <a16:creationId xmlns:a16="http://schemas.microsoft.com/office/drawing/2014/main" id="{FD962A06-56B7-4523-92EB-57BA229A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每轮只装入任务相关摘要；详细日志按需读取。</a:t>
            </a:r>
          </a:p>
        </p:txBody>
      </p:sp>
    </p:spTree>
    <p:extLst>
      <p:ext uri="{BB962C8B-B14F-4D97-AF65-F5344CB8AC3E}">
        <p14:creationId xmlns:p14="http://schemas.microsoft.com/office/powerpoint/2010/main" val="1630625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退出条件与人工接手">
            <a:extLst xmlns:a="http://schemas.openxmlformats.org/drawingml/2006/main">
              <a:ext uri="{FF2B5EF4-FFF2-40B4-BE49-F238E27FC236}">
                <a16:creationId xmlns:a16="http://schemas.microsoft.com/office/drawing/2014/main" id="{90D3246E-38F6-499C-83DF-F92CA34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退出条件与人工接手</a:t>
            </a:r>
          </a:p>
        </p:txBody>
      </p:sp>
      <p:sp>
        <p:nvSpPr>
          <p:cNvPr id="2" name="text-1-停止也是闭环的正常结果">
            <a:extLst xmlns:a="http://schemas.openxmlformats.org/drawingml/2006/main">
              <a:ext uri="{FF2B5EF4-FFF2-40B4-BE49-F238E27FC236}">
                <a16:creationId xmlns:a16="http://schemas.microsoft.com/office/drawing/2014/main" id="{216CF7CD-A04F-45EE-91AE-1A6921AB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停止也是闭环的正常结果</a:t>
            </a:r>
          </a:p>
        </p:txBody>
      </p:sp>
      <p:sp>
        <p:nvSpPr>
          <p:cNvPr id="3" name="text-2-10">
            <a:extLst xmlns:a="http://schemas.openxmlformats.org/drawingml/2006/main">
              <a:ext uri="{FF2B5EF4-FFF2-40B4-BE49-F238E27FC236}">
                <a16:creationId xmlns:a16="http://schemas.microsoft.com/office/drawing/2014/main" id="{91AD69D9-E917-4A7E-9D42-DA668A5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24350"/>
                <a:gridCol w="4267200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必需验收全部通过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候选产物与复查证据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次数、时长或成本到限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停止点与剩余任务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STALLED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连续无新证据或有效变化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重复失败与已尝试方案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依赖缺失或结果为未知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阻塞原因与恢复所需条件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无进展看失败特征与产物变">
            <a:extLst xmlns:a="http://schemas.openxmlformats.org/drawingml/2006/main">
              <a:ext uri="{FF2B5EF4-FFF2-40B4-BE49-F238E27FC236}">
                <a16:creationId xmlns:a16="http://schemas.microsoft.com/office/drawing/2014/main" id="{88E12C69-AC1A-4DD9-83D4-F0FE604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无进展看失败特征与产物变化，不能只看模型是否说“有进展”。</a:t>
            </a:r>
          </a:p>
        </p:txBody>
      </p:sp>
    </p:spTree>
    <p:extLst>
      <p:ext uri="{BB962C8B-B14F-4D97-AF65-F5344CB8AC3E}">
        <p14:creationId xmlns:p14="http://schemas.microsoft.com/office/powerpoint/2010/main" val="302413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-伪代码：受约束的单次执行">
            <a:extLst xmlns:a="http://schemas.openxmlformats.org/drawingml/2006/main">
              <a:ext uri="{FF2B5EF4-FFF2-40B4-BE49-F238E27FC236}">
                <a16:creationId xmlns:a16="http://schemas.microsoft.com/office/drawing/2014/main" id="{60BA7C7D-76F6-4A34-BCA1-FFE4CC28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伪代码：受约束的单次执行</a:t>
            </a:r>
          </a:p>
        </p:txBody>
      </p:sp>
      <p:sp>
        <p:nvSpPr>
          <p:cNvPr id="2" name="text-1-1 / 3  初始化与调">
            <a:extLst xmlns:a="http://schemas.openxmlformats.org/drawingml/2006/main">
              <a:ext uri="{FF2B5EF4-FFF2-40B4-BE49-F238E27FC236}">
                <a16:creationId xmlns:a16="http://schemas.microsoft.com/office/drawing/2014/main" id="{80CC2513-930E-4AC4-AF8A-B7ACD49D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 / 3  初始化与调用前检查</a:t>
            </a:r>
          </a:p>
        </p:txBody>
      </p:sp>
      <p:sp>
        <p:nvSpPr>
          <p:cNvPr id="3" name="text-2-11">
            <a:extLst xmlns:a="http://schemas.openxmlformats.org/drawingml/2006/main">
              <a:ext uri="{FF2B5EF4-FFF2-40B4-BE49-F238E27FC236}">
                <a16:creationId xmlns:a16="http://schemas.microsoft.com/office/drawing/2014/main" id="{52C5F467-9B04-40C5-B68F-7AC0643B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-# 先加载记录，再核对当">
            <a:extLst xmlns:a="http://schemas.openxmlformats.org/drawingml/2006/main">
              <a:ext uri="{FF2B5EF4-FFF2-40B4-BE49-F238E27FC236}">
                <a16:creationId xmlns:a16="http://schemas.microsoft.com/office/drawing/2014/main" id="{EE51ED4B-59BF-4188-97CF-64E7A40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先加载记录，再核对当前仓库与环境</a:t>
            </a:r>
          </a:p>
        </p:txBody>
      </p:sp>
      <p:sp>
        <p:nvSpPr>
          <p:cNvPr id="5" name="text-4-state = load">
            <a:extLst xmlns:a="http://schemas.openxmlformats.org/drawingml/2006/main">
              <a:ext uri="{FF2B5EF4-FFF2-40B4-BE49-F238E27FC236}">
                <a16:creationId xmlns:a16="http://schemas.microsoft.com/office/drawing/2014/main" id="{E70FF9C4-BB6B-433E-8EB7-095CA3C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 = load_and_reconcile(task_id)</a:t>
            </a:r>
          </a:p>
        </p:txBody>
      </p:sp>
      <p:sp>
        <p:nvSpPr>
          <p:cNvPr id="6" name="text-5-accept = loc">
            <a:extLst xmlns:a="http://schemas.openxmlformats.org/drawingml/2006/main">
              <a:ext uri="{FF2B5EF4-FFF2-40B4-BE49-F238E27FC236}">
                <a16:creationId xmlns:a16="http://schemas.microsoft.com/office/drawing/2014/main" id="{27F4380C-8823-4F47-A778-670163A1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 = lock_acceptance(spec)  # 本次验收不可被执行者降低</a:t>
            </a:r>
          </a:p>
        </p:txBody>
      </p:sp>
      <p:sp>
        <p:nvSpPr>
          <p:cNvPr id="7" name="text-6-for attempt ">
            <a:extLst xmlns:a="http://schemas.openxmlformats.org/drawingml/2006/main">
              <a:ext uri="{FF2B5EF4-FFF2-40B4-BE49-F238E27FC236}">
                <a16:creationId xmlns:a16="http://schemas.microsoft.com/office/drawing/2014/main" id="{514671F9-D9B1-4256-8972-8364AA05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for attempt in state.attempt + 1..limits.max_rounds:</a:t>
            </a:r>
          </a:p>
        </p:txBody>
      </p:sp>
      <p:sp>
        <p:nvSpPr>
          <p:cNvPr id="8" name="text-7-    if not b">
            <a:extLst xmlns:a="http://schemas.openxmlformats.org/drawingml/2006/main">
              <a:ext uri="{FF2B5EF4-FFF2-40B4-BE49-F238E27FC236}">
                <a16:creationId xmlns:a16="http://schemas.microsoft.com/office/drawing/2014/main" id="{5EF388EF-EEF4-4127-B60E-F92CBF18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not budget.can_start():  # 调用前检查并预留预算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4FA169FA-D6E1-47E2-AA08-2A07391F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0" name="text-9-    try:">
            <a:extLst xmlns:a="http://schemas.openxmlformats.org/drawingml/2006/main">
              <a:ext uri="{FF2B5EF4-FFF2-40B4-BE49-F238E27FC236}">
                <a16:creationId xmlns:a16="http://schemas.microsoft.com/office/drawing/2014/main" id="{8B9C57AD-8876-4C9D-92E3-8C51A47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try:</a:t>
            </a:r>
          </a:p>
        </p:txBody>
      </p:sp>
      <p:sp>
        <p:nvSpPr>
          <p:cNvPr id="11" name="text-10-        resu">
            <a:extLst xmlns:a="http://schemas.openxmlformats.org/drawingml/2006/main">
              <a:ext uri="{FF2B5EF4-FFF2-40B4-BE49-F238E27FC236}">
                <a16:creationId xmlns:a16="http://schemas.microsoft.com/office/drawing/2014/main" id="{27A8CD65-33F1-48B4-8D66-A3E55C7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result = controlled_cycle(state, accept, limits)</a:t>
            </a:r>
          </a:p>
        </p:txBody>
      </p:sp>
      <p:sp>
        <p:nvSpPr>
          <p:cNvPr id="12" name="text-11-    catch Bu">
            <a:extLst xmlns:a="http://schemas.openxmlformats.org/drawingml/2006/main">
              <a:ext uri="{FF2B5EF4-FFF2-40B4-BE49-F238E27FC236}">
                <a16:creationId xmlns:a16="http://schemas.microsoft.com/office/drawing/2014/main" id="{0B9F1845-B8D9-408B-A9D7-2D7290E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BudgetLimit:         # 单次调用也可能触发预算限额</a:t>
            </a:r>
          </a:p>
        </p:txBody>
      </p:sp>
      <p:sp>
        <p:nvSpPr>
          <p:cNvPr id="13" name="text-12-        retu">
            <a:extLst xmlns:a="http://schemas.openxmlformats.org/drawingml/2006/main">
              <a:ext uri="{FF2B5EF4-FFF2-40B4-BE49-F238E27FC236}">
                <a16:creationId xmlns:a16="http://schemas.microsoft.com/office/drawing/2014/main" id="{45B21B46-C658-49C8-89BA-F2B4A36A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4" name="text-13-    catch er">
            <a:extLst xmlns:a="http://schemas.openxmlformats.org/drawingml/2006/main">
              <a:ext uri="{FF2B5EF4-FFF2-40B4-BE49-F238E27FC236}">
                <a16:creationId xmlns:a16="http://schemas.microsoft.com/office/drawing/2014/main" id="{3034A83D-6E0A-4B04-9F74-FB40E60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error:</a:t>
            </a:r>
          </a:p>
        </p:txBody>
      </p:sp>
      <p:sp>
        <p:nvSpPr>
          <p:cNvPr id="15" name="text-14-        retu">
            <a:extLst xmlns:a="http://schemas.openxmlformats.org/drawingml/2006/main">
              <a:ext uri="{FF2B5EF4-FFF2-40B4-BE49-F238E27FC236}">
                <a16:creationId xmlns:a16="http://schemas.microsoft.com/office/drawing/2014/main" id="{E8AFE6E9-2E67-4668-AA9C-DDD69C7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state, error)</a:t>
            </a:r>
          </a:p>
        </p:txBody>
      </p:sp>
      <p:sp>
        <p:nvSpPr>
          <p:cNvPr id="16" name="text-15-# 继续：处理本轮证据并">
            <a:extLst xmlns:a="http://schemas.openxmlformats.org/drawingml/2006/main">
              <a:ext uri="{FF2B5EF4-FFF2-40B4-BE49-F238E27FC236}">
                <a16:creationId xmlns:a16="http://schemas.microsoft.com/office/drawing/2014/main" id="{359F3326-3C88-4072-AC40-7B40697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继续：处理本轮证据并决定是否再运行</a:t>
            </a:r>
          </a:p>
        </p:txBody>
      </p:sp>
    </p:spTree>
    <p:extLst>
      <p:ext uri="{BB962C8B-B14F-4D97-AF65-F5344CB8AC3E}">
        <p14:creationId xmlns:p14="http://schemas.microsoft.com/office/powerpoint/2010/main" val="58772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-伪代码：执行与外部验证">
            <a:extLst xmlns:a="http://schemas.openxmlformats.org/drawingml/2006/main">
              <a:ext uri="{FF2B5EF4-FFF2-40B4-BE49-F238E27FC236}">
                <a16:creationId xmlns:a16="http://schemas.microsoft.com/office/drawing/2014/main" id="{773CA718-557F-4EB1-BC5E-BF5D910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伪代码：执行与外部验证</a:t>
            </a:r>
          </a:p>
        </p:txBody>
      </p:sp>
      <p:sp>
        <p:nvSpPr>
          <p:cNvPr id="2" name="text-1-2 / 3  每一步都受">
            <a:extLst xmlns:a="http://schemas.openxmlformats.org/drawingml/2006/main">
              <a:ext uri="{FF2B5EF4-FFF2-40B4-BE49-F238E27FC236}">
                <a16:creationId xmlns:a16="http://schemas.microsoft.com/office/drawing/2014/main" id="{10E4A539-FA61-42DD-B589-E5AD4A7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 / 3  每一步都受预算与超时控制</a:t>
            </a:r>
          </a:p>
        </p:txBody>
      </p:sp>
      <p:sp>
        <p:nvSpPr>
          <p:cNvPr id="3" name="text-2-12">
            <a:extLst xmlns:a="http://schemas.openxmlformats.org/drawingml/2006/main">
              <a:ext uri="{FF2B5EF4-FFF2-40B4-BE49-F238E27FC236}">
                <a16:creationId xmlns:a16="http://schemas.microsoft.com/office/drawing/2014/main" id="{F1028D8A-F4A5-4425-A501-AA942851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-function con">
            <a:extLst xmlns:a="http://schemas.openxmlformats.org/drawingml/2006/main">
              <a:ext uri="{FF2B5EF4-FFF2-40B4-BE49-F238E27FC236}">
                <a16:creationId xmlns:a16="http://schemas.microsoft.com/office/drawing/2014/main" id="{109F67C8-8C5A-44DD-98E7-F693373A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function controlled_cycle(state, accept, limits):</a:t>
            </a:r>
          </a:p>
        </p:txBody>
      </p:sp>
      <p:sp>
        <p:nvSpPr>
          <p:cNvPr id="5" name="text-4-    facts = ">
            <a:extLst xmlns:a="http://schemas.openxmlformats.org/drawingml/2006/main">
              <a:ext uri="{FF2B5EF4-FFF2-40B4-BE49-F238E27FC236}">
                <a16:creationId xmlns:a16="http://schemas.microsoft.com/office/drawing/2014/main" id="{C2383182-19A7-45B3-8D23-7EED1B3A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facts = safe_call(discover, state)  # 读取真实失败</a:t>
            </a:r>
          </a:p>
        </p:txBody>
      </p:sp>
      <p:sp>
        <p:nvSpPr>
          <p:cNvPr id="6" name="text-5-    plan = s">
            <a:extLst xmlns:a="http://schemas.openxmlformats.org/drawingml/2006/main">
              <a:ext uri="{FF2B5EF4-FFF2-40B4-BE49-F238E27FC236}">
                <a16:creationId xmlns:a16="http://schemas.microsoft.com/office/drawing/2014/main" id="{BF227002-7344-4BFC-AEF8-32E4A928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plan = safe_call(plan_next, facts)  # 选择一个小改动</a:t>
            </a:r>
          </a:p>
        </p:txBody>
      </p:sp>
      <p:sp>
        <p:nvSpPr>
          <p:cNvPr id="7" name="text-6-    work = s">
            <a:extLst xmlns:a="http://schemas.openxmlformats.org/drawingml/2006/main">
              <a:ext uri="{FF2B5EF4-FFF2-40B4-BE49-F238E27FC236}">
                <a16:creationId xmlns:a16="http://schemas.microsoft.com/office/drawing/2014/main" id="{8B569C29-1F90-4896-B563-235DB0CC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work = safe_call(execute, plan)    # 在隔离区执行</a:t>
            </a:r>
          </a:p>
        </p:txBody>
      </p:sp>
      <p:sp>
        <p:nvSpPr>
          <p:cNvPr id="8" name="text-7-    verdict ">
            <a:extLst xmlns:a="http://schemas.openxmlformats.org/drawingml/2006/main">
              <a:ext uri="{FF2B5EF4-FFF2-40B4-BE49-F238E27FC236}">
                <a16:creationId xmlns:a16="http://schemas.microsoft.com/office/drawing/2014/main" id="{03E9708F-C798-444E-8A33-76E2744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verdict = safe_call(verify, work, accept)</a:t>
            </a:r>
          </a:p>
        </p:txBody>
      </p:sp>
      <p:sp>
        <p:nvSpPr>
          <p:cNvPr id="9" name="text-8-    # safe_c">
            <a:extLst xmlns:a="http://schemas.openxmlformats.org/drawingml/2006/main">
              <a:ext uri="{FF2B5EF4-FFF2-40B4-BE49-F238E27FC236}">
                <a16:creationId xmlns:a16="http://schemas.microsoft.com/office/drawing/2014/main" id="{7DBF1467-FD45-49FA-9F80-DF5CBBB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safe_call 对每个工具 / 模型调用执行以下约束</a:t>
            </a:r>
          </a:p>
        </p:txBody>
      </p:sp>
      <p:sp>
        <p:nvSpPr>
          <p:cNvPr id="10" name="text-9-    # 调用前预留预">
            <a:extLst xmlns:a="http://schemas.openxmlformats.org/drawingml/2006/main">
              <a:ext uri="{FF2B5EF4-FFF2-40B4-BE49-F238E27FC236}">
                <a16:creationId xmlns:a16="http://schemas.microsoft.com/office/drawing/2014/main" id="{40323E2E-E1E4-4A2C-874D-AB4E7F5A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调用前预留预算，设置截止时间，并传递取消信号</a:t>
            </a:r>
          </a:p>
        </p:txBody>
      </p:sp>
      <p:sp>
        <p:nvSpPr>
          <p:cNvPr id="11" name="text-10-    # 调用后登记真">
            <a:extLst xmlns:a="http://schemas.openxmlformats.org/drawingml/2006/main">
              <a:ext uri="{FF2B5EF4-FFF2-40B4-BE49-F238E27FC236}">
                <a16:creationId xmlns:a16="http://schemas.microsoft.com/office/drawing/2014/main" id="{2912E421-3C8E-4016-A990-D2B1F55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调用后登记真实消耗，超时或故障返回异常</a:t>
            </a:r>
          </a:p>
        </p:txBody>
      </p:sp>
      <p:sp>
        <p:nvSpPr>
          <p:cNvPr id="12" name="text-11-    # verify">
            <a:extLst xmlns:a="http://schemas.openxmlformats.org/drawingml/2006/main">
              <a:ext uri="{FF2B5EF4-FFF2-40B4-BE49-F238E27FC236}">
                <a16:creationId xmlns:a16="http://schemas.microsoft.com/office/drawing/2014/main" id="{683208CE-B0A0-44B0-A0DF-06EF553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verify 必须输出通过、失败或未知及对应证据</a:t>
            </a:r>
          </a:p>
        </p:txBody>
      </p:sp>
      <p:sp>
        <p:nvSpPr>
          <p:cNvPr id="13" name="text-12-    return {">
            <a:extLst xmlns:a="http://schemas.openxmlformats.org/drawingml/2006/main">
              <a:ext uri="{FF2B5EF4-FFF2-40B4-BE49-F238E27FC236}">
                <a16:creationId xmlns:a16="http://schemas.microsoft.com/office/drawing/2014/main" id="{5640DBAF-7CF2-4439-BFB2-B2EA8C82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return {work, verdict}            # 返回可审计结果</a:t>
            </a:r>
          </a:p>
        </p:txBody>
      </p:sp>
    </p:spTree>
    <p:extLst>
      <p:ext uri="{BB962C8B-B14F-4D97-AF65-F5344CB8AC3E}">
        <p14:creationId xmlns:p14="http://schemas.microsoft.com/office/powerpoint/2010/main" val="13379680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伪代码：状态与停止决策">
            <a:extLst xmlns:a="http://schemas.openxmlformats.org/drawingml/2006/main">
              <a:ext uri="{FF2B5EF4-FFF2-40B4-BE49-F238E27FC236}">
                <a16:creationId xmlns:a16="http://schemas.microsoft.com/office/drawing/2014/main" id="{554C30B7-A142-4BB9-8B6E-2004C943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伪代码：状态与停止决策</a:t>
            </a:r>
          </a:p>
        </p:txBody>
      </p:sp>
      <p:sp>
        <p:nvSpPr>
          <p:cNvPr id="2" name="text-1-3 / 3  每种结局都">
            <a:extLst xmlns:a="http://schemas.openxmlformats.org/drawingml/2006/main">
              <a:ext uri="{FF2B5EF4-FFF2-40B4-BE49-F238E27FC236}">
                <a16:creationId xmlns:a16="http://schemas.microsoft.com/office/drawing/2014/main" id="{DACD6885-3217-409D-B09A-4F7FEB3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3 / 3  每种结局都保留恢复入口</a:t>
            </a:r>
          </a:p>
        </p:txBody>
      </p:sp>
      <p:sp>
        <p:nvSpPr>
          <p:cNvPr id="3" name="text-2-13">
            <a:extLst xmlns:a="http://schemas.openxmlformats.org/drawingml/2006/main">
              <a:ext uri="{FF2B5EF4-FFF2-40B4-BE49-F238E27FC236}">
                <a16:creationId xmlns:a16="http://schemas.microsoft.com/office/drawing/2014/main" id="{9501AB8E-6FEC-46CC-86F6-53C5EBAF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-    state = ">
            <a:extLst xmlns:a="http://schemas.openxmlformats.org/drawingml/2006/main">
              <a:ext uri="{FF2B5EF4-FFF2-40B4-BE49-F238E27FC236}">
                <a16:creationId xmlns:a16="http://schemas.microsoft.com/office/drawing/2014/main" id="{56E40E0D-50BB-4665-A5DF-3F11DC9C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state = merge(state, result, attempt)  # 登记证据与轮次</a:t>
            </a:r>
          </a:p>
        </p:txBody>
      </p:sp>
      <p:sp>
        <p:nvSpPr>
          <p:cNvPr id="5" name="text-4-    atomic_s">
            <a:extLst xmlns:a="http://schemas.openxmlformats.org/drawingml/2006/main">
              <a:ext uri="{FF2B5EF4-FFF2-40B4-BE49-F238E27FC236}">
                <a16:creationId xmlns:a16="http://schemas.microsoft.com/office/drawing/2014/main" id="{B9491715-CC03-4572-A160-7999B5D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atomic_save(state)                    # 临时文件后替换</a:t>
            </a:r>
          </a:p>
        </p:txBody>
      </p:sp>
      <p:sp>
        <p:nvSpPr>
          <p:cNvPr id="6" name="text-5-    if accep">
            <a:extLst xmlns:a="http://schemas.openxmlformats.org/drawingml/2006/main">
              <a:ext uri="{FF2B5EF4-FFF2-40B4-BE49-F238E27FC236}">
                <a16:creationId xmlns:a16="http://schemas.microsoft.com/office/drawing/2014/main" id="{96C8F33C-262A-4273-90F8-EFFDA79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accepts(result, accept):           # 必需验收全部通过</a:t>
            </a:r>
          </a:p>
        </p:txBody>
      </p:sp>
      <p:sp>
        <p:nvSpPr>
          <p:cNvPr id="7" name="text-6-        retu">
            <a:extLst xmlns:a="http://schemas.openxmlformats.org/drawingml/2006/main">
              <a:ext uri="{FF2B5EF4-FFF2-40B4-BE49-F238E27FC236}">
                <a16:creationId xmlns:a16="http://schemas.microsoft.com/office/drawing/2014/main" id="{6A993FA0-A15C-4F05-8F8F-6ACA1547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stop_and_save(SUCCESS, state)</a:t>
            </a:r>
          </a:p>
        </p:txBody>
      </p:sp>
      <p:sp>
        <p:nvSpPr>
          <p:cNvPr id="8" name="text-7-    if resul">
            <a:extLst xmlns:a="http://schemas.openxmlformats.org/drawingml/2006/main">
              <a:ext uri="{FF2B5EF4-FFF2-40B4-BE49-F238E27FC236}">
                <a16:creationId xmlns:a16="http://schemas.microsoft.com/office/drawing/2014/main" id="{961D576D-2E55-4422-8C92-E4441E81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result.verdict == UNKNOWN:         # 未执行不能算通过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E1013975-5D61-49F0-A15A-C4D30BE0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state)</a:t>
            </a:r>
          </a:p>
        </p:txBody>
      </p:sp>
      <p:sp>
        <p:nvSpPr>
          <p:cNvPr id="10" name="text-9-    if no_pr">
            <a:extLst xmlns:a="http://schemas.openxmlformats.org/drawingml/2006/main">
              <a:ext uri="{FF2B5EF4-FFF2-40B4-BE49-F238E27FC236}">
                <a16:creationId xmlns:a16="http://schemas.microsoft.com/office/drawing/2014/main" id="{C2BEB03F-155F-4D98-B043-63C0D51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no_progress(state):                # 相同失败持续出现</a:t>
            </a:r>
          </a:p>
        </p:txBody>
      </p:sp>
      <p:sp>
        <p:nvSpPr>
          <p:cNvPr id="11" name="text-10-        retu">
            <a:extLst xmlns:a="http://schemas.openxmlformats.org/drawingml/2006/main">
              <a:ext uri="{FF2B5EF4-FFF2-40B4-BE49-F238E27FC236}">
                <a16:creationId xmlns:a16="http://schemas.microsoft.com/office/drawing/2014/main" id="{C04F1CA2-424F-4A90-B80B-1408EC1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stop_and_save(STALLED, state)</a:t>
            </a:r>
          </a:p>
        </p:txBody>
      </p:sp>
      <p:sp>
        <p:nvSpPr>
          <p:cNvPr id="12" name="text-11-    # 否则把失败证">
            <a:extLst xmlns:a="http://schemas.openxmlformats.org/drawingml/2006/main">
              <a:ext uri="{FF2B5EF4-FFF2-40B4-BE49-F238E27FC236}">
                <a16:creationId xmlns:a16="http://schemas.microsoft.com/office/drawing/2014/main" id="{F2677787-AEE3-4F3E-A7D2-8CDF9F59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否则把失败证据带入下一轮计划</a:t>
            </a:r>
          </a:p>
        </p:txBody>
      </p:sp>
      <p:sp>
        <p:nvSpPr>
          <p:cNvPr id="13" name="text-12-return stop_">
            <a:extLst xmlns:a="http://schemas.openxmlformats.org/drawingml/2006/main">
              <a:ext uri="{FF2B5EF4-FFF2-40B4-BE49-F238E27FC236}">
                <a16:creationId xmlns:a16="http://schemas.microsoft.com/office/drawing/2014/main" id="{16FF93CF-C9ED-4D52-98F8-7FE2289F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return stop_and_save(BUDGET, state)        # 轮次耗尽也保存</a:t>
            </a:r>
          </a:p>
        </p:txBody>
      </p:sp>
      <p:sp>
        <p:nvSpPr>
          <p:cNvPr id="14" name="text-13-# stop_and_s">
            <a:extLst xmlns:a="http://schemas.openxmlformats.org/drawingml/2006/main">
              <a:ext uri="{FF2B5EF4-FFF2-40B4-BE49-F238E27FC236}">
                <a16:creationId xmlns:a16="http://schemas.microsoft.com/office/drawing/2014/main" id="{AB63E6A8-6A00-4EB8-B2B6-4F8D6214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stop_and_save：原子落盘 + 结果摘要 + 下一步建议</a:t>
            </a:r>
          </a:p>
        </p:txBody>
      </p:sp>
    </p:spTree>
    <p:extLst>
      <p:ext uri="{BB962C8B-B14F-4D97-AF65-F5344CB8AC3E}">
        <p14:creationId xmlns:p14="http://schemas.microsoft.com/office/powerpoint/2010/main" val="8563240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案例：UART 流式">
            <a:extLst xmlns:a="http://schemas.openxmlformats.org/drawingml/2006/main">
              <a:ext uri="{FF2B5EF4-FFF2-40B4-BE49-F238E27FC236}">
                <a16:creationId xmlns:a16="http://schemas.microsoft.com/office/drawing/2014/main" id="{DB363710-DCD6-4F67-9723-871FA85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教学案例：UART 流式协议解析</a:t>
            </a:r>
          </a:p>
        </p:txBody>
      </p:sp>
      <p:sp>
        <p:nvSpPr>
          <p:cNvPr id="2" name="text-1-目标：在固定协议规则下正">
            <a:extLst xmlns:a="http://schemas.openxmlformats.org/drawingml/2006/main">
              <a:ext uri="{FF2B5EF4-FFF2-40B4-BE49-F238E27FC236}">
                <a16:creationId xmlns:a16="http://schemas.microsoft.com/office/drawing/2014/main" id="{43E8911B-5CDA-44B4-A5E0-C013E80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目标：在固定协议规则下正确处理分片与粘包</a:t>
            </a:r>
          </a:p>
        </p:txBody>
      </p:sp>
      <p:sp>
        <p:nvSpPr>
          <p:cNvPr id="3" name="text-2-14">
            <a:extLst xmlns:a="http://schemas.openxmlformats.org/drawingml/2006/main">
              <a:ext uri="{FF2B5EF4-FFF2-40B4-BE49-F238E27FC236}">
                <a16:creationId xmlns:a16="http://schemas.microsoft.com/office/drawing/2014/main" id="{8064418F-0800-4A82-9632-BAE49D1E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本次约束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输入格式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字节同步头 + 长度 + 载荷 + 2 字节 CRC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分片帧等待后续字节，连续完整帧逐个输出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拒绝长度越界与 CRC 错误，按规格恢复同步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固定用例通过，构建通过，相关回归无新增失败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限定解析模块，保持既有协议与接口不变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CRC 参数、">
            <a:extLst xmlns:a="http://schemas.openxmlformats.org/drawingml/2006/main">
              <a:ext uri="{FF2B5EF4-FFF2-40B4-BE49-F238E27FC236}">
                <a16:creationId xmlns:a16="http://schemas.microsoft.com/office/drawing/2014/main" id="{1A5109A2-614C-4C83-BC67-84F42FC7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教学假设：CRC 参数、字节序与最大载荷由协议规格锁定。</a:t>
            </a:r>
          </a:p>
        </p:txBody>
      </p:sp>
    </p:spTree>
    <p:extLst>
      <p:ext uri="{BB962C8B-B14F-4D97-AF65-F5344CB8AC3E}">
        <p14:creationId xmlns:p14="http://schemas.microsoft.com/office/powerpoint/2010/main" val="1885841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推演：失败如何推动下">
            <a:extLst xmlns:a="http://schemas.openxmlformats.org/drawingml/2006/main">
              <a:ext uri="{FF2B5EF4-FFF2-40B4-BE49-F238E27FC236}">
                <a16:creationId xmlns:a16="http://schemas.microsoft.com/office/drawing/2014/main" id="{AB88878A-237C-445F-A7F9-B6F427D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教学推演：失败如何推动下一轮</a:t>
            </a:r>
          </a:p>
        </p:txBody>
      </p:sp>
      <p:sp>
        <p:nvSpPr>
          <p:cNvPr id="2" name="text-1-以下是预设场景，展示决策">
            <a:extLst xmlns:a="http://schemas.openxmlformats.org/drawingml/2006/main">
              <a:ext uri="{FF2B5EF4-FFF2-40B4-BE49-F238E27FC236}">
                <a16:creationId xmlns:a16="http://schemas.microsoft.com/office/drawing/2014/main" id="{447CEE4B-7BD0-46B9-B5DE-6AF974BA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以下是预设场景，展示决策逻辑，不代表实测结果</a:t>
            </a:r>
          </a:p>
        </p:txBody>
      </p:sp>
      <p:sp>
        <p:nvSpPr>
          <p:cNvPr id="3" name="text-2-15">
            <a:extLst xmlns:a="http://schemas.openxmlformats.org/drawingml/2006/main">
              <a:ext uri="{FF2B5EF4-FFF2-40B4-BE49-F238E27FC236}">
                <a16:creationId xmlns:a16="http://schemas.microsoft.com/office/drawing/2014/main" id="{7FA7C8F9-1EB3-4BA5-8ED3-27B2B35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048000"/>
                <a:gridCol w="3429000"/>
                <a:gridCol w="3543300"/>
              </a:tblGrid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发现的失败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最小修正方向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下一轮证据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半帧被提前消费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保留未完成帧字节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分片用例结果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连续两帧只输出一帧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处理完后继续解析缓冲区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粘包与原有回归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异常长度导致越界风险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检查长度并按规格重同步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边界、CRC 与完整回归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每轮输出：代码差异、用例">
            <a:extLst xmlns:a="http://schemas.openxmlformats.org/drawingml/2006/main">
              <a:ext uri="{FF2B5EF4-FFF2-40B4-BE49-F238E27FC236}">
                <a16:creationId xmlns:a16="http://schemas.microsoft.com/office/drawing/2014/main" id="{97D76CDA-3255-4595-86C7-63E106EB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每轮输出：代码差异、用例结果、失败特征与下一步。</a:t>
            </a:r>
          </a:p>
        </p:txBody>
      </p:sp>
    </p:spTree>
    <p:extLst>
      <p:ext uri="{BB962C8B-B14F-4D97-AF65-F5344CB8AC3E}">
        <p14:creationId xmlns:p14="http://schemas.microsoft.com/office/powerpoint/2010/main" val="30567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-FreeRTOS 与板端">
            <a:extLst xmlns:a="http://schemas.openxmlformats.org/drawingml/2006/main">
              <a:ext uri="{FF2B5EF4-FFF2-40B4-BE49-F238E27FC236}">
                <a16:creationId xmlns:a16="http://schemas.microsoft.com/office/drawing/2014/main" id="{6A767500-4C3D-4881-943F-2E866236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FreeRTOS 与板端验证边界</a:t>
            </a:r>
          </a:p>
        </p:txBody>
      </p:sp>
      <p:sp>
        <p:nvSpPr>
          <p:cNvPr id="2" name="text-1-主机验证和系统验证覆盖不">
            <a:extLst xmlns:a="http://schemas.openxmlformats.org/drawingml/2006/main">
              <a:ext uri="{FF2B5EF4-FFF2-40B4-BE49-F238E27FC236}">
                <a16:creationId xmlns:a16="http://schemas.microsoft.com/office/drawing/2014/main" id="{61A84238-4708-4368-B109-45CDDD9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主机验证和系统验证覆盖不同问题</a:t>
            </a:r>
          </a:p>
        </p:txBody>
      </p:sp>
      <p:sp>
        <p:nvSpPr>
          <p:cNvPr id="3" name="text-2-16">
            <a:extLst xmlns:a="http://schemas.openxmlformats.org/drawingml/2006/main">
              <a:ext uri="{FF2B5EF4-FFF2-40B4-BE49-F238E27FC236}">
                <a16:creationId xmlns:a16="http://schemas.microsoft.com/office/drawing/2014/main" id="{EA91637A-9F85-4667-95F3-BABADFA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3-主机侧可快速闭环">
            <a:extLst xmlns:a="http://schemas.openxmlformats.org/drawingml/2006/main">
              <a:ext uri="{FF2B5EF4-FFF2-40B4-BE49-F238E27FC236}">
                <a16:creationId xmlns:a16="http://schemas.microsoft.com/office/drawing/2014/main" id="{C685A498-5BD9-4420-897B-62CF06BB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主机侧可快速闭环</a:t>
            </a:r>
          </a:p>
        </p:txBody>
      </p:sp>
      <p:sp>
        <p:nvSpPr>
          <p:cNvPr id="5" name="text-4-分片、粘包与非法输入&#10;内">
            <a:extLst xmlns:a="http://schemas.openxmlformats.org/drawingml/2006/main">
              <a:ext uri="{FF2B5EF4-FFF2-40B4-BE49-F238E27FC236}">
                <a16:creationId xmlns:a16="http://schemas.microsoft.com/office/drawing/2014/main" id="{D3ADCA14-1BB2-4F60-AE4F-1F82083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分片、粘包与非法输入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内存边界与协议回归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构建与静态检查</a:t>
            </a:r>
          </a:p>
        </p:txBody>
      </p:sp>
      <p:sp>
        <p:nvSpPr>
          <p:cNvPr id="6" name="text-5-板端需补充真实证据">
            <a:extLst xmlns:a="http://schemas.openxmlformats.org/drawingml/2006/main">
              <a:ext uri="{FF2B5EF4-FFF2-40B4-BE49-F238E27FC236}">
                <a16:creationId xmlns:a16="http://schemas.microsoft.com/office/drawing/2014/main" id="{08609FB3-F623-4CA0-ABA2-34B2333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板端需补充真实证据</a:t>
            </a:r>
          </a:p>
        </p:txBody>
      </p:sp>
      <p:sp>
        <p:nvSpPr>
          <p:cNvPr id="7" name="text-6-中断与任务之间的交接&#10;D">
            <a:extLst xmlns:a="http://schemas.openxmlformats.org/drawingml/2006/main">
              <a:ext uri="{FF2B5EF4-FFF2-40B4-BE49-F238E27FC236}">
                <a16:creationId xmlns:a16="http://schemas.microsoft.com/office/drawing/2014/main" id="{D6C57B15-320E-423C-B14A-006A5FCE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中断与任务之间的交接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DMA / 缓冲区并发行为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复位恢复、吞吐与时序</a:t>
            </a:r>
          </a:p>
        </p:txBody>
      </p:sp>
      <p:sp>
        <p:nvSpPr>
          <p:cNvPr id="8" name="text-7-设备不可用 → 保存软件">
            <a:extLst xmlns:a="http://schemas.openxmlformats.org/drawingml/2006/main">
              <a:ext uri="{FF2B5EF4-FFF2-40B4-BE49-F238E27FC236}">
                <a16:creationId xmlns:a16="http://schemas.microsoft.com/office/drawing/2014/main" id="{BF032D40-4935-4081-A519-0296CB28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91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设备不可用 → 保存软件证据与板端待办 → 交还人工恢复条件</a:t>
            </a:r>
          </a:p>
        </p:txBody>
      </p:sp>
    </p:spTree>
    <p:extLst>
      <p:ext uri="{BB962C8B-B14F-4D97-AF65-F5344CB8AC3E}">
        <p14:creationId xmlns:p14="http://schemas.microsoft.com/office/powerpoint/2010/main" val="21060967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成本来自重复读取与重复尝">
            <a:extLst xmlns:a="http://schemas.openxmlformats.org/drawingml/2006/main">
              <a:ext uri="{FF2B5EF4-FFF2-40B4-BE49-F238E27FC236}">
                <a16:creationId xmlns:a16="http://schemas.microsoft.com/office/drawing/2014/main" id="{5AA6137C-41F7-439D-917F-4FBA2A8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成本来自重复读取与重复尝试</a:t>
            </a:r>
          </a:p>
        </p:txBody>
      </p:sp>
      <p:sp>
        <p:nvSpPr>
          <p:cNvPr id="2" name="text-1-用每个验收通过结果的总成">
            <a:extLst xmlns:a="http://schemas.openxmlformats.org/drawingml/2006/main">
              <a:ext uri="{FF2B5EF4-FFF2-40B4-BE49-F238E27FC236}">
                <a16:creationId xmlns:a16="http://schemas.microsoft.com/office/drawing/2014/main" id="{6B27C146-AFEF-4F04-858B-2233C613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用每个验收通过结果的总成本评估收益</a:t>
            </a:r>
          </a:p>
        </p:txBody>
      </p:sp>
      <p:sp>
        <p:nvSpPr>
          <p:cNvPr id="3" name="text-2-17">
            <a:extLst xmlns:a="http://schemas.openxmlformats.org/drawingml/2006/main">
              <a:ext uri="{FF2B5EF4-FFF2-40B4-BE49-F238E27FC236}">
                <a16:creationId xmlns:a16="http://schemas.microsoft.com/office/drawing/2014/main" id="{EDF8D571-6835-43A2-BB0E-9FE93C45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5353050"/>
                <a:gridCol w="2476500"/>
              </a:tblGrid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输入上下文策略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→ 5 次调用，千 token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累计输入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逐轮保留新增历史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12 / 16 / 20 / 24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固定摘要预算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/ 8 / 8 / 8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5 次调用，仅">
            <a:extLst xmlns:a="http://schemas.openxmlformats.org/drawingml/2006/main">
              <a:ext uri="{FF2B5EF4-FFF2-40B4-BE49-F238E27FC236}">
                <a16:creationId xmlns:a16="http://schemas.microsoft.com/office/drawing/2014/main" id="{3369B26C-B2B8-4392-B29E-1B0313C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91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教学假设：5 次调用，仅计算输入，不含缓存、输出与工具。</a:t>
            </a:r>
          </a:p>
        </p:txBody>
      </p:sp>
      <p:sp>
        <p:nvSpPr>
          <p:cNvPr id="6" name="text-4-单位验收成本 =（模型 ">
            <a:extLst xmlns:a="http://schemas.openxmlformats.org/drawingml/2006/main">
              <a:ext uri="{FF2B5EF4-FFF2-40B4-BE49-F238E27FC236}">
                <a16:creationId xmlns:a16="http://schemas.microsoft.com/office/drawing/2014/main" id="{32D1E079-DA7E-4900-B4CC-EA9C9045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单位验收成本 =（模型 + 工具 + 人工复核成本）÷ 验收通过数</a:t>
            </a:r>
          </a:p>
        </p:txBody>
      </p:sp>
    </p:spTree>
    <p:extLst>
      <p:ext uri="{BB962C8B-B14F-4D97-AF65-F5344CB8AC3E}">
        <p14:creationId xmlns:p14="http://schemas.microsoft.com/office/powerpoint/2010/main" val="8324243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常见失败模式与处理">
            <a:extLst xmlns:a="http://schemas.openxmlformats.org/drawingml/2006/main">
              <a:ext uri="{FF2B5EF4-FFF2-40B4-BE49-F238E27FC236}">
                <a16:creationId xmlns:a16="http://schemas.microsoft.com/office/drawing/2014/main" id="{D6C12BB8-20EE-4E69-BBED-9F52A14E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常见失败模式与处理</a:t>
            </a:r>
          </a:p>
        </p:txBody>
      </p:sp>
      <p:sp>
        <p:nvSpPr>
          <p:cNvPr id="2" name="text-1-把失败原因转成下一步动作">
            <a:extLst xmlns:a="http://schemas.openxmlformats.org/drawingml/2006/main">
              <a:ext uri="{FF2B5EF4-FFF2-40B4-BE49-F238E27FC236}">
                <a16:creationId xmlns:a16="http://schemas.microsoft.com/office/drawing/2014/main" id="{AA30D13D-87CB-42BD-80E9-E3D6148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把失败原因转成下一步动作</a:t>
            </a:r>
          </a:p>
        </p:txBody>
      </p:sp>
      <p:sp>
        <p:nvSpPr>
          <p:cNvPr id="3" name="text-2-18">
            <a:extLst xmlns:a="http://schemas.openxmlformats.org/drawingml/2006/main">
              <a:ext uri="{FF2B5EF4-FFF2-40B4-BE49-F238E27FC236}">
                <a16:creationId xmlns:a16="http://schemas.microsoft.com/office/drawing/2014/main" id="{F6EDB4BF-A320-4B1E-802E-2B6BCE5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524375"/>
                <a:gridCol w="4067175"/>
              </a:tblGrid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自证成功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模型说完成，测试没有执行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强制读取外部检查结果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假进展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反复改同一位置，失败未变化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无进展计数与人工升级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验收漂移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删用例、放宽阈值后变绿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固定验收版本并审查变更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状态过期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新产物沿用旧报告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证据绑定版本，恢复时重核对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重复副作用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同一任务重复创建结果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幂等标识、隔离与单任务锁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769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落地顺序">
            <a:extLst xmlns:a="http://schemas.openxmlformats.org/drawingml/2006/main">
              <a:ext uri="{FF2B5EF4-FFF2-40B4-BE49-F238E27FC236}">
                <a16:creationId xmlns:a16="http://schemas.microsoft.com/office/drawing/2014/main" id="{CA1FC819-AE2B-4604-8267-1CA1716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落地顺序</a:t>
            </a:r>
          </a:p>
        </p:txBody>
      </p:sp>
      <p:sp>
        <p:nvSpPr>
          <p:cNvPr id="2" name="text-1-先稳定一个小任务，再把可">
            <a:extLst xmlns:a="http://schemas.openxmlformats.org/drawingml/2006/main">
              <a:ext uri="{FF2B5EF4-FFF2-40B4-BE49-F238E27FC236}">
                <a16:creationId xmlns:a16="http://schemas.microsoft.com/office/drawing/2014/main" id="{1F118A28-E8A3-4A93-89C2-2A0CFD3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先稳定一个小任务，再把可靠做法固化</a:t>
            </a:r>
          </a:p>
        </p:txBody>
      </p:sp>
      <p:sp>
        <p:nvSpPr>
          <p:cNvPr id="3" name="text-2-19">
            <a:extLst xmlns:a="http://schemas.openxmlformats.org/drawingml/2006/main">
              <a:ext uri="{FF2B5EF4-FFF2-40B4-BE49-F238E27FC236}">
                <a16:creationId xmlns:a16="http://schemas.microsoft.com/office/drawing/2014/main" id="{D4FCB7DC-F0D7-4731-BC7E-0A1B36F5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4E34913A-F758-4FB3-BE29-5064A271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跑通一次人工流程">
            <a:extLst xmlns:a="http://schemas.openxmlformats.org/drawingml/2006/main">
              <a:ext uri="{FF2B5EF4-FFF2-40B4-BE49-F238E27FC236}">
                <a16:creationId xmlns:a16="http://schemas.microsoft.com/office/drawing/2014/main" id="{552D76EA-D575-4BAE-BA1B-FBD0FDC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97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跑通一次人工流程</a:t>
            </a:r>
          </a:p>
        </p:txBody>
      </p:sp>
      <p:sp>
        <p:nvSpPr>
          <p:cNvPr id="6" name="text-5-明确输入、工具、验收和输">
            <a:extLst xmlns:a="http://schemas.openxmlformats.org/drawingml/2006/main">
              <a:ext uri="{FF2B5EF4-FFF2-40B4-BE49-F238E27FC236}">
                <a16:creationId xmlns:a16="http://schemas.microsoft.com/office/drawing/2014/main" id="{AD5F99FA-2577-4E6D-A6DA-A14AF4CF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479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明确输入、工具、验收和输出证据。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BDABB238-38F1-42C4-908B-2AC1C82D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固化为 Skill">
            <a:extLst xmlns:a="http://schemas.openxmlformats.org/drawingml/2006/main">
              <a:ext uri="{FF2B5EF4-FFF2-40B4-BE49-F238E27FC236}">
                <a16:creationId xmlns:a16="http://schemas.microsoft.com/office/drawing/2014/main" id="{B904A160-1FDE-4F54-A124-142A866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固化为 Skill</a:t>
            </a:r>
          </a:p>
        </p:txBody>
      </p:sp>
      <p:sp>
        <p:nvSpPr>
          <p:cNvPr id="9" name="text-8-保存步骤、约束和失败处理">
            <a:extLst xmlns:a="http://schemas.openxmlformats.org/drawingml/2006/main">
              <a:ext uri="{FF2B5EF4-FFF2-40B4-BE49-F238E27FC236}">
                <a16:creationId xmlns:a16="http://schemas.microsoft.com/office/drawing/2014/main" id="{A2EB979E-3DC4-44B9-88D9-1370A7D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29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保存步骤、约束和失败处理方法。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C535E79C-661B-44A5-A567-F0E9743F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加入有限闭环">
            <a:extLst xmlns:a="http://schemas.openxmlformats.org/drawingml/2006/main">
              <a:ext uri="{FF2B5EF4-FFF2-40B4-BE49-F238E27FC236}">
                <a16:creationId xmlns:a16="http://schemas.microsoft.com/office/drawing/2014/main" id="{24BB7DF8-E3AA-4934-B1A1-A9435D0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加入有限闭环</a:t>
            </a:r>
          </a:p>
        </p:txBody>
      </p:sp>
      <p:sp>
        <p:nvSpPr>
          <p:cNvPr id="12" name="text-11-补上验证、状态、预算与人">
            <a:extLst xmlns:a="http://schemas.openxmlformats.org/drawingml/2006/main">
              <a:ext uri="{FF2B5EF4-FFF2-40B4-BE49-F238E27FC236}">
                <a16:creationId xmlns:a16="http://schemas.microsoft.com/office/drawing/2014/main" id="{2D7576D9-7CB5-4DBA-BEF8-920C33F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00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补上验证、状态、预算与人工接手。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8ADBE8D4-749F-4F6C-9B09-1BF35D0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最后接入调度">
            <a:extLst xmlns:a="http://schemas.openxmlformats.org/drawingml/2006/main">
              <a:ext uri="{FF2B5EF4-FFF2-40B4-BE49-F238E27FC236}">
                <a16:creationId xmlns:a16="http://schemas.microsoft.com/office/drawing/2014/main" id="{7F5EA7AC-9B47-4AC2-8B25-8B24F2B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最后接入调度</a:t>
            </a:r>
          </a:p>
        </p:txBody>
      </p:sp>
      <p:sp>
        <p:nvSpPr>
          <p:cNvPr id="15" name="text-14-观察验收成本与失败原因，">
            <a:extLst xmlns:a="http://schemas.openxmlformats.org/drawingml/2006/main">
              <a:ext uri="{FF2B5EF4-FFF2-40B4-BE49-F238E27FC236}">
                <a16:creationId xmlns:a16="http://schemas.microsoft.com/office/drawing/2014/main" id="{FA4F157E-49E0-4A99-9BC5-61556BF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9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观察验收成本与失败原因，再扩大范围。</a:t>
            </a:r>
          </a:p>
        </p:txBody>
      </p:sp>
    </p:spTree>
    <p:extLst>
      <p:ext uri="{BB962C8B-B14F-4D97-AF65-F5344CB8AC3E}">
        <p14:creationId xmlns:p14="http://schemas.microsoft.com/office/powerpoint/2010/main" val="2905620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-下一步：选择一个可验证的">
            <a:extLst xmlns:a="http://schemas.openxmlformats.org/drawingml/2006/main">
              <a:ext uri="{FF2B5EF4-FFF2-40B4-BE49-F238E27FC236}">
                <a16:creationId xmlns:a16="http://schemas.microsoft.com/office/drawing/2014/main" id="{7AC88046-B972-4314-BB08-B70E391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下一步：选择一个可验证的小任务</a:t>
            </a:r>
          </a:p>
        </p:txBody>
      </p:sp>
      <p:sp>
        <p:nvSpPr>
          <p:cNvPr id="2" name="text-1-把闭环规格写清，再让 A">
            <a:extLst xmlns:a="http://schemas.openxmlformats.org/drawingml/2006/main">
              <a:ext uri="{FF2B5EF4-FFF2-40B4-BE49-F238E27FC236}">
                <a16:creationId xmlns:a16="http://schemas.microsoft.com/office/drawing/2014/main" id="{EEFEE987-BD4D-4C9E-9FE4-A10B92F4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把闭环规格写清，再让 Agent 开始执行</a:t>
            </a:r>
          </a:p>
        </p:txBody>
      </p:sp>
      <p:sp>
        <p:nvSpPr>
          <p:cNvPr id="3" name="text-2-20">
            <a:extLst xmlns:a="http://schemas.openxmlformats.org/drawingml/2006/main">
              <a:ext uri="{FF2B5EF4-FFF2-40B4-BE49-F238E27FC236}">
                <a16:creationId xmlns:a16="http://schemas.microsoft.com/office/drawing/2014/main" id="{D487FE41-903F-4FA0-B7F0-04B00A9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3-完成凭什么判断？">
            <a:extLst xmlns:a="http://schemas.openxmlformats.org/drawingml/2006/main">
              <a:ext uri="{FF2B5EF4-FFF2-40B4-BE49-F238E27FC236}">
                <a16:creationId xmlns:a16="http://schemas.microsoft.com/office/drawing/2014/main" id="{F1E92B3F-179C-4EBC-AC12-83E6D93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完成凭什么判断？</a:t>
            </a:r>
          </a:p>
        </p:txBody>
      </p:sp>
      <p:sp>
        <p:nvSpPr>
          <p:cNvPr id="5" name="text-4-失败之后如何变化？">
            <a:extLst xmlns:a="http://schemas.openxmlformats.org/drawingml/2006/main">
              <a:ext uri="{FF2B5EF4-FFF2-40B4-BE49-F238E27FC236}">
                <a16:creationId xmlns:a16="http://schemas.microsoft.com/office/drawing/2014/main" id="{06EA58B5-2DF7-4098-B765-1080F2B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失败之后如何变化？</a:t>
            </a:r>
          </a:p>
        </p:txBody>
      </p:sp>
      <p:sp>
        <p:nvSpPr>
          <p:cNvPr id="6" name="text-5-什么时候必须停？">
            <a:extLst xmlns:a="http://schemas.openxmlformats.org/drawingml/2006/main">
              <a:ext uri="{FF2B5EF4-FFF2-40B4-BE49-F238E27FC236}">
                <a16:creationId xmlns:a16="http://schemas.microsoft.com/office/drawing/2014/main" id="{CFFB5A9C-CCF8-4CC4-82AD-81BDE2C8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什么时候必须停？</a:t>
            </a:r>
          </a:p>
        </p:txBody>
      </p:sp>
      <p:sp>
        <p:nvSpPr>
          <p:cNvPr id="7" name="text-6-交付目标：一个任务契约、">
            <a:extLst xmlns:a="http://schemas.openxmlformats.org/drawingml/2006/main">
              <a:ext uri="{FF2B5EF4-FFF2-40B4-BE49-F238E27FC236}">
                <a16:creationId xmlns:a16="http://schemas.microsoft.com/office/drawing/2014/main" id="{54EE10CB-824C-4D99-9AFB-737BCD5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864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交付目标：一个任务契约、一条证据链、一个可恢复的闭环。</a:t>
            </a:r>
          </a:p>
        </p:txBody>
      </p:sp>
    </p:spTree>
    <p:extLst>
      <p:ext uri="{BB962C8B-B14F-4D97-AF65-F5344CB8AC3E}">
        <p14:creationId xmlns:p14="http://schemas.microsoft.com/office/powerpoint/2010/main" val="1333922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2026-09-08T06:15:23.5990000Z</dcterms:created>
  <dcterms:modified xsi:type="dcterms:W3CDTF">2026-09-08T06:15:23.5990000Z</dcterms:modified>
</coreProperties>
</file>