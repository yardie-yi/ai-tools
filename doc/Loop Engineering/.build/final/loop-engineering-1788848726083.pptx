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dec2216a184cc4" /><Relationship Type="http://schemas.openxmlformats.org/officeDocument/2006/relationships/extended-properties" Target="/docProps/app.xml" Id="R9d5c5308ce9449f4" /><Relationship Type="http://schemas.openxmlformats.org/officeDocument/2006/relationships/officeDocument" Target="/ppt/presentation.xml" Id="Rdcdfbcdce6da4f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7818b07d54667"/>
  </p:sldMasterIdLst>
  <p:notesMasterIdLst>
    <p:notesMasterId xmlns:r="http://schemas.openxmlformats.org/officeDocument/2006/relationships" r:id="Rdf27db774e3b430d"/>
  </p:notesMasterIdLst>
  <p:sldIdLst>
    <p:sldId xmlns:r="http://schemas.openxmlformats.org/officeDocument/2006/relationships" id="256" r:id="Re41d75232c774485"/>
    <p:sldId xmlns:r="http://schemas.openxmlformats.org/officeDocument/2006/relationships" id="257" r:id="Rce6625e684794bef"/>
    <p:sldId xmlns:r="http://schemas.openxmlformats.org/officeDocument/2006/relationships" id="258" r:id="Rcf79cc6de1f14785"/>
    <p:sldId xmlns:r="http://schemas.openxmlformats.org/officeDocument/2006/relationships" id="259" r:id="Rf6a1272509a0450d"/>
    <p:sldId xmlns:r="http://schemas.openxmlformats.org/officeDocument/2006/relationships" id="260" r:id="R5542c703fe784a4d"/>
    <p:sldId xmlns:r="http://schemas.openxmlformats.org/officeDocument/2006/relationships" id="261" r:id="Rfb23c5d86f994fbb"/>
    <p:sldId xmlns:r="http://schemas.openxmlformats.org/officeDocument/2006/relationships" id="262" r:id="Rdb95ec3ab808447e"/>
    <p:sldId xmlns:r="http://schemas.openxmlformats.org/officeDocument/2006/relationships" id="263" r:id="R29f97d3a91d646be"/>
    <p:sldId xmlns:r="http://schemas.openxmlformats.org/officeDocument/2006/relationships" id="264" r:id="Rf9597eb02dbe480c"/>
    <p:sldId xmlns:r="http://schemas.openxmlformats.org/officeDocument/2006/relationships" id="265" r:id="R8c8e62c0423946ba"/>
    <p:sldId xmlns:r="http://schemas.openxmlformats.org/officeDocument/2006/relationships" id="266" r:id="R1527f52ae2d54774"/>
    <p:sldId xmlns:r="http://schemas.openxmlformats.org/officeDocument/2006/relationships" id="267" r:id="R960d744ca8134b20"/>
    <p:sldId xmlns:r="http://schemas.openxmlformats.org/officeDocument/2006/relationships" id="268" r:id="R4a81ad647c824164"/>
    <p:sldId xmlns:r="http://schemas.openxmlformats.org/officeDocument/2006/relationships" id="269" r:id="Rd2602a23c32e4e12"/>
    <p:sldId xmlns:r="http://schemas.openxmlformats.org/officeDocument/2006/relationships" id="270" r:id="R2a3c67bd38cd44f5"/>
    <p:sldId xmlns:r="http://schemas.openxmlformats.org/officeDocument/2006/relationships" id="271" r:id="R7a60af16dd6443fc"/>
    <p:sldId xmlns:r="http://schemas.openxmlformats.org/officeDocument/2006/relationships" id="272" r:id="R3182025234304bfd"/>
    <p:sldId xmlns:r="http://schemas.openxmlformats.org/officeDocument/2006/relationships" id="273" r:id="R96a93db492b94981"/>
    <p:sldId xmlns:r="http://schemas.openxmlformats.org/officeDocument/2006/relationships" id="274" r:id="R3773a1464e77480e"/>
    <p:sldId xmlns:r="http://schemas.openxmlformats.org/officeDocument/2006/relationships" id="275" r:id="Rc27bc9e97e264a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fd66779a7e460f" /><Relationship Type="http://schemas.openxmlformats.org/officeDocument/2006/relationships/slideMaster" Target="/ppt/slideMasters/slideMaster1.xml" Id="R6a67818b07d54667" /><Relationship Type="http://schemas.openxmlformats.org/officeDocument/2006/relationships/notesMaster" Target="/ppt/notesMasters/notesMaster1.xml" Id="Rdf27db774e3b430d" /><Relationship Type="http://schemas.openxmlformats.org/officeDocument/2006/relationships/presProps" Target="/ppt/presProps.xml" Id="R383549453dd54e49" /><Relationship Type="http://schemas.openxmlformats.org/officeDocument/2006/relationships/tableStyles" Target="/ppt/tableStyles.xml" Id="R78c42c63502a4012" /><Relationship Type="http://schemas.openxmlformats.org/officeDocument/2006/relationships/slide" Target="/ppt/slides/slide1.xml" Id="Re41d75232c774485" /><Relationship Type="http://schemas.openxmlformats.org/officeDocument/2006/relationships/slide" Target="/ppt/slides/slide2.xml" Id="Rce6625e684794bef" /><Relationship Type="http://schemas.openxmlformats.org/officeDocument/2006/relationships/slide" Target="/ppt/slides/slide3.xml" Id="Rcf79cc6de1f14785" /><Relationship Type="http://schemas.openxmlformats.org/officeDocument/2006/relationships/slide" Target="/ppt/slides/slide4.xml" Id="Rf6a1272509a0450d" /><Relationship Type="http://schemas.openxmlformats.org/officeDocument/2006/relationships/slide" Target="/ppt/slides/slide5.xml" Id="R5542c703fe784a4d" /><Relationship Type="http://schemas.openxmlformats.org/officeDocument/2006/relationships/slide" Target="/ppt/slides/slide6.xml" Id="Rfb23c5d86f994fbb" /><Relationship Type="http://schemas.openxmlformats.org/officeDocument/2006/relationships/slide" Target="/ppt/slides/slide7.xml" Id="Rdb95ec3ab808447e" /><Relationship Type="http://schemas.openxmlformats.org/officeDocument/2006/relationships/slide" Target="/ppt/slides/slide8.xml" Id="R29f97d3a91d646be" /><Relationship Type="http://schemas.openxmlformats.org/officeDocument/2006/relationships/slide" Target="/ppt/slides/slide9.xml" Id="Rf9597eb02dbe480c" /><Relationship Type="http://schemas.openxmlformats.org/officeDocument/2006/relationships/slide" Target="/ppt/slides/slide10.xml" Id="R8c8e62c0423946ba" /><Relationship Type="http://schemas.openxmlformats.org/officeDocument/2006/relationships/slide" Target="/ppt/slides/slide11.xml" Id="R1527f52ae2d54774" /><Relationship Type="http://schemas.openxmlformats.org/officeDocument/2006/relationships/slide" Target="/ppt/slides/slide12.xml" Id="R960d744ca8134b20" /><Relationship Type="http://schemas.openxmlformats.org/officeDocument/2006/relationships/slide" Target="/ppt/slides/slide13.xml" Id="R4a81ad647c824164" /><Relationship Type="http://schemas.openxmlformats.org/officeDocument/2006/relationships/slide" Target="/ppt/slides/slide14.xml" Id="Rd2602a23c32e4e12" /><Relationship Type="http://schemas.openxmlformats.org/officeDocument/2006/relationships/slide" Target="/ppt/slides/slide15.xml" Id="R2a3c67bd38cd44f5" /><Relationship Type="http://schemas.openxmlformats.org/officeDocument/2006/relationships/slide" Target="/ppt/slides/slide16.xml" Id="R7a60af16dd6443fc" /><Relationship Type="http://schemas.openxmlformats.org/officeDocument/2006/relationships/slide" Target="/ppt/slides/slide17.xml" Id="R3182025234304bfd" /><Relationship Type="http://schemas.openxmlformats.org/officeDocument/2006/relationships/slide" Target="/ppt/slides/slide18.xml" Id="R96a93db492b94981" /><Relationship Type="http://schemas.openxmlformats.org/officeDocument/2006/relationships/slide" Target="/ppt/slides/slide19.xml" Id="R3773a1464e77480e" /><Relationship Type="http://schemas.openxmlformats.org/officeDocument/2006/relationships/slide" Target="/ppt/slides/slide20.xml" Id="Rc27bc9e97e264a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c9e117e82f45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89c41f9ec54cc6" /><Relationship Type="http://schemas.openxmlformats.org/officeDocument/2006/relationships/notesMaster" Target="/ppt/notesMasters/notesMaster1.xml" Id="R38cfdc7a1a95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6e1ce6d1546e8" /><Relationship Type="http://schemas.openxmlformats.org/officeDocument/2006/relationships/notesMaster" Target="/ppt/notesMasters/notesMaster1.xml" Id="R96b04b92135f40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012a0b09e24f70" /><Relationship Type="http://schemas.openxmlformats.org/officeDocument/2006/relationships/notesMaster" Target="/ppt/notesMasters/notesMaster1.xml" Id="R19d86c4e1b5e4c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aaf339f5a40c9" /><Relationship Type="http://schemas.openxmlformats.org/officeDocument/2006/relationships/notesMaster" Target="/ppt/notesMasters/notesMaster1.xml" Id="R69c78f62f4234f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4a1ecebc054667" /><Relationship Type="http://schemas.openxmlformats.org/officeDocument/2006/relationships/notesMaster" Target="/ppt/notesMasters/notesMaster1.xml" Id="R0ab1c1ae548f40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e94ebcb1ff4669" /><Relationship Type="http://schemas.openxmlformats.org/officeDocument/2006/relationships/notesMaster" Target="/ppt/notesMasters/notesMaster1.xml" Id="R4d239cf7231443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b11d5407d946dd" /><Relationship Type="http://schemas.openxmlformats.org/officeDocument/2006/relationships/notesMaster" Target="/ppt/notesMasters/notesMaster1.xml" Id="Ra875a3c626f344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fc1b84c3b540ab" /><Relationship Type="http://schemas.openxmlformats.org/officeDocument/2006/relationships/notesMaster" Target="/ppt/notesMasters/notesMaster1.xml" Id="R85a818634f2c4b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5a55fded96478d" /><Relationship Type="http://schemas.openxmlformats.org/officeDocument/2006/relationships/notesMaster" Target="/ppt/notesMasters/notesMaster1.xml" Id="Re099abfe534943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74b1682dd245ac" /><Relationship Type="http://schemas.openxmlformats.org/officeDocument/2006/relationships/notesMaster" Target="/ppt/notesMasters/notesMaster1.xml" Id="Rdd6f21eb1a8b4f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1dfea6d72444bd" /><Relationship Type="http://schemas.openxmlformats.org/officeDocument/2006/relationships/notesMaster" Target="/ppt/notesMasters/notesMaster1.xml" Id="Rb5234ac974d946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bda49774c2422c" /><Relationship Type="http://schemas.openxmlformats.org/officeDocument/2006/relationships/notesMaster" Target="/ppt/notesMasters/notesMaster1.xml" Id="R88d3d2c4eaed47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2ff7a9fe274299" /><Relationship Type="http://schemas.openxmlformats.org/officeDocument/2006/relationships/notesMaster" Target="/ppt/notesMasters/notesMaster1.xml" Id="R400afec1a1d64f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808ac55ee2456a" /><Relationship Type="http://schemas.openxmlformats.org/officeDocument/2006/relationships/notesMaster" Target="/ppt/notesMasters/notesMaster1.xml" Id="Ra1f1a5fac62846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84a8f7847004476" /><Relationship Type="http://schemas.openxmlformats.org/officeDocument/2006/relationships/notesMaster" Target="/ppt/notesMasters/notesMaster1.xml" Id="Rb76ac491f866433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bbb56df1ca0483c" /><Relationship Type="http://schemas.openxmlformats.org/officeDocument/2006/relationships/notesMaster" Target="/ppt/notesMasters/notesMaster1.xml" Id="R6c7f4c2ecf744d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dede1447f449cf" /><Relationship Type="http://schemas.openxmlformats.org/officeDocument/2006/relationships/notesMaster" Target="/ppt/notesMasters/notesMaster1.xml" Id="R4487f123624e41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1d9b17c3914838" /><Relationship Type="http://schemas.openxmlformats.org/officeDocument/2006/relationships/notesMaster" Target="/ppt/notesMasters/notesMaster1.xml" Id="R92e6febb35524f6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f591995b3440d6" /><Relationship Type="http://schemas.openxmlformats.org/officeDocument/2006/relationships/notesMaster" Target="/ppt/notesMasters/notesMaster1.xml" Id="R66efc2f2d1c8475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8ad37275984cbb" /><Relationship Type="http://schemas.openxmlformats.org/officeDocument/2006/relationships/notesMaster" Target="/ppt/notesMasters/notesMaster1.xml" Id="Rb6d09ab7902442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建议分享时长约 20–25 分钟。先建立闭环概念，再解释验证、状态和停止规则，最后用 UART 协议解析教学案例落地。本文中的协议约束、模拟迭代和成本数字均为教学假设，不代表真实项目测试。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这里讨论的是 AI agent 的任务闭环。人给出目标和约束，系统根据证据决定继续、结束或交还人处理。持续推进可以发生在一次任务内部，并不要求定时调度。循环执行也不保证改进，反馈必须影响下一轮决策。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Discover 先读取当前真实状态，避免根据过期记录工作。Plan 选择最有价值的下一步。Execute 实施有限变更。Verify 对照固定验收规则验证具体产物。Iterate 将发现的问题和已尝试的策略写回状态，再计划下一次动作。成功和阻塞都可以成为本次运行的终点。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Verify 是判断产物是否符合要求的关口。State 保存跨轮次所需的工作记忆，但不会自动训练模型参数。Stop 同时覆盖成功和无法继续的情况。工程上必须保留失败与未知，不能把测试未执行、设备不可用或模型自信当作通过。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频率用于评估投入是否值得，不是普遍适用的固定周频门槛。对于复杂但一次性的编码任务，短闭环仍可有效，是否值得搭建持续自动化需要另算。验收主观或工具不全时可以保留人工检查，先采用辅助式短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这是一组工程化理解方式，并非互斥产品分类。Prompt 表达一次任务，Context 提供相关信息，Harness 为一次运行提供工具、权限和环境，Loop 管理反馈如何驱动持续运行。Graph 用于表达任务依赖和分支，一张图的某个节点内部可以存在修复闭环。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触发器可以是手动、事件或计划任务。Skill 将稳定方法固化为可复用指令。独立 reviewer 可以降低同一上下文的偏见，但第二个模型仍可能出错，不能取代客观测试。连接器负责访问真实环境，它是否存在与是否被授权执行某动作是两个问题。状态存储是贯穿各构件的持久基础。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模型评分适合发现表达问题、遗漏和潜在风险，属于辅助审查。对软件更可靠的证据来自实际运行的检查。测试通过只覆盖测试定义的范围，不能证明没有其他缺陷。生成代码的 agent 不得为了得到绿灯而删除失败测试或降低既定验收标准。报告还需记录版本、配置、执行时间与工具结果。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应小而可恢复。除示例字段外，实际项目还可以记录验收规则版本、预算消耗、环境标识和幂等键。恢复时重新核对仓库与设备状态，不应盲目信任上次日志。保存失败要停止并报告，不能继续制造无法追踪的更改。外部状态帮助模型读取过去经历，并不改变模型参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SUCCESS 只在固定验收的必需项目全部通过且证据有效时使用。BUDGET 达到迭代、时间或花费上限。STALLED 是重复失败且策略或证据未发生有效变化。BLOCKED 包括设备不可用、权限不足、环境故障或检查器未知。进入人工处理时输出已完成事项、当前阻塞、最后证据和建议下一步。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这三页伪代码是接口层设计，非某个产品的命令语法。accept 固定本次验收版本。limits 同时包含最大轮次、总时限和 token 或费用上限。controlled_cycle 需在每次模型和工具调用之前预留预算，并给工具传递超时与取消信号。状态保存和故障处理在后两页继续。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safe_call 是执行框架提供的受控调用：检查预算、保留额度、执行调用、记录实际消耗，并在超时后取消子进程。对拒绝取消的进程需要框架兜底终止。修改在隔离工作区产生；基线失败证据和新产物都需记录。验证器使用冻结的验收规则，输出 PASS、FAIL 或 UNKNOWN 以及实际证据。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此处延续第 11 页 try 块成功后的循环体。accepts 必须检查证据属于当前产物和验收版本、必需测试确实执行且全部通过。no_progress 按具体任务定义，可以联合失败特征、产物差异与策略变化判断。stop_and_save 在原子保存当前状态后输出报告；保存失败会显式报错并停止。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本案例是原创教学假设，未对真实代码或硬件执行测试。协议假设为两字节同步头、一个长度字段、可变载荷和两字节 CRC。实际 CRC 多项式、初值、反射设置、长度含义和最大载荷必须由真实协议规格锁定，不能由模型猜测。ISR 到任务的数据搬运和板端吞吐率属于额外系统验证范围。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第一轮重点是保留不完整帧，不能把所有失败一起改。第二轮在读取载荷或 CRC 前检查长度和缓冲区边界。第三轮修复错误帧后的恢复同步。每轮都重跑分片、粘包和之前已通过的回归用例，防止新修复破坏旧行为。测试数减少也不必然代表进展，需要确认没有删除或弱化用例。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流式解析逻辑可用主机侧用例快速验证，但主机通过不能覆盖中断时序、DMA 缓冲复用、任务同步或实物吞吐。协议字节序、CRC 和缓冲区边界仍要在目标编译环境核对。若没有板卡或测试适配器，任务状态应说明“软件验证通过，板端待验证”，不能把整个硬件任务标记为完成。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表中数字是人为构造的输入 token 教学模型，不是某工具实测。假设五次调用，无缓存或压缩，且只比较输入，不包含输出 token、工具费用、验证机器和人工复核。真实成本还受模型价格、缓存命中率和实际调用次数影响。不能简单认定双 agent 的费用总会翻倍，也不存在统一的验收率盈亏门槛。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复运行本身没有价值。对同一失败持续做同类修改应终止或换策略。对验收规则变化需要单独审查。运行恢复时核对产物哈希避免使用过期结果。多个任务写同一个工作区时要明确串行、隔离或租约。表中是设计建议，需要按任务约束配置，并非某工具的默认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选择一个边界清楚、反馈便宜的任务，例如固定模块的构建失败分类与修复。先手工验证输入输出完整，再沉淀 Skill。封装循环时补齐验证、预算、状态和异常退出。只有重复运行稳定后才加事件或定时调度。试点指标可记录验收通过比例、每个通过结果成本、人工接手次数及故障原因。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可以用三个问题结束分享：完成凭什么判断，失败之后如何变化，什么时候必须停。请听众选出一个真实候选任务，填写触发条件、输入、工具、验收和退出规则。HTML 配套文档包含分步示意、教学模拟器、完整伪代码和落地清单。不要先扩大 agent 数量或运行时长，应先让一个任务闭环可复查。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d4bf55029d49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80e839623345b7" /><Relationship Type="http://schemas.openxmlformats.org/officeDocument/2006/relationships/slideLayout" Target="/ppt/slideLayouts/slideLayout1.xml" Id="R6d29f64d4a17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29f64d4a17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2fc28ab18439d" /><Relationship Type="http://schemas.openxmlformats.org/officeDocument/2006/relationships/image" Target="/ppt/media/image.png" Id="R1d7f2ae7921640b1" /><Relationship Type="http://schemas.openxmlformats.org/officeDocument/2006/relationships/notesSlide" Target="/ppt/notesSlides/notesSlide1.xml" Id="Rf0612cb77da144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454901d5e4ed5" /><Relationship Type="http://schemas.openxmlformats.org/officeDocument/2006/relationships/notesSlide" Target="/ppt/notesSlides/notesSlide2.xml" Id="Rfee773db6ad743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71df9ce004796" /><Relationship Type="http://schemas.openxmlformats.org/officeDocument/2006/relationships/notesSlide" Target="/ppt/notesSlides/notesSlide3.xml" Id="R10a2c3856fbc47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0eafa7cbd456e" /><Relationship Type="http://schemas.openxmlformats.org/officeDocument/2006/relationships/notesSlide" Target="/ppt/notesSlides/notesSlide4.xml" Id="R9f29f813481249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04d7f53f647dc" /><Relationship Type="http://schemas.openxmlformats.org/officeDocument/2006/relationships/notesSlide" Target="/ppt/notesSlides/notesSlide5.xml" Id="Rb3545875e22a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a42117dd740ad" /><Relationship Type="http://schemas.openxmlformats.org/officeDocument/2006/relationships/notesSlide" Target="/ppt/notesSlides/notesSlide6.xml" Id="R96dd7ec60d594c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f22573c8146b5" /><Relationship Type="http://schemas.openxmlformats.org/officeDocument/2006/relationships/notesSlide" Target="/ppt/notesSlides/notesSlide7.xml" Id="R141429742dfe47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759fa1ac44dcf" /><Relationship Type="http://schemas.openxmlformats.org/officeDocument/2006/relationships/notesSlide" Target="/ppt/notesSlides/notesSlide8.xml" Id="Rd0c81dd58db949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9b3813d64d38" /><Relationship Type="http://schemas.openxmlformats.org/officeDocument/2006/relationships/notesSlide" Target="/ppt/notesSlides/notesSlide9.xml" Id="Rf03fef93e75540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227e953fa4f03" /><Relationship Type="http://schemas.openxmlformats.org/officeDocument/2006/relationships/notesSlide" Target="/ppt/notesSlides/notesSlide10.xml" Id="Rbe988c113bdb44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a58ca61fc4baa" /><Relationship Type="http://schemas.openxmlformats.org/officeDocument/2006/relationships/notesSlide" Target="/ppt/notesSlides/notesSlide11.xml" Id="R47b51104803e4c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b4a0f72514b66" /><Relationship Type="http://schemas.openxmlformats.org/officeDocument/2006/relationships/notesSlide" Target="/ppt/notesSlides/notesSlide12.xml" Id="R31431b13c2d541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f852399c04244" /><Relationship Type="http://schemas.openxmlformats.org/officeDocument/2006/relationships/notesSlide" Target="/ppt/notesSlides/notesSlide13.xml" Id="Rb1d69ec3ad034e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23c5e39fe4a9c" /><Relationship Type="http://schemas.openxmlformats.org/officeDocument/2006/relationships/notesSlide" Target="/ppt/notesSlides/notesSlide14.xml" Id="Ra8cc3e5eae654a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f4127ed0844c8" /><Relationship Type="http://schemas.openxmlformats.org/officeDocument/2006/relationships/notesSlide" Target="/ppt/notesSlides/notesSlide15.xml" Id="R36548ce7f51543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39be14bba4a36" /><Relationship Type="http://schemas.openxmlformats.org/officeDocument/2006/relationships/notesSlide" Target="/ppt/notesSlides/notesSlide16.xml" Id="R3e7c668450454d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76cc6246f4b4f" /><Relationship Type="http://schemas.openxmlformats.org/officeDocument/2006/relationships/notesSlide" Target="/ppt/notesSlides/notesSlide17.xml" Id="R56fca422861a498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1e883ab514c9b" /><Relationship Type="http://schemas.openxmlformats.org/officeDocument/2006/relationships/notesSlide" Target="/ppt/notesSlides/notesSlide18.xml" Id="Rec233deb551446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435b655294340" /><Relationship Type="http://schemas.openxmlformats.org/officeDocument/2006/relationships/notesSlide" Target="/ppt/notesSlides/notesSlide19.xml" Id="R25997fe851af47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47244dcf444a2" /><Relationship Type="http://schemas.openxmlformats.org/officeDocument/2006/relationships/notesSlide" Target="/ppt/notesSlides/notesSlide20.xml" Id="R95b3fba6cc9848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f2ae7921640b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-Loop">
            <a:extLst xmlns:a="http://schemas.openxmlformats.org/drawingml/2006/main">
              <a:ext uri="{FF2B5EF4-FFF2-40B4-BE49-F238E27FC236}">
                <a16:creationId xmlns:a16="http://schemas.microsoft.com/office/drawing/2014/main" id="{AF5A585A-1054-4C94-9445-9F0437B0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3" name="text-1-Engineering">
            <a:extLst xmlns:a="http://schemas.openxmlformats.org/drawingml/2006/main">
              <a:ext uri="{FF2B5EF4-FFF2-40B4-BE49-F238E27FC236}">
                <a16:creationId xmlns:a16="http://schemas.microsoft.com/office/drawing/2014/main" id="{F9B4E1A1-361E-496E-ACD7-CDEF3C0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4" name="text-2-让 AI 围绕目标持续推">
            <a:extLst xmlns:a="http://schemas.openxmlformats.org/drawingml/2006/main">
              <a:ext uri="{FF2B5EF4-FFF2-40B4-BE49-F238E27FC236}">
                <a16:creationId xmlns:a16="http://schemas.microsoft.com/office/drawing/2014/main" id="{E714EBD9-13B8-4DB4-B6DB-3718B3D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让 AI 围绕目标持续推进</a:t>
            </a:r>
          </a:p>
        </p:txBody>
      </p:sp>
      <p:sp>
        <p:nvSpPr>
          <p:cNvPr id="5" name="text-3-工程反馈闭环与嵌入式开发">
            <a:extLst xmlns:a="http://schemas.openxmlformats.org/drawingml/2006/main">
              <a:ext uri="{FF2B5EF4-FFF2-40B4-BE49-F238E27FC236}">
                <a16:creationId xmlns:a16="http://schemas.microsoft.com/office/drawing/2014/main" id="{B147ED48-EF9D-48F2-845C-0406871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工程反馈闭环与嵌入式开发实践</a:t>
            </a:r>
          </a:p>
        </p:txBody>
      </p:sp>
    </p:spTree>
    <p:extLst>
      <p:ext uri="{BB962C8B-B14F-4D97-AF65-F5344CB8AC3E}">
        <p14:creationId xmlns:p14="http://schemas.microsoft.com/office/powerpoint/2010/main" val="2069613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Loop Enginee">
            <a:extLst xmlns:a="http://schemas.openxmlformats.org/drawingml/2006/main">
              <a:ext uri="{FF2B5EF4-FFF2-40B4-BE49-F238E27FC236}">
                <a16:creationId xmlns:a16="http://schemas.microsoft.com/office/drawing/2014/main" id="{D8F2EE5C-2B7C-4150-A5E4-09BF4B71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Loop Engineering 的工作对象</a:t>
            </a:r>
          </a:p>
        </p:txBody>
      </p:sp>
      <p:sp>
        <p:nvSpPr>
          <p:cNvPr id="2" name="text-1-把目标、反馈与下一步动作">
            <a:extLst xmlns:a="http://schemas.openxmlformats.org/drawingml/2006/main">
              <a:ext uri="{FF2B5EF4-FFF2-40B4-BE49-F238E27FC236}">
                <a16:creationId xmlns:a16="http://schemas.microsoft.com/office/drawing/2014/main" id="{F477D5B3-48D4-4229-B9B0-5F708DAC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把目标、反馈与下一步动作组织成可运行的系统</a:t>
            </a:r>
          </a:p>
        </p:txBody>
      </p:sp>
      <p:sp>
        <p:nvSpPr>
          <p:cNvPr id="3" name="text-2-02">
            <a:extLst xmlns:a="http://schemas.openxmlformats.org/drawingml/2006/main">
              <a:ext uri="{FF2B5EF4-FFF2-40B4-BE49-F238E27FC236}">
                <a16:creationId xmlns:a16="http://schemas.microsoft.com/office/drawing/2014/main" id="{90995BF4-5482-462B-917D-E157F85C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3-目标 + 执行 + 可检">
            <a:extLst xmlns:a="http://schemas.openxmlformats.org/drawingml/2006/main">
              <a:ext uri="{FF2B5EF4-FFF2-40B4-BE49-F238E27FC236}">
                <a16:creationId xmlns:a16="http://schemas.microsoft.com/office/drawing/2014/main" id="{4CF6E285-0823-4C52-A140-AE402366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478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目标 + 执行 + 可检验反馈 + 下一步决策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124200"/>
          <a:ext xmlns:a="http://schemas.openxmlformats.org/drawingml/2006/main" cx="10972800" cy="2114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524375"/>
                <a:gridCol w="4257675"/>
              </a:tblGrid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谁推动下一步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如何结束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逐次交互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人阅读结果后再下指令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人判断已经足够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048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工程闭环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控制器根据反馈选择动作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验收通过或触发退出规则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6" name="text-4-控制器负责流程，模型负责">
            <a:extLst xmlns:a="http://schemas.openxmlformats.org/drawingml/2006/main">
              <a:ext uri="{FF2B5EF4-FFF2-40B4-BE49-F238E27FC236}">
                <a16:creationId xmlns:a16="http://schemas.microsoft.com/office/drawing/2014/main" id="{E05D8195-36D5-4F73-ABC5-DA48FA67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控制器负责流程，模型负责候选方案，验证器负责证据。</a:t>
            </a:r>
          </a:p>
        </p:txBody>
      </p:sp>
    </p:spTree>
    <p:extLst>
      <p:ext uri="{BB962C8B-B14F-4D97-AF65-F5344CB8AC3E}">
        <p14:creationId xmlns:p14="http://schemas.microsoft.com/office/powerpoint/2010/main" val="181738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一次迭代的五个阶段">
            <a:extLst xmlns:a="http://schemas.openxmlformats.org/drawingml/2006/main">
              <a:ext uri="{FF2B5EF4-FFF2-40B4-BE49-F238E27FC236}">
                <a16:creationId xmlns:a16="http://schemas.microsoft.com/office/drawing/2014/main" id="{3182D866-EA74-4396-BDE1-FC5E0EEB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一次迭代的五个阶段</a:t>
            </a:r>
          </a:p>
        </p:txBody>
      </p:sp>
      <p:sp>
        <p:nvSpPr>
          <p:cNvPr id="2" name="text-1-失败结果进入下一轮，形成">
            <a:extLst xmlns:a="http://schemas.openxmlformats.org/drawingml/2006/main">
              <a:ext uri="{FF2B5EF4-FFF2-40B4-BE49-F238E27FC236}">
                <a16:creationId xmlns:a16="http://schemas.microsoft.com/office/drawing/2014/main" id="{BF3F08AF-39FD-4520-AF2F-13769DC7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失败结果进入下一轮，形成修正动作</a:t>
            </a:r>
          </a:p>
        </p:txBody>
      </p:sp>
      <p:sp>
        <p:nvSpPr>
          <p:cNvPr id="3" name="text-2-03">
            <a:extLst xmlns:a="http://schemas.openxmlformats.org/drawingml/2006/main">
              <a:ext uri="{FF2B5EF4-FFF2-40B4-BE49-F238E27FC236}">
                <a16:creationId xmlns:a16="http://schemas.microsoft.com/office/drawing/2014/main" id="{5F6F1952-76DE-4193-8E32-419342E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3771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210050"/>
                <a:gridCol w="4191000"/>
              </a:tblGrid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留下什么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DISCOVER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发现任务与当前失败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基线、输入、待办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PLAN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选择一个可验证的小步骤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方案与预期变化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EXECUTE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执行修改或调用工具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候选产物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VERIFY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对照目标检查结果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286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ITERATE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记录反馈并决定下一步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 / 结束 / 交还人工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126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-闭环的三个关键约束">
            <a:extLst xmlns:a="http://schemas.openxmlformats.org/drawingml/2006/main">
              <a:ext uri="{FF2B5EF4-FFF2-40B4-BE49-F238E27FC236}">
                <a16:creationId xmlns:a16="http://schemas.microsoft.com/office/drawing/2014/main" id="{7AC63B43-E933-4C52-9059-3FD75B34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闭环的三个关键约束</a:t>
            </a:r>
          </a:p>
        </p:txBody>
      </p:sp>
      <p:sp>
        <p:nvSpPr>
          <p:cNvPr id="2" name="text-1-它们决定重复运行能否形成">
            <a:extLst xmlns:a="http://schemas.openxmlformats.org/drawingml/2006/main">
              <a:ext uri="{FF2B5EF4-FFF2-40B4-BE49-F238E27FC236}">
                <a16:creationId xmlns:a16="http://schemas.microsoft.com/office/drawing/2014/main" id="{389CD793-FBDF-4CF8-82D3-AE52EFA7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它们决定重复运行能否形成有效进展</a:t>
            </a:r>
          </a:p>
        </p:txBody>
      </p:sp>
      <p:sp>
        <p:nvSpPr>
          <p:cNvPr id="3" name="text-2-04">
            <a:extLst xmlns:a="http://schemas.openxmlformats.org/drawingml/2006/main">
              <a:ext uri="{FF2B5EF4-FFF2-40B4-BE49-F238E27FC236}">
                <a16:creationId xmlns:a16="http://schemas.microsoft.com/office/drawing/2014/main" id="{D7F108DF-39B0-42A3-B117-C0B2E29E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13A58B2A-77AF-44D2-956A-734006E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Verify：验证">
            <a:extLst xmlns:a="http://schemas.openxmlformats.org/drawingml/2006/main">
              <a:ext uri="{FF2B5EF4-FFF2-40B4-BE49-F238E27FC236}">
                <a16:creationId xmlns:a16="http://schemas.microsoft.com/office/drawing/2014/main" id="{BCF4738B-5BC6-402C-AE08-38198018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31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Verify：验证</a:t>
            </a:r>
          </a:p>
        </p:txBody>
      </p:sp>
      <p:sp>
        <p:nvSpPr>
          <p:cNvPr id="6" name="text-5-哪些证据可以拒绝一个错误">
            <a:extLst xmlns:a="http://schemas.openxmlformats.org/drawingml/2006/main">
              <a:ext uri="{FF2B5EF4-FFF2-40B4-BE49-F238E27FC236}">
                <a16:creationId xmlns:a16="http://schemas.microsoft.com/office/drawing/2014/main" id="{44E61AFC-52AE-42E2-B05E-ACC28AD8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5812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哪些证据可以拒绝一个错误结果？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2ED8B943-0BF8-4CAA-8C23-A6557330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State：状态">
            <a:extLst xmlns:a="http://schemas.openxmlformats.org/drawingml/2006/main">
              <a:ext uri="{FF2B5EF4-FFF2-40B4-BE49-F238E27FC236}">
                <a16:creationId xmlns:a16="http://schemas.microsoft.com/office/drawing/2014/main" id="{D445EE4D-8ED7-42D2-9DA6-2C0F4367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95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State：状态</a:t>
            </a:r>
          </a:p>
        </p:txBody>
      </p:sp>
      <p:sp>
        <p:nvSpPr>
          <p:cNvPr id="9" name="text-8-已经尝试什么，失败在哪里">
            <a:extLst xmlns:a="http://schemas.openxmlformats.org/drawingml/2006/main">
              <a:ext uri="{FF2B5EF4-FFF2-40B4-BE49-F238E27FC236}">
                <a16:creationId xmlns:a16="http://schemas.microsoft.com/office/drawing/2014/main" id="{B3F76C39-E47B-4D2C-8C63-8BF172C4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7338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已经尝试什么，失败在哪里，下一步依据是什么？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3960B0BE-099E-4CF6-A673-482E4874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Stop：停止">
            <a:extLst xmlns:a="http://schemas.openxmlformats.org/drawingml/2006/main">
              <a:ext uri="{FF2B5EF4-FFF2-40B4-BE49-F238E27FC236}">
                <a16:creationId xmlns:a16="http://schemas.microsoft.com/office/drawing/2014/main" id="{5C1DF915-3307-44AA-A9D2-255F55D6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481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Stop：停止</a:t>
            </a:r>
          </a:p>
        </p:txBody>
      </p:sp>
      <p:sp>
        <p:nvSpPr>
          <p:cNvPr id="12" name="text-11-何时成功，何时因预算、阻">
            <a:extLst xmlns:a="http://schemas.openxmlformats.org/drawingml/2006/main">
              <a:ext uri="{FF2B5EF4-FFF2-40B4-BE49-F238E27FC236}">
                <a16:creationId xmlns:a16="http://schemas.microsoft.com/office/drawing/2014/main" id="{5B3E4C2D-EA7A-4567-8AB6-8DDD397A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863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何时成功，何时因预算、阻塞或无进展而退出？</a:t>
            </a:r>
          </a:p>
        </p:txBody>
      </p:sp>
    </p:spTree>
    <p:extLst>
      <p:ext uri="{BB962C8B-B14F-4D97-AF65-F5344CB8AC3E}">
        <p14:creationId xmlns:p14="http://schemas.microsoft.com/office/powerpoint/2010/main" val="1273827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适用性判断">
            <a:extLst xmlns:a="http://schemas.openxmlformats.org/drawingml/2006/main">
              <a:ext uri="{FF2B5EF4-FFF2-40B4-BE49-F238E27FC236}">
                <a16:creationId xmlns:a16="http://schemas.microsoft.com/office/drawing/2014/main" id="{30DBEFFD-4BED-4D49-84DB-9FDB392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适用性判断</a:t>
            </a:r>
          </a:p>
        </p:txBody>
      </p:sp>
      <p:sp>
        <p:nvSpPr>
          <p:cNvPr id="2" name="text-1-先回答这四个问题，再决定">
            <a:extLst xmlns:a="http://schemas.openxmlformats.org/drawingml/2006/main">
              <a:ext uri="{FF2B5EF4-FFF2-40B4-BE49-F238E27FC236}">
                <a16:creationId xmlns:a16="http://schemas.microsoft.com/office/drawing/2014/main" id="{FDD7CD82-32F1-43C1-9F58-8B2ABE73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先回答这四个问题，再决定自动化程度</a:t>
            </a:r>
          </a:p>
        </p:txBody>
      </p:sp>
      <p:sp>
        <p:nvSpPr>
          <p:cNvPr id="3" name="text-2-05">
            <a:extLst xmlns:a="http://schemas.openxmlformats.org/drawingml/2006/main">
              <a:ext uri="{FF2B5EF4-FFF2-40B4-BE49-F238E27FC236}">
                <a16:creationId xmlns:a16="http://schemas.microsoft.com/office/drawing/2014/main" id="{F2E002B9-BD58-44E1-9EDD-3C9E898C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29AD7E65-928F-4151-821A-B64D4293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任务是否反复出现？">
            <a:extLst xmlns:a="http://schemas.openxmlformats.org/drawingml/2006/main">
              <a:ext uri="{FF2B5EF4-FFF2-40B4-BE49-F238E27FC236}">
                <a16:creationId xmlns:a16="http://schemas.microsoft.com/office/drawing/2014/main" id="{05E5C724-B693-4DD6-A441-03CE3DC0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526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任务是否反复出现？</a:t>
            </a:r>
          </a:p>
        </p:txBody>
      </p:sp>
      <p:sp>
        <p:nvSpPr>
          <p:cNvPr id="6" name="text-5-有稳定需求，维护闭环的投">
            <a:extLst xmlns:a="http://schemas.openxmlformats.org/drawingml/2006/main">
              <a:ext uri="{FF2B5EF4-FFF2-40B4-BE49-F238E27FC236}">
                <a16:creationId xmlns:a16="http://schemas.microsoft.com/office/drawing/2014/main" id="{68D7E9F5-28B6-4FA7-8C8C-0B9B5058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3907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有稳定需求，维护闭环的投入才可能得到回报。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A44EC786-3DEA-49EE-8858-BBFFB58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432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错误输出能否被自动拒绝？">
            <a:extLst xmlns:a="http://schemas.openxmlformats.org/drawingml/2006/main">
              <a:ext uri="{FF2B5EF4-FFF2-40B4-BE49-F238E27FC236}">
                <a16:creationId xmlns:a16="http://schemas.microsoft.com/office/drawing/2014/main" id="{F350CCAA-5D28-4E91-975E-E05ECDC8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错误输出能否被自动拒绝？</a:t>
            </a:r>
          </a:p>
        </p:txBody>
      </p:sp>
      <p:sp>
        <p:nvSpPr>
          <p:cNvPr id="9" name="text-8-测试、构建、格式规则或业">
            <a:extLst xmlns:a="http://schemas.openxmlformats.org/drawingml/2006/main">
              <a:ext uri="{FF2B5EF4-FFF2-40B4-BE49-F238E27FC236}">
                <a16:creationId xmlns:a16="http://schemas.microsoft.com/office/drawing/2014/main" id="{90D7E7BD-29B4-4E46-9956-1A26698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813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测试、构建、格式规则或业务断言能够给出失败。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24D753E4-FD9B-4BF1-A983-8BBB84E4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338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Agent 是否具备完成">
            <a:extLst xmlns:a="http://schemas.openxmlformats.org/drawingml/2006/main">
              <a:ext uri="{FF2B5EF4-FFF2-40B4-BE49-F238E27FC236}">
                <a16:creationId xmlns:a16="http://schemas.microsoft.com/office/drawing/2014/main" id="{E02C4B79-95C5-4CAA-8FE6-14094A8F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338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Agent 是否具备完成任务的工具？</a:t>
            </a:r>
          </a:p>
        </p:txBody>
      </p:sp>
      <p:sp>
        <p:nvSpPr>
          <p:cNvPr id="12" name="text-11-代码、构建环境与必要接口">
            <a:extLst xmlns:a="http://schemas.openxmlformats.org/drawingml/2006/main">
              <a:ext uri="{FF2B5EF4-FFF2-40B4-BE49-F238E27FC236}">
                <a16:creationId xmlns:a16="http://schemas.microsoft.com/office/drawing/2014/main" id="{4CC6501B-EF80-4C24-BFE8-C2238E1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3719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代码、构建环境与必要接口实际可用。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9AA6A040-9F62-4F71-8F7B-70B50DD1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244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完成标准是否足够客观？">
            <a:extLst xmlns:a="http://schemas.openxmlformats.org/drawingml/2006/main">
              <a:ext uri="{FF2B5EF4-FFF2-40B4-BE49-F238E27FC236}">
                <a16:creationId xmlns:a16="http://schemas.microsoft.com/office/drawing/2014/main" id="{D22ECB33-BD6C-4ED3-B238-8942370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完成标准是否足够客观？</a:t>
            </a:r>
          </a:p>
        </p:txBody>
      </p:sp>
      <p:sp>
        <p:nvSpPr>
          <p:cNvPr id="15" name="text-14-验收条件能够提前写清，并">
            <a:extLst xmlns:a="http://schemas.openxmlformats.org/drawingml/2006/main">
              <a:ext uri="{FF2B5EF4-FFF2-40B4-BE49-F238E27FC236}">
                <a16:creationId xmlns:a16="http://schemas.microsoft.com/office/drawing/2014/main" id="{B2F86218-34EA-4E9D-A172-439E4B4F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625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验收条件能够提前写清，并由他人复查。</a:t>
            </a:r>
          </a:p>
        </p:txBody>
      </p:sp>
    </p:spTree>
    <p:extLst>
      <p:ext uri="{BB962C8B-B14F-4D97-AF65-F5344CB8AC3E}">
        <p14:creationId xmlns:p14="http://schemas.microsoft.com/office/powerpoint/2010/main" val="1627486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Prompt、Conte">
            <a:extLst xmlns:a="http://schemas.openxmlformats.org/drawingml/2006/main">
              <a:ext uri="{FF2B5EF4-FFF2-40B4-BE49-F238E27FC236}">
                <a16:creationId xmlns:a16="http://schemas.microsoft.com/office/drawing/2014/main" id="{49A1EAFC-E5ED-4A5C-A42A-CF555FA3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Prompt、Context、Harness 与 Loop</a:t>
            </a:r>
          </a:p>
        </p:txBody>
      </p:sp>
      <p:sp>
        <p:nvSpPr>
          <p:cNvPr id="2" name="text-1-它们解决不同层次的问题，">
            <a:extLst xmlns:a="http://schemas.openxmlformats.org/drawingml/2006/main">
              <a:ext uri="{FF2B5EF4-FFF2-40B4-BE49-F238E27FC236}">
                <a16:creationId xmlns:a16="http://schemas.microsoft.com/office/drawing/2014/main" id="{CE7EEDE4-344F-4E64-97B0-9152A303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它们解决不同层次的问题，可以组合使用</a:t>
            </a:r>
          </a:p>
        </p:txBody>
      </p:sp>
      <p:sp>
        <p:nvSpPr>
          <p:cNvPr id="3" name="text-2-06">
            <a:extLst xmlns:a="http://schemas.openxmlformats.org/drawingml/2006/main">
              <a:ext uri="{FF2B5EF4-FFF2-40B4-BE49-F238E27FC236}">
                <a16:creationId xmlns:a16="http://schemas.microsoft.com/office/drawing/2014/main" id="{E590375D-A463-4E10-A4DA-A974C4F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4762500"/>
                <a:gridCol w="4019550"/>
              </a:tblGrid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核心问题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工程落点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本次要完成什么？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任务描述与输出要求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完成任务需要知道什么？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规格、代码、日志与状态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模型能在什么环境里行动？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工具、权限、隔离与约束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667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何时继续，如何修正，何时停止？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验证、状态、预算与恢复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Graph 描述任务间的">
            <a:extLst xmlns:a="http://schemas.openxmlformats.org/drawingml/2006/main">
              <a:ext uri="{FF2B5EF4-FFF2-40B4-BE49-F238E27FC236}">
                <a16:creationId xmlns:a16="http://schemas.microsoft.com/office/drawing/2014/main" id="{C7165AF3-3DC7-4BA4-BEC9-F47E94D8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57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Graph 描述任务间的依赖，Loop 描述任务内的反馈迭代。</a:t>
            </a:r>
          </a:p>
        </p:txBody>
      </p:sp>
    </p:spTree>
    <p:extLst>
      <p:ext uri="{BB962C8B-B14F-4D97-AF65-F5344CB8AC3E}">
        <p14:creationId xmlns:p14="http://schemas.microsoft.com/office/powerpoint/2010/main" val="1215207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闭环系统的五类构件">
            <a:extLst xmlns:a="http://schemas.openxmlformats.org/drawingml/2006/main">
              <a:ext uri="{FF2B5EF4-FFF2-40B4-BE49-F238E27FC236}">
                <a16:creationId xmlns:a16="http://schemas.microsoft.com/office/drawing/2014/main" id="{99F51EEF-63A7-4891-BAC5-9C52CCA4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闭环系统的五类构件</a:t>
            </a:r>
          </a:p>
        </p:txBody>
      </p:sp>
      <p:sp>
        <p:nvSpPr>
          <p:cNvPr id="2" name="text-1-围绕明确的验证关口连接工">
            <a:extLst xmlns:a="http://schemas.openxmlformats.org/drawingml/2006/main">
              <a:ext uri="{FF2B5EF4-FFF2-40B4-BE49-F238E27FC236}">
                <a16:creationId xmlns:a16="http://schemas.microsoft.com/office/drawing/2014/main" id="{D72722C8-BCE7-42C7-BF24-A592A001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围绕明确的验证关口连接工具与执行者</a:t>
            </a:r>
          </a:p>
        </p:txBody>
      </p:sp>
      <p:sp>
        <p:nvSpPr>
          <p:cNvPr id="3" name="text-2-07">
            <a:extLst xmlns:a="http://schemas.openxmlformats.org/drawingml/2006/main">
              <a:ext uri="{FF2B5EF4-FFF2-40B4-BE49-F238E27FC236}">
                <a16:creationId xmlns:a16="http://schemas.microsoft.com/office/drawing/2014/main" id="{31A2B1C3-2460-4552-801A-3C4ECC55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829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3448050"/>
                <a:gridCol w="4857750"/>
              </a:tblGrid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构件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嵌入式开发中的落点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 / 触发器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决定什么时候启动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 失败事件或定时检查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Skill / 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复用方法与边界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构建步骤、代码规范、禁止修改区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执行者与检查者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分开实施和复核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生成修复与审查差异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连接器 / 工具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读取和操作真实环境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仓库、构建机、测试适配器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3817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以证据接受或拒绝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测试结果、静态检查、板端报告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5137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验证证据与自我评分">
            <a:extLst xmlns:a="http://schemas.openxmlformats.org/drawingml/2006/main">
              <a:ext uri="{FF2B5EF4-FFF2-40B4-BE49-F238E27FC236}">
                <a16:creationId xmlns:a16="http://schemas.microsoft.com/office/drawing/2014/main" id="{8E227786-5CD2-4A04-80AA-7ED42D57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验证证据与自我评分</a:t>
            </a:r>
          </a:p>
        </p:txBody>
      </p:sp>
      <p:sp>
        <p:nvSpPr>
          <p:cNvPr id="2" name="text-1-先固定验收规则，再评估具">
            <a:extLst xmlns:a="http://schemas.openxmlformats.org/drawingml/2006/main">
              <a:ext uri="{FF2B5EF4-FFF2-40B4-BE49-F238E27FC236}">
                <a16:creationId xmlns:a16="http://schemas.microsoft.com/office/drawing/2014/main" id="{C9350857-2768-4D1D-BD1F-30E9440A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先固定验收规则，再评估具体产物</a:t>
            </a:r>
          </a:p>
        </p:txBody>
      </p:sp>
      <p:sp>
        <p:nvSpPr>
          <p:cNvPr id="3" name="text-2-08">
            <a:extLst xmlns:a="http://schemas.openxmlformats.org/drawingml/2006/main">
              <a:ext uri="{FF2B5EF4-FFF2-40B4-BE49-F238E27FC236}">
                <a16:creationId xmlns:a16="http://schemas.microsoft.com/office/drawing/2014/main" id="{D3C4D2C2-DCE0-4967-885C-BBCD7875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05100"/>
                <a:gridCol w="4162425"/>
                <a:gridCol w="4105275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使用边界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模型自检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给出可能的问题与改进方向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分数不能证明测试通过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独立审查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发现遗漏、边界和设计风险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仍需证据支持结论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外部测试 / 规则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对确定产物执行可复查检查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结论限于已覆盖条件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人工与实物验证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确认系统与现场行为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未执行时必须记录为未知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证据绑定：产物版本 + ">
            <a:extLst xmlns:a="http://schemas.openxmlformats.org/drawingml/2006/main">
              <a:ext uri="{FF2B5EF4-FFF2-40B4-BE49-F238E27FC236}">
                <a16:creationId xmlns:a16="http://schemas.microsoft.com/office/drawing/2014/main" id="{EEED7EE8-93D9-4EFE-81CF-80FC424B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证据绑定：产物版本 + 验收版本 + 测试配置 + 运行结果</a:t>
            </a:r>
          </a:p>
        </p:txBody>
      </p:sp>
    </p:spTree>
    <p:extLst>
      <p:ext uri="{BB962C8B-B14F-4D97-AF65-F5344CB8AC3E}">
        <p14:creationId xmlns:p14="http://schemas.microsoft.com/office/powerpoint/2010/main" val="1305169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持久状态与恢复">
            <a:extLst xmlns:a="http://schemas.openxmlformats.org/drawingml/2006/main">
              <a:ext uri="{FF2B5EF4-FFF2-40B4-BE49-F238E27FC236}">
                <a16:creationId xmlns:a16="http://schemas.microsoft.com/office/drawing/2014/main" id="{4B54AE06-9393-4ECC-B75C-A90BAD60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持久状态与恢复</a:t>
            </a:r>
          </a:p>
        </p:txBody>
      </p:sp>
      <p:sp>
        <p:nvSpPr>
          <p:cNvPr id="2" name="text-1-保留决策需要的证据，控制">
            <a:extLst xmlns:a="http://schemas.openxmlformats.org/drawingml/2006/main">
              <a:ext uri="{FF2B5EF4-FFF2-40B4-BE49-F238E27FC236}">
                <a16:creationId xmlns:a16="http://schemas.microsoft.com/office/drawing/2014/main" id="{E8882C68-7198-440F-94A0-20C7F47E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保留决策需要的证据，控制每轮上下文大小</a:t>
            </a:r>
          </a:p>
        </p:txBody>
      </p:sp>
      <p:sp>
        <p:nvSpPr>
          <p:cNvPr id="3" name="text-2-09">
            <a:extLst xmlns:a="http://schemas.openxmlformats.org/drawingml/2006/main">
              <a:ext uri="{FF2B5EF4-FFF2-40B4-BE49-F238E27FC236}">
                <a16:creationId xmlns:a16="http://schemas.microsoft.com/office/drawing/2014/main" id="{5A4D3FBE-AFEF-4A48-A3BB-11389CEA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-# 状态记录示意：每个字">
            <a:extLst xmlns:a="http://schemas.openxmlformats.org/drawingml/2006/main">
              <a:ext uri="{FF2B5EF4-FFF2-40B4-BE49-F238E27FC236}">
                <a16:creationId xmlns:a16="http://schemas.microsoft.com/office/drawing/2014/main" id="{21981A97-4015-40E6-A3ED-0B3A7A85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状态记录示意：每个字段服务于后续决策</a:t>
            </a:r>
          </a:p>
        </p:txBody>
      </p:sp>
      <p:sp>
        <p:nvSpPr>
          <p:cNvPr id="5" name="text-4-task_id: uar">
            <a:extLst xmlns:a="http://schemas.openxmlformats.org/drawingml/2006/main">
              <a:ext uri="{FF2B5EF4-FFF2-40B4-BE49-F238E27FC236}">
                <a16:creationId xmlns:a16="http://schemas.microsoft.com/office/drawing/2014/main" id="{5881A551-A9D8-471A-A7F2-25517455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task_id: uart_parser_fix       # 关联同一任务</a:t>
            </a:r>
          </a:p>
        </p:txBody>
      </p:sp>
      <p:sp>
        <p:nvSpPr>
          <p:cNvPr id="6" name="text-5-artifact_id:">
            <a:extLst xmlns:a="http://schemas.openxmlformats.org/drawingml/2006/main">
              <a:ext uri="{FF2B5EF4-FFF2-40B4-BE49-F238E27FC236}">
                <a16:creationId xmlns:a16="http://schemas.microsoft.com/office/drawing/2014/main" id="{BD901FD2-09FB-4E54-A4FB-31E0079F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artifact_id: candidate_hash    # 绑定候选产物版本</a:t>
            </a:r>
          </a:p>
        </p:txBody>
      </p:sp>
      <p:sp>
        <p:nvSpPr>
          <p:cNvPr id="7" name="text-6-acceptance_i">
            <a:extLst xmlns:a="http://schemas.openxmlformats.org/drawingml/2006/main">
              <a:ext uri="{FF2B5EF4-FFF2-40B4-BE49-F238E27FC236}">
                <a16:creationId xmlns:a16="http://schemas.microsoft.com/office/drawing/2014/main" id="{7AE84911-A2A8-4156-BE8B-01918910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acceptance_id: locked_spec     # 锁定本次验收规则</a:t>
            </a:r>
          </a:p>
        </p:txBody>
      </p:sp>
      <p:sp>
        <p:nvSpPr>
          <p:cNvPr id="8" name="text-7-attempt: 2  ">
            <a:extLst xmlns:a="http://schemas.openxmlformats.org/drawingml/2006/main">
              <a:ext uri="{FF2B5EF4-FFF2-40B4-BE49-F238E27FC236}">
                <a16:creationId xmlns:a16="http://schemas.microsoft.com/office/drawing/2014/main" id="{44E44007-747F-4936-9E2B-B291DA27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attempt: 2                    # 已执行的迭代次数</a:t>
            </a:r>
          </a:p>
        </p:txBody>
      </p:sp>
      <p:sp>
        <p:nvSpPr>
          <p:cNvPr id="9" name="text-8-failed_check">
            <a:extLst xmlns:a="http://schemas.openxmlformats.org/drawingml/2006/main">
              <a:ext uri="{FF2B5EF4-FFF2-40B4-BE49-F238E27FC236}">
                <a16:creationId xmlns:a16="http://schemas.microsoft.com/office/drawing/2014/main" id="{009BAA23-32A8-424F-82FD-FBC05DE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failed_checks: [fragmented]    # 仍未满足的条件</a:t>
            </a:r>
          </a:p>
        </p:txBody>
      </p:sp>
      <p:sp>
        <p:nvSpPr>
          <p:cNvPr id="10" name="text-9-tried: [buff">
            <a:extLst xmlns:a="http://schemas.openxmlformats.org/drawingml/2006/main">
              <a:ext uri="{FF2B5EF4-FFF2-40B4-BE49-F238E27FC236}">
                <a16:creationId xmlns:a16="http://schemas.microsoft.com/office/drawing/2014/main" id="{CB4F854F-D4FD-409A-BC7B-2D41EB1F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tried: [buffer_only]           # 避免重复无效策略</a:t>
            </a:r>
          </a:p>
        </p:txBody>
      </p:sp>
      <p:sp>
        <p:nvSpPr>
          <p:cNvPr id="11" name="text-10-next_step: p">
            <a:extLst xmlns:a="http://schemas.openxmlformats.org/drawingml/2006/main">
              <a:ext uri="{FF2B5EF4-FFF2-40B4-BE49-F238E27FC236}">
                <a16:creationId xmlns:a16="http://schemas.microsoft.com/office/drawing/2014/main" id="{C4897F66-4F61-4FD4-B434-3EACE6BF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next_step: preserve_tail       # 下一轮的明确入口</a:t>
            </a:r>
          </a:p>
        </p:txBody>
      </p:sp>
      <p:sp>
        <p:nvSpPr>
          <p:cNvPr id="12" name="text-11-evidence_pat">
            <a:extLst xmlns:a="http://schemas.openxmlformats.org/drawingml/2006/main">
              <a:ext uri="{FF2B5EF4-FFF2-40B4-BE49-F238E27FC236}">
                <a16:creationId xmlns:a16="http://schemas.microsoft.com/office/drawing/2014/main" id="{B0AA03D2-417C-4291-8B97-B3465131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evidence_path: run_02/report   # 原始证据放文件</a:t>
            </a:r>
          </a:p>
        </p:txBody>
      </p:sp>
      <p:sp>
        <p:nvSpPr>
          <p:cNvPr id="13" name="text-12-status: RETR">
            <a:extLst xmlns:a="http://schemas.openxmlformats.org/drawingml/2006/main">
              <a:ext uri="{FF2B5EF4-FFF2-40B4-BE49-F238E27FC236}">
                <a16:creationId xmlns:a16="http://schemas.microsoft.com/office/drawing/2014/main" id="{52BB4C70-5941-4828-8643-1283699C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status: RETRY                 # 可恢复的当前状态</a:t>
            </a:r>
          </a:p>
        </p:txBody>
      </p:sp>
      <p:sp>
        <p:nvSpPr>
          <p:cNvPr id="14" name="text-13-每轮只装入任务相关摘要；">
            <a:extLst xmlns:a="http://schemas.openxmlformats.org/drawingml/2006/main">
              <a:ext uri="{FF2B5EF4-FFF2-40B4-BE49-F238E27FC236}">
                <a16:creationId xmlns:a16="http://schemas.microsoft.com/office/drawing/2014/main" id="{B4F8DB77-0A51-4079-9896-017B6610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每轮只装入任务相关摘要；详细日志按需读取。</a:t>
            </a:r>
          </a:p>
        </p:txBody>
      </p:sp>
    </p:spTree>
    <p:extLst>
      <p:ext uri="{BB962C8B-B14F-4D97-AF65-F5344CB8AC3E}">
        <p14:creationId xmlns:p14="http://schemas.microsoft.com/office/powerpoint/2010/main" val="11495479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退出条件与人工接手">
            <a:extLst xmlns:a="http://schemas.openxmlformats.org/drawingml/2006/main">
              <a:ext uri="{FF2B5EF4-FFF2-40B4-BE49-F238E27FC236}">
                <a16:creationId xmlns:a16="http://schemas.microsoft.com/office/drawing/2014/main" id="{52C94202-F399-4FB0-B236-1561C64E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退出条件与人工接手</a:t>
            </a:r>
          </a:p>
        </p:txBody>
      </p:sp>
      <p:sp>
        <p:nvSpPr>
          <p:cNvPr id="2" name="text-1-停止也是闭环的正常结果">
            <a:extLst xmlns:a="http://schemas.openxmlformats.org/drawingml/2006/main">
              <a:ext uri="{FF2B5EF4-FFF2-40B4-BE49-F238E27FC236}">
                <a16:creationId xmlns:a16="http://schemas.microsoft.com/office/drawing/2014/main" id="{72D47408-A4AB-44D0-B035-840361E4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停止也是闭环的正常结果</a:t>
            </a:r>
          </a:p>
        </p:txBody>
      </p:sp>
      <p:sp>
        <p:nvSpPr>
          <p:cNvPr id="3" name="text-2-10">
            <a:extLst xmlns:a="http://schemas.openxmlformats.org/drawingml/2006/main">
              <a:ext uri="{FF2B5EF4-FFF2-40B4-BE49-F238E27FC236}">
                <a16:creationId xmlns:a16="http://schemas.microsoft.com/office/drawing/2014/main" id="{8A19EEE7-88C4-47E2-B301-9E7E10B9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24350"/>
                <a:gridCol w="4267200"/>
              </a:tblGrid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交付内容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SUCCESS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必需验收全部通过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候选产物与复查证据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BUDGET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次数、时长或成本到限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停止点与剩余任务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STALLED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连续无新证据或有效变化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重复失败与已尝试方案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4770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BLOCKED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依赖缺失或结果为未知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阻塞原因与恢复所需条件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无进展看失败特征与产物变">
            <a:extLst xmlns:a="http://schemas.openxmlformats.org/drawingml/2006/main">
              <a:ext uri="{FF2B5EF4-FFF2-40B4-BE49-F238E27FC236}">
                <a16:creationId xmlns:a16="http://schemas.microsoft.com/office/drawing/2014/main" id="{A1DA427B-590C-4710-84AC-C980573D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无进展看失败特征与产物变化，不能只看模型是否说“有进展”。</a:t>
            </a:r>
          </a:p>
        </p:txBody>
      </p:sp>
    </p:spTree>
    <p:extLst>
      <p:ext uri="{BB962C8B-B14F-4D97-AF65-F5344CB8AC3E}">
        <p14:creationId xmlns:p14="http://schemas.microsoft.com/office/powerpoint/2010/main" val="7328192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0-伪代码：受约束的单次执行">
            <a:extLst xmlns:a="http://schemas.openxmlformats.org/drawingml/2006/main">
              <a:ext uri="{FF2B5EF4-FFF2-40B4-BE49-F238E27FC236}">
                <a16:creationId xmlns:a16="http://schemas.microsoft.com/office/drawing/2014/main" id="{802E4175-FFCA-4F18-AF97-002F05B9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伪代码：受约束的单次执行</a:t>
            </a:r>
          </a:p>
        </p:txBody>
      </p:sp>
      <p:sp>
        <p:nvSpPr>
          <p:cNvPr id="2" name="text-1-1 / 3  初始化与调">
            <a:extLst xmlns:a="http://schemas.openxmlformats.org/drawingml/2006/main">
              <a:ext uri="{FF2B5EF4-FFF2-40B4-BE49-F238E27FC236}">
                <a16:creationId xmlns:a16="http://schemas.microsoft.com/office/drawing/2014/main" id="{295B6E96-A392-4739-9928-C89B92A4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 / 3  初始化与调用前检查</a:t>
            </a:r>
          </a:p>
        </p:txBody>
      </p:sp>
      <p:sp>
        <p:nvSpPr>
          <p:cNvPr id="3" name="text-2-11">
            <a:extLst xmlns:a="http://schemas.openxmlformats.org/drawingml/2006/main">
              <a:ext uri="{FF2B5EF4-FFF2-40B4-BE49-F238E27FC236}">
                <a16:creationId xmlns:a16="http://schemas.microsoft.com/office/drawing/2014/main" id="{DE1E25FC-6F03-44F3-8300-AF369CF0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-# 先加载记录，再核对当">
            <a:extLst xmlns:a="http://schemas.openxmlformats.org/drawingml/2006/main">
              <a:ext uri="{FF2B5EF4-FFF2-40B4-BE49-F238E27FC236}">
                <a16:creationId xmlns:a16="http://schemas.microsoft.com/office/drawing/2014/main" id="{A53661EE-9AE5-4045-8767-5315F4CE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先加载记录，再核对当前仓库与环境</a:t>
            </a:r>
          </a:p>
        </p:txBody>
      </p:sp>
      <p:sp>
        <p:nvSpPr>
          <p:cNvPr id="5" name="text-4-state = load">
            <a:extLst xmlns:a="http://schemas.openxmlformats.org/drawingml/2006/main">
              <a:ext uri="{FF2B5EF4-FFF2-40B4-BE49-F238E27FC236}">
                <a16:creationId xmlns:a16="http://schemas.microsoft.com/office/drawing/2014/main" id="{693806CC-03A3-45CF-ABD4-144888FE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state = load_and_reconcile(task_id)</a:t>
            </a:r>
          </a:p>
        </p:txBody>
      </p:sp>
      <p:sp>
        <p:nvSpPr>
          <p:cNvPr id="6" name="text-5-accept = loc">
            <a:extLst xmlns:a="http://schemas.openxmlformats.org/drawingml/2006/main">
              <a:ext uri="{FF2B5EF4-FFF2-40B4-BE49-F238E27FC236}">
                <a16:creationId xmlns:a16="http://schemas.microsoft.com/office/drawing/2014/main" id="{53515ADF-AA90-4678-AFA0-BE2832DE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accept = lock_acceptance(spec)  # 本次验收不可被执行者降低</a:t>
            </a:r>
          </a:p>
        </p:txBody>
      </p:sp>
      <p:sp>
        <p:nvSpPr>
          <p:cNvPr id="7" name="text-6-for attempt ">
            <a:extLst xmlns:a="http://schemas.openxmlformats.org/drawingml/2006/main">
              <a:ext uri="{FF2B5EF4-FFF2-40B4-BE49-F238E27FC236}">
                <a16:creationId xmlns:a16="http://schemas.microsoft.com/office/drawing/2014/main" id="{EA970ED4-ADCF-406E-B63F-66241B7A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for attempt in state.attempt + 1..limits.max_rounds:</a:t>
            </a:r>
          </a:p>
        </p:txBody>
      </p:sp>
      <p:sp>
        <p:nvSpPr>
          <p:cNvPr id="8" name="text-7-    if not b">
            <a:extLst xmlns:a="http://schemas.openxmlformats.org/drawingml/2006/main">
              <a:ext uri="{FF2B5EF4-FFF2-40B4-BE49-F238E27FC236}">
                <a16:creationId xmlns:a16="http://schemas.microsoft.com/office/drawing/2014/main" id="{B50B6DCF-471D-4EF5-8A36-FE670C97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not budget.can_start():  # 调用前检查并预留预算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475D954F-8B17-465B-8201-3B40615A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0" name="text-9-    try:">
            <a:extLst xmlns:a="http://schemas.openxmlformats.org/drawingml/2006/main">
              <a:ext uri="{FF2B5EF4-FFF2-40B4-BE49-F238E27FC236}">
                <a16:creationId xmlns:a16="http://schemas.microsoft.com/office/drawing/2014/main" id="{C3026CC8-1136-473A-9DB6-DF97348C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try:</a:t>
            </a:r>
          </a:p>
        </p:txBody>
      </p:sp>
      <p:sp>
        <p:nvSpPr>
          <p:cNvPr id="11" name="text-10-        resu">
            <a:extLst xmlns:a="http://schemas.openxmlformats.org/drawingml/2006/main">
              <a:ext uri="{FF2B5EF4-FFF2-40B4-BE49-F238E27FC236}">
                <a16:creationId xmlns:a16="http://schemas.microsoft.com/office/drawing/2014/main" id="{2245CDC1-6C89-46F0-9882-69C7DB37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result = controlled_cycle(state, accept, limits)</a:t>
            </a:r>
          </a:p>
        </p:txBody>
      </p:sp>
      <p:sp>
        <p:nvSpPr>
          <p:cNvPr id="12" name="text-11-    catch Bu">
            <a:extLst xmlns:a="http://schemas.openxmlformats.org/drawingml/2006/main">
              <a:ext uri="{FF2B5EF4-FFF2-40B4-BE49-F238E27FC236}">
                <a16:creationId xmlns:a16="http://schemas.microsoft.com/office/drawing/2014/main" id="{F5E21C25-278F-4AF1-9EB2-62F20A83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BudgetLimit:         # 单次调用也可能触发预算限额</a:t>
            </a:r>
          </a:p>
        </p:txBody>
      </p:sp>
      <p:sp>
        <p:nvSpPr>
          <p:cNvPr id="13" name="text-12-        retu">
            <a:extLst xmlns:a="http://schemas.openxmlformats.org/drawingml/2006/main">
              <a:ext uri="{FF2B5EF4-FFF2-40B4-BE49-F238E27FC236}">
                <a16:creationId xmlns:a16="http://schemas.microsoft.com/office/drawing/2014/main" id="{665D8090-F468-461D-A447-2B7AADA3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stop_and_save(BUDGET, state)</a:t>
            </a:r>
          </a:p>
        </p:txBody>
      </p:sp>
      <p:sp>
        <p:nvSpPr>
          <p:cNvPr id="14" name="text-13-    catch er">
            <a:extLst xmlns:a="http://schemas.openxmlformats.org/drawingml/2006/main">
              <a:ext uri="{FF2B5EF4-FFF2-40B4-BE49-F238E27FC236}">
                <a16:creationId xmlns:a16="http://schemas.microsoft.com/office/drawing/2014/main" id="{BE053515-1653-4E3C-ADB1-69068DE2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catch error:</a:t>
            </a:r>
          </a:p>
        </p:txBody>
      </p:sp>
      <p:sp>
        <p:nvSpPr>
          <p:cNvPr id="15" name="text-14-        retu">
            <a:extLst xmlns:a="http://schemas.openxmlformats.org/drawingml/2006/main">
              <a:ext uri="{FF2B5EF4-FFF2-40B4-BE49-F238E27FC236}">
                <a16:creationId xmlns:a16="http://schemas.microsoft.com/office/drawing/2014/main" id="{835A1A80-ACC3-4717-AE48-6F199BC8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state, error)</a:t>
            </a:r>
          </a:p>
        </p:txBody>
      </p:sp>
      <p:sp>
        <p:nvSpPr>
          <p:cNvPr id="16" name="text-15-# 继续：处理本轮证据并">
            <a:extLst xmlns:a="http://schemas.openxmlformats.org/drawingml/2006/main">
              <a:ext uri="{FF2B5EF4-FFF2-40B4-BE49-F238E27FC236}">
                <a16:creationId xmlns:a16="http://schemas.microsoft.com/office/drawing/2014/main" id="{5EBAC1BA-DD4D-432C-8239-4EB2B8AA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继续：处理本轮证据并决定是否再运行</a:t>
            </a:r>
          </a:p>
        </p:txBody>
      </p:sp>
    </p:spTree>
    <p:extLst>
      <p:ext uri="{BB962C8B-B14F-4D97-AF65-F5344CB8AC3E}">
        <p14:creationId xmlns:p14="http://schemas.microsoft.com/office/powerpoint/2010/main" val="1958654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-伪代码：执行与外部验证">
            <a:extLst xmlns:a="http://schemas.openxmlformats.org/drawingml/2006/main">
              <a:ext uri="{FF2B5EF4-FFF2-40B4-BE49-F238E27FC236}">
                <a16:creationId xmlns:a16="http://schemas.microsoft.com/office/drawing/2014/main" id="{828CB71F-2BCA-48F0-92BD-9EBD1EFE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伪代码：执行与外部验证</a:t>
            </a:r>
          </a:p>
        </p:txBody>
      </p:sp>
      <p:sp>
        <p:nvSpPr>
          <p:cNvPr id="2" name="text-1-2 / 3  每一步都受">
            <a:extLst xmlns:a="http://schemas.openxmlformats.org/drawingml/2006/main">
              <a:ext uri="{FF2B5EF4-FFF2-40B4-BE49-F238E27FC236}">
                <a16:creationId xmlns:a16="http://schemas.microsoft.com/office/drawing/2014/main" id="{190C5E07-9D11-4468-B725-E29AB8E7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 / 3  每一步都受预算与超时控制</a:t>
            </a:r>
          </a:p>
        </p:txBody>
      </p:sp>
      <p:sp>
        <p:nvSpPr>
          <p:cNvPr id="3" name="text-2-12">
            <a:extLst xmlns:a="http://schemas.openxmlformats.org/drawingml/2006/main">
              <a:ext uri="{FF2B5EF4-FFF2-40B4-BE49-F238E27FC236}">
                <a16:creationId xmlns:a16="http://schemas.microsoft.com/office/drawing/2014/main" id="{06F38CDC-4C1C-40E6-BF89-97A9E316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-3-function con">
            <a:extLst xmlns:a="http://schemas.openxmlformats.org/drawingml/2006/main">
              <a:ext uri="{FF2B5EF4-FFF2-40B4-BE49-F238E27FC236}">
                <a16:creationId xmlns:a16="http://schemas.microsoft.com/office/drawing/2014/main" id="{F7E998E0-5C83-4CC1-A058-B91ECF9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function controlled_cycle(state, accept, limits):</a:t>
            </a:r>
          </a:p>
        </p:txBody>
      </p:sp>
      <p:sp>
        <p:nvSpPr>
          <p:cNvPr id="5" name="text-4-    facts = ">
            <a:extLst xmlns:a="http://schemas.openxmlformats.org/drawingml/2006/main">
              <a:ext uri="{FF2B5EF4-FFF2-40B4-BE49-F238E27FC236}">
                <a16:creationId xmlns:a16="http://schemas.microsoft.com/office/drawing/2014/main" id="{4F2F854E-8AA7-416A-A56E-5605B863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facts = safe_call(discover, state)  # 读取真实失败</a:t>
            </a:r>
          </a:p>
        </p:txBody>
      </p:sp>
      <p:sp>
        <p:nvSpPr>
          <p:cNvPr id="6" name="text-5-    plan = s">
            <a:extLst xmlns:a="http://schemas.openxmlformats.org/drawingml/2006/main">
              <a:ext uri="{FF2B5EF4-FFF2-40B4-BE49-F238E27FC236}">
                <a16:creationId xmlns:a16="http://schemas.microsoft.com/office/drawing/2014/main" id="{D4A737FB-1BCC-4490-9F73-0330009B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plan = safe_call(plan_next, facts)  # 选择一个小改动</a:t>
            </a:r>
          </a:p>
        </p:txBody>
      </p:sp>
      <p:sp>
        <p:nvSpPr>
          <p:cNvPr id="7" name="text-6-    work = s">
            <a:extLst xmlns:a="http://schemas.openxmlformats.org/drawingml/2006/main">
              <a:ext uri="{FF2B5EF4-FFF2-40B4-BE49-F238E27FC236}">
                <a16:creationId xmlns:a16="http://schemas.microsoft.com/office/drawing/2014/main" id="{417BA656-94D7-478B-AA12-2D47E81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work = safe_call(execute, plan)    # 在隔离区执行</a:t>
            </a:r>
          </a:p>
        </p:txBody>
      </p:sp>
      <p:sp>
        <p:nvSpPr>
          <p:cNvPr id="8" name="text-7-    verdict ">
            <a:extLst xmlns:a="http://schemas.openxmlformats.org/drawingml/2006/main">
              <a:ext uri="{FF2B5EF4-FFF2-40B4-BE49-F238E27FC236}">
                <a16:creationId xmlns:a16="http://schemas.microsoft.com/office/drawing/2014/main" id="{85DFAA62-70C5-4F81-A857-E2A9027E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verdict = safe_call(verify, work, accept)</a:t>
            </a:r>
          </a:p>
        </p:txBody>
      </p:sp>
      <p:sp>
        <p:nvSpPr>
          <p:cNvPr id="9" name="text-8-    # safe_c">
            <a:extLst xmlns:a="http://schemas.openxmlformats.org/drawingml/2006/main">
              <a:ext uri="{FF2B5EF4-FFF2-40B4-BE49-F238E27FC236}">
                <a16:creationId xmlns:a16="http://schemas.microsoft.com/office/drawing/2014/main" id="{CACC71B5-0628-42E5-9155-01B6008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safe_call 对每个工具 / 模型调用执行以下约束</a:t>
            </a:r>
          </a:p>
        </p:txBody>
      </p:sp>
      <p:sp>
        <p:nvSpPr>
          <p:cNvPr id="10" name="text-9-    # 调用前预留预">
            <a:extLst xmlns:a="http://schemas.openxmlformats.org/drawingml/2006/main">
              <a:ext uri="{FF2B5EF4-FFF2-40B4-BE49-F238E27FC236}">
                <a16:creationId xmlns:a16="http://schemas.microsoft.com/office/drawing/2014/main" id="{BDB416A0-E8F2-4DAD-AF28-529D132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调用前预留预算，设置截止时间，并传递取消信号</a:t>
            </a:r>
          </a:p>
        </p:txBody>
      </p:sp>
      <p:sp>
        <p:nvSpPr>
          <p:cNvPr id="11" name="text-10-    # 调用后登记真">
            <a:extLst xmlns:a="http://schemas.openxmlformats.org/drawingml/2006/main">
              <a:ext uri="{FF2B5EF4-FFF2-40B4-BE49-F238E27FC236}">
                <a16:creationId xmlns:a16="http://schemas.microsoft.com/office/drawing/2014/main" id="{0BA135BD-F97E-4194-9E31-EE9759D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调用后登记真实消耗，超时或故障返回异常</a:t>
            </a:r>
          </a:p>
        </p:txBody>
      </p:sp>
      <p:sp>
        <p:nvSpPr>
          <p:cNvPr id="12" name="text-11-    # verify">
            <a:extLst xmlns:a="http://schemas.openxmlformats.org/drawingml/2006/main">
              <a:ext uri="{FF2B5EF4-FFF2-40B4-BE49-F238E27FC236}">
                <a16:creationId xmlns:a16="http://schemas.microsoft.com/office/drawing/2014/main" id="{433C5097-19F5-4B0E-853F-ABDF3321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verify 必须输出通过、失败或未知及对应证据</a:t>
            </a:r>
          </a:p>
        </p:txBody>
      </p:sp>
      <p:sp>
        <p:nvSpPr>
          <p:cNvPr id="13" name="text-12-    return {">
            <a:extLst xmlns:a="http://schemas.openxmlformats.org/drawingml/2006/main">
              <a:ext uri="{FF2B5EF4-FFF2-40B4-BE49-F238E27FC236}">
                <a16:creationId xmlns:a16="http://schemas.microsoft.com/office/drawing/2014/main" id="{6764F4D0-A31E-43AD-9B17-84213FE4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return {work, verdict}            # 返回可审计结果</a:t>
            </a:r>
          </a:p>
        </p:txBody>
      </p:sp>
    </p:spTree>
    <p:extLst>
      <p:ext uri="{BB962C8B-B14F-4D97-AF65-F5344CB8AC3E}">
        <p14:creationId xmlns:p14="http://schemas.microsoft.com/office/powerpoint/2010/main" val="881848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-伪代码：状态与停止决策">
            <a:extLst xmlns:a="http://schemas.openxmlformats.org/drawingml/2006/main">
              <a:ext uri="{FF2B5EF4-FFF2-40B4-BE49-F238E27FC236}">
                <a16:creationId xmlns:a16="http://schemas.microsoft.com/office/drawing/2014/main" id="{5860F451-16FF-4789-AEE0-B82D681D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伪代码：状态与停止决策</a:t>
            </a:r>
          </a:p>
        </p:txBody>
      </p:sp>
      <p:sp>
        <p:nvSpPr>
          <p:cNvPr id="2" name="text-1-3 / 3  每种结局都">
            <a:extLst xmlns:a="http://schemas.openxmlformats.org/drawingml/2006/main">
              <a:ext uri="{FF2B5EF4-FFF2-40B4-BE49-F238E27FC236}">
                <a16:creationId xmlns:a16="http://schemas.microsoft.com/office/drawing/2014/main" id="{EFDB4D7F-4A4C-4723-9167-69F8F10E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3 / 3  每种结局都保留恢复入口</a:t>
            </a:r>
          </a:p>
        </p:txBody>
      </p:sp>
      <p:sp>
        <p:nvSpPr>
          <p:cNvPr id="3" name="text-2-13">
            <a:extLst xmlns:a="http://schemas.openxmlformats.org/drawingml/2006/main">
              <a:ext uri="{FF2B5EF4-FFF2-40B4-BE49-F238E27FC236}">
                <a16:creationId xmlns:a16="http://schemas.microsoft.com/office/drawing/2014/main" id="{E75EDED0-9F46-484F-A88C-90020DE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3-    state = ">
            <a:extLst xmlns:a="http://schemas.openxmlformats.org/drawingml/2006/main">
              <a:ext uri="{FF2B5EF4-FFF2-40B4-BE49-F238E27FC236}">
                <a16:creationId xmlns:a16="http://schemas.microsoft.com/office/drawing/2014/main" id="{24E3D642-68F0-4EDD-B00E-8707D494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state = merge(state, result, attempt)  # 登记证据与轮次</a:t>
            </a:r>
          </a:p>
        </p:txBody>
      </p:sp>
      <p:sp>
        <p:nvSpPr>
          <p:cNvPr id="5" name="text-4-    atomic_s">
            <a:extLst xmlns:a="http://schemas.openxmlformats.org/drawingml/2006/main">
              <a:ext uri="{FF2B5EF4-FFF2-40B4-BE49-F238E27FC236}">
                <a16:creationId xmlns:a16="http://schemas.microsoft.com/office/drawing/2014/main" id="{1F38DB9B-58BD-4066-A12F-CEF27666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955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atomic_save(state)                    # 临时文件后替换</a:t>
            </a:r>
          </a:p>
        </p:txBody>
      </p:sp>
      <p:sp>
        <p:nvSpPr>
          <p:cNvPr id="6" name="text-5-    if accep">
            <a:extLst xmlns:a="http://schemas.openxmlformats.org/drawingml/2006/main">
              <a:ext uri="{FF2B5EF4-FFF2-40B4-BE49-F238E27FC236}">
                <a16:creationId xmlns:a16="http://schemas.microsoft.com/office/drawing/2014/main" id="{A6358B4B-DA0E-4B8F-A765-90734D11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accepts(result, accept):           # 必需验收全部通过</a:t>
            </a:r>
          </a:p>
        </p:txBody>
      </p:sp>
      <p:sp>
        <p:nvSpPr>
          <p:cNvPr id="7" name="text-6-        retu">
            <a:extLst xmlns:a="http://schemas.openxmlformats.org/drawingml/2006/main">
              <a:ext uri="{FF2B5EF4-FFF2-40B4-BE49-F238E27FC236}">
                <a16:creationId xmlns:a16="http://schemas.microsoft.com/office/drawing/2014/main" id="{2343010B-778A-4312-9B61-C6EF137C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stop_and_save(SUCCESS, state)</a:t>
            </a:r>
          </a:p>
        </p:txBody>
      </p:sp>
      <p:sp>
        <p:nvSpPr>
          <p:cNvPr id="8" name="text-7-    if resul">
            <a:extLst xmlns:a="http://schemas.openxmlformats.org/drawingml/2006/main">
              <a:ext uri="{FF2B5EF4-FFF2-40B4-BE49-F238E27FC236}">
                <a16:creationId xmlns:a16="http://schemas.microsoft.com/office/drawing/2014/main" id="{93AE928C-B88F-4F13-86E4-F76807AE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result.verdict == UNKNOWN:         # 未执行不能算通过</a:t>
            </a:r>
          </a:p>
        </p:txBody>
      </p:sp>
      <p:sp>
        <p:nvSpPr>
          <p:cNvPr id="9" name="text-8-        retu">
            <a:extLst xmlns:a="http://schemas.openxmlformats.org/drawingml/2006/main">
              <a:ext uri="{FF2B5EF4-FFF2-40B4-BE49-F238E27FC236}">
                <a16:creationId xmlns:a16="http://schemas.microsoft.com/office/drawing/2014/main" id="{49BF9D16-8D03-4D1C-8562-9B9A1C3B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stop_and_save(BLOCKED, state)</a:t>
            </a:r>
          </a:p>
        </p:txBody>
      </p:sp>
      <p:sp>
        <p:nvSpPr>
          <p:cNvPr id="10" name="text-9-    if no_pr">
            <a:extLst xmlns:a="http://schemas.openxmlformats.org/drawingml/2006/main">
              <a:ext uri="{FF2B5EF4-FFF2-40B4-BE49-F238E27FC236}">
                <a16:creationId xmlns:a16="http://schemas.microsoft.com/office/drawing/2014/main" id="{45718162-0489-4E6B-98BF-53616F72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if no_progress(state):                # 相同失败持续出现</a:t>
            </a:r>
          </a:p>
        </p:txBody>
      </p:sp>
      <p:sp>
        <p:nvSpPr>
          <p:cNvPr id="11" name="text-10-        retu">
            <a:extLst xmlns:a="http://schemas.openxmlformats.org/drawingml/2006/main">
              <a:ext uri="{FF2B5EF4-FFF2-40B4-BE49-F238E27FC236}">
                <a16:creationId xmlns:a16="http://schemas.microsoft.com/office/drawing/2014/main" id="{FF0D3C07-809E-4B89-B340-ED3DEC97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        return stop_and_save(STALLED, state)</a:t>
            </a:r>
          </a:p>
        </p:txBody>
      </p:sp>
      <p:sp>
        <p:nvSpPr>
          <p:cNvPr id="12" name="text-11-    # 否则把失败证">
            <a:extLst xmlns:a="http://schemas.openxmlformats.org/drawingml/2006/main">
              <a:ext uri="{FF2B5EF4-FFF2-40B4-BE49-F238E27FC236}">
                <a16:creationId xmlns:a16="http://schemas.microsoft.com/office/drawing/2014/main" id="{4A5037D8-8346-4958-9EF1-95F5728E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    # 否则把失败证据带入下一轮计划</a:t>
            </a:r>
          </a:p>
        </p:txBody>
      </p:sp>
      <p:sp>
        <p:nvSpPr>
          <p:cNvPr id="13" name="text-12-return stop_">
            <a:extLst xmlns:a="http://schemas.openxmlformats.org/drawingml/2006/main">
              <a:ext uri="{FF2B5EF4-FFF2-40B4-BE49-F238E27FC236}">
                <a16:creationId xmlns:a16="http://schemas.microsoft.com/office/drawing/2014/main" id="{C14DE75A-E690-4BCA-92CB-A79E96AA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return stop_and_save(BUDGET, state)        # 轮次耗尽也保存</a:t>
            </a:r>
          </a:p>
        </p:txBody>
      </p:sp>
      <p:sp>
        <p:nvSpPr>
          <p:cNvPr id="14" name="text-13-# stop_and_s">
            <a:extLst xmlns:a="http://schemas.openxmlformats.org/drawingml/2006/main">
              <a:ext uri="{FF2B5EF4-FFF2-40B4-BE49-F238E27FC236}">
                <a16:creationId xmlns:a16="http://schemas.microsoft.com/office/drawing/2014/main" id="{1DB54DC1-82EA-41EA-BC5D-A12AE008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# stop_and_save：原子落盘 + 结果摘要 + 下一步建议</a:t>
            </a:r>
          </a:p>
        </p:txBody>
      </p:sp>
    </p:spTree>
    <p:extLst>
      <p:ext uri="{BB962C8B-B14F-4D97-AF65-F5344CB8AC3E}">
        <p14:creationId xmlns:p14="http://schemas.microsoft.com/office/powerpoint/2010/main" val="783998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教学案例：UART 流式">
            <a:extLst xmlns:a="http://schemas.openxmlformats.org/drawingml/2006/main">
              <a:ext uri="{FF2B5EF4-FFF2-40B4-BE49-F238E27FC236}">
                <a16:creationId xmlns:a16="http://schemas.microsoft.com/office/drawing/2014/main" id="{00D62EB2-B5C7-4EAB-8AAD-9BFBDB82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教学案例：UART 流式协议解析</a:t>
            </a:r>
          </a:p>
        </p:txBody>
      </p:sp>
      <p:sp>
        <p:nvSpPr>
          <p:cNvPr id="2" name="text-1-目标：在固定协议规则下正">
            <a:extLst xmlns:a="http://schemas.openxmlformats.org/drawingml/2006/main">
              <a:ext uri="{FF2B5EF4-FFF2-40B4-BE49-F238E27FC236}">
                <a16:creationId xmlns:a16="http://schemas.microsoft.com/office/drawing/2014/main" id="{257676E4-4DEB-484F-8557-4C54AD25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目标：在固定协议规则下正确处理分片与粘包</a:t>
            </a:r>
          </a:p>
        </p:txBody>
      </p:sp>
      <p:sp>
        <p:nvSpPr>
          <p:cNvPr id="3" name="text-2-14">
            <a:extLst xmlns:a="http://schemas.openxmlformats.org/drawingml/2006/main">
              <a:ext uri="{FF2B5EF4-FFF2-40B4-BE49-F238E27FC236}">
                <a16:creationId xmlns:a16="http://schemas.microsoft.com/office/drawing/2014/main" id="{624DF072-3DC2-4DD5-AE9B-63FC11D4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305800"/>
              </a:tblGrid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本次约束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输入格式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字节同步头 + 长度 + 载荷 + 2 字节 CRC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分片帧等待后续字节，连续完整帧逐个输出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异常行为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拒绝长度越界与 CRC 错误，按规格恢复同步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完成证据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固定用例通过，构建通过，相关回归无新增失败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579438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限定解析模块，保持既有协议与接口不变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教学假设：CRC 参数、">
            <a:extLst xmlns:a="http://schemas.openxmlformats.org/drawingml/2006/main">
              <a:ext uri="{FF2B5EF4-FFF2-40B4-BE49-F238E27FC236}">
                <a16:creationId xmlns:a16="http://schemas.microsoft.com/office/drawing/2014/main" id="{9127D665-DDC1-4210-A0CA-26927D5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38825"/>
            <a:ext cx="10934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教学假设：CRC 参数、字节序与最大载荷由协议规格锁定。</a:t>
            </a:r>
          </a:p>
        </p:txBody>
      </p:sp>
    </p:spTree>
    <p:extLst>
      <p:ext uri="{BB962C8B-B14F-4D97-AF65-F5344CB8AC3E}">
        <p14:creationId xmlns:p14="http://schemas.microsoft.com/office/powerpoint/2010/main" val="796672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-教学推演：失败如何推动下">
            <a:extLst xmlns:a="http://schemas.openxmlformats.org/drawingml/2006/main">
              <a:ext uri="{FF2B5EF4-FFF2-40B4-BE49-F238E27FC236}">
                <a16:creationId xmlns:a16="http://schemas.microsoft.com/office/drawing/2014/main" id="{26EF2C01-20C6-45D3-8AB4-51C98838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教学推演：失败如何推动下一轮</a:t>
            </a:r>
          </a:p>
        </p:txBody>
      </p:sp>
      <p:sp>
        <p:nvSpPr>
          <p:cNvPr id="2" name="text-1-以下是预设场景，展示决策">
            <a:extLst xmlns:a="http://schemas.openxmlformats.org/drawingml/2006/main">
              <a:ext uri="{FF2B5EF4-FFF2-40B4-BE49-F238E27FC236}">
                <a16:creationId xmlns:a16="http://schemas.microsoft.com/office/drawing/2014/main" id="{23F4FC14-7351-4C31-BC67-D0B24856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以下是预设场景，展示决策逻辑，不代表实测结果</a:t>
            </a:r>
          </a:p>
        </p:txBody>
      </p:sp>
      <p:sp>
        <p:nvSpPr>
          <p:cNvPr id="3" name="text-2-15">
            <a:extLst xmlns:a="http://schemas.openxmlformats.org/drawingml/2006/main">
              <a:ext uri="{FF2B5EF4-FFF2-40B4-BE49-F238E27FC236}">
                <a16:creationId xmlns:a16="http://schemas.microsoft.com/office/drawing/2014/main" id="{D11226C3-6C25-40F0-9A25-E1EFB7B5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228850"/>
          <a:ext xmlns:a="http://schemas.openxmlformats.org/drawingml/2006/main" cx="10972800" cy="2971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952500"/>
                <a:gridCol w="3048000"/>
                <a:gridCol w="3429000"/>
                <a:gridCol w="3543300"/>
              </a:tblGrid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发现的失败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最小修正方向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下一轮证据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半帧被提前消费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保留未完成帧字节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分片用例结果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异常长度未正确拒绝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先检查长度与缓存边界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长度边界与原有回归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429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错误帧后无法恢复解析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按规格消费字节并重同步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CRC、恢复与完整回归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每轮输出：代码差异、用例">
            <a:extLst xmlns:a="http://schemas.openxmlformats.org/drawingml/2006/main">
              <a:ext uri="{FF2B5EF4-FFF2-40B4-BE49-F238E27FC236}">
                <a16:creationId xmlns:a16="http://schemas.microsoft.com/office/drawing/2014/main" id="{19F53D5E-41CC-45D7-A8B4-C651656A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每轮输出：代码差异、用例结果、失败特征与下一步。</a:t>
            </a:r>
          </a:p>
        </p:txBody>
      </p:sp>
    </p:spTree>
    <p:extLst>
      <p:ext uri="{BB962C8B-B14F-4D97-AF65-F5344CB8AC3E}">
        <p14:creationId xmlns:p14="http://schemas.microsoft.com/office/powerpoint/2010/main" val="7434060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-FreeRTOS 与板端">
            <a:extLst xmlns:a="http://schemas.openxmlformats.org/drawingml/2006/main">
              <a:ext uri="{FF2B5EF4-FFF2-40B4-BE49-F238E27FC236}">
                <a16:creationId xmlns:a16="http://schemas.microsoft.com/office/drawing/2014/main" id="{2C2D89B7-9FDE-4027-B796-5B6F07A8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FreeRTOS 与板端验证边界</a:t>
            </a:r>
          </a:p>
        </p:txBody>
      </p:sp>
      <p:sp>
        <p:nvSpPr>
          <p:cNvPr id="2" name="text-1-主机验证和系统验证覆盖不">
            <a:extLst xmlns:a="http://schemas.openxmlformats.org/drawingml/2006/main">
              <a:ext uri="{FF2B5EF4-FFF2-40B4-BE49-F238E27FC236}">
                <a16:creationId xmlns:a16="http://schemas.microsoft.com/office/drawing/2014/main" id="{2FB8E5CC-C380-45A3-92AC-513E5217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主机验证和系统验证覆盖不同问题</a:t>
            </a:r>
          </a:p>
        </p:txBody>
      </p:sp>
      <p:sp>
        <p:nvSpPr>
          <p:cNvPr id="3" name="text-2-16">
            <a:extLst xmlns:a="http://schemas.openxmlformats.org/drawingml/2006/main">
              <a:ext uri="{FF2B5EF4-FFF2-40B4-BE49-F238E27FC236}">
                <a16:creationId xmlns:a16="http://schemas.microsoft.com/office/drawing/2014/main" id="{4967AE4E-32B9-499F-851C-85898E0E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text-3-主机侧可快速闭环">
            <a:extLst xmlns:a="http://schemas.openxmlformats.org/drawingml/2006/main">
              <a:ext uri="{FF2B5EF4-FFF2-40B4-BE49-F238E27FC236}">
                <a16:creationId xmlns:a16="http://schemas.microsoft.com/office/drawing/2014/main" id="{7C8CD440-861B-4E6D-BB4E-AF53DA5F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主机侧可快速闭环</a:t>
            </a:r>
          </a:p>
        </p:txBody>
      </p:sp>
      <p:sp>
        <p:nvSpPr>
          <p:cNvPr id="5" name="text-4-分片、粘包与非法输入&#10;内">
            <a:extLst xmlns:a="http://schemas.openxmlformats.org/drawingml/2006/main">
              <a:ext uri="{FF2B5EF4-FFF2-40B4-BE49-F238E27FC236}">
                <a16:creationId xmlns:a16="http://schemas.microsoft.com/office/drawing/2014/main" id="{F40D347B-6B32-4681-88D5-132EDAEE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分片、粘包与非法输入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内存边界与协议回归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构建与静态检查</a:t>
            </a:r>
          </a:p>
        </p:txBody>
      </p:sp>
      <p:sp>
        <p:nvSpPr>
          <p:cNvPr id="6" name="text-5-板端需补充真实证据">
            <a:extLst xmlns:a="http://schemas.openxmlformats.org/drawingml/2006/main">
              <a:ext uri="{FF2B5EF4-FFF2-40B4-BE49-F238E27FC236}">
                <a16:creationId xmlns:a16="http://schemas.microsoft.com/office/drawing/2014/main" id="{C00596C2-27B6-4FEF-8EE7-3CE9FF3B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33600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板端需补充真实证据</a:t>
            </a:r>
          </a:p>
        </p:txBody>
      </p:sp>
      <p:sp>
        <p:nvSpPr>
          <p:cNvPr id="7" name="text-6-中断与任务之间的交接&#10;D">
            <a:extLst xmlns:a="http://schemas.openxmlformats.org/drawingml/2006/main">
              <a:ext uri="{FF2B5EF4-FFF2-40B4-BE49-F238E27FC236}">
                <a16:creationId xmlns:a16="http://schemas.microsoft.com/office/drawing/2014/main" id="{4625459B-1C1E-424F-92C6-D4681552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956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中断与任务之间的交接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DMA / 缓冲区并发行为</a:t>
            </a:r>
          </a:p>
          <a:p xmlns:a="http://schemas.openxmlformats.org/drawingml/2006/main">
            <a:pPr>
              <a:def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复位恢复、吞吐与时序</a:t>
            </a:r>
          </a:p>
        </p:txBody>
      </p:sp>
      <p:sp>
        <p:nvSpPr>
          <p:cNvPr id="8" name="text-7-设备不可用 → 保存软件">
            <a:extLst xmlns:a="http://schemas.openxmlformats.org/drawingml/2006/main">
              <a:ext uri="{FF2B5EF4-FFF2-40B4-BE49-F238E27FC236}">
                <a16:creationId xmlns:a16="http://schemas.microsoft.com/office/drawing/2014/main" id="{D0E36FCC-63EC-4E33-BF16-518A3BF4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915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设备不可用 → 保存软件证据与板端待办 → 交还人工恢复条件</a:t>
            </a:r>
          </a:p>
        </p:txBody>
      </p:sp>
    </p:spTree>
    <p:extLst>
      <p:ext uri="{BB962C8B-B14F-4D97-AF65-F5344CB8AC3E}">
        <p14:creationId xmlns:p14="http://schemas.microsoft.com/office/powerpoint/2010/main" val="17281219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-成本来自重复读取与重复尝">
            <a:extLst xmlns:a="http://schemas.openxmlformats.org/drawingml/2006/main">
              <a:ext uri="{FF2B5EF4-FFF2-40B4-BE49-F238E27FC236}">
                <a16:creationId xmlns:a16="http://schemas.microsoft.com/office/drawing/2014/main" id="{C77ADEC4-0B34-4E18-AC96-F36902D8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成本来自重复读取与重复尝试</a:t>
            </a:r>
          </a:p>
        </p:txBody>
      </p:sp>
      <p:sp>
        <p:nvSpPr>
          <p:cNvPr id="2" name="text-1-用每个验收通过结果的总成">
            <a:extLst xmlns:a="http://schemas.openxmlformats.org/drawingml/2006/main">
              <a:ext uri="{FF2B5EF4-FFF2-40B4-BE49-F238E27FC236}">
                <a16:creationId xmlns:a16="http://schemas.microsoft.com/office/drawing/2014/main" id="{41A4330E-E8AC-4807-BDCD-4D4B6729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用每个验收通过结果的总成本评估收益</a:t>
            </a:r>
          </a:p>
        </p:txBody>
      </p:sp>
      <p:sp>
        <p:nvSpPr>
          <p:cNvPr id="3" name="text-2-17">
            <a:extLst xmlns:a="http://schemas.openxmlformats.org/drawingml/2006/main">
              <a:ext uri="{FF2B5EF4-FFF2-40B4-BE49-F238E27FC236}">
                <a16:creationId xmlns:a16="http://schemas.microsoft.com/office/drawing/2014/main" id="{989D35B2-264B-4421-8AB9-D17C991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2152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43250"/>
                <a:gridCol w="5353050"/>
                <a:gridCol w="2476500"/>
              </a:tblGrid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输入上下文策略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→ 5 次调用，千 token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累计输入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逐轮保留新增历史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12 / 16 / 20 / 24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717550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固定摘要预算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/ 8 / 8 / 8 / 8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千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  <p:sp>
        <p:nvSpPr>
          <p:cNvPr id="5" name="text-3-教学假设：5 次调用，仅">
            <a:extLst xmlns:a="http://schemas.openxmlformats.org/drawingml/2006/main">
              <a:ext uri="{FF2B5EF4-FFF2-40B4-BE49-F238E27FC236}">
                <a16:creationId xmlns:a16="http://schemas.microsoft.com/office/drawing/2014/main" id="{0BAC8117-BF9F-44C2-B2AB-E9883B15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05325"/>
            <a:ext cx="10915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教学假设：5 次调用，仅计算输入，不含缓存、输出与工具。</a:t>
            </a:r>
          </a:p>
        </p:txBody>
      </p:sp>
      <p:sp>
        <p:nvSpPr>
          <p:cNvPr id="6" name="text-4-单位验收成本 =（模型 ">
            <a:extLst xmlns:a="http://schemas.openxmlformats.org/drawingml/2006/main">
              <a:ext uri="{FF2B5EF4-FFF2-40B4-BE49-F238E27FC236}">
                <a16:creationId xmlns:a16="http://schemas.microsoft.com/office/drawing/2014/main" id="{E9B568CB-D110-4DB7-8880-CDF489DB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单位验收成本 =（模型 + 工具 + 人工复核成本）÷ 验收通过数</a:t>
            </a:r>
          </a:p>
        </p:txBody>
      </p:sp>
    </p:spTree>
    <p:extLst>
      <p:ext uri="{BB962C8B-B14F-4D97-AF65-F5344CB8AC3E}">
        <p14:creationId xmlns:p14="http://schemas.microsoft.com/office/powerpoint/2010/main" val="4394549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-常见失败模式与处理">
            <a:extLst xmlns:a="http://schemas.openxmlformats.org/drawingml/2006/main">
              <a:ext uri="{FF2B5EF4-FFF2-40B4-BE49-F238E27FC236}">
                <a16:creationId xmlns:a16="http://schemas.microsoft.com/office/drawing/2014/main" id="{C6125C0D-6B1F-42FB-BACA-C53E4F5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常见失败模式与处理</a:t>
            </a:r>
          </a:p>
        </p:txBody>
      </p:sp>
      <p:sp>
        <p:nvSpPr>
          <p:cNvPr id="2" name="text-1-把失败原因转成下一步动作">
            <a:extLst xmlns:a="http://schemas.openxmlformats.org/drawingml/2006/main">
              <a:ext uri="{FF2B5EF4-FFF2-40B4-BE49-F238E27FC236}">
                <a16:creationId xmlns:a16="http://schemas.microsoft.com/office/drawing/2014/main" id="{06FB0A5E-1F7D-4B6D-9401-1572DE63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把失败原因转成下一步动作</a:t>
            </a:r>
          </a:p>
        </p:txBody>
      </p:sp>
      <p:sp>
        <p:nvSpPr>
          <p:cNvPr id="3" name="text-2-18">
            <a:extLst xmlns:a="http://schemas.openxmlformats.org/drawingml/2006/main">
              <a:ext uri="{FF2B5EF4-FFF2-40B4-BE49-F238E27FC236}">
                <a16:creationId xmlns:a16="http://schemas.microsoft.com/office/drawing/2014/main" id="{314DD745-3F28-4636-9EFE-89E8BD5B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524375"/>
                <a:gridCol w="4067175"/>
              </a:tblGrid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失败模式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5ADAC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 anchor="ctr">
                    <a:solidFill>
                      <a:srgbClr val="122B39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自证成功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模型说完成，测试没有执行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强制读取外部检查结果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假进展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反复改同一位置，失败未变化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无进展计数与人工升级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验收漂移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删用例、放宽阈值后变绿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固定验收版本并审查变更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状态过期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新产物沿用旧报告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证据绑定版本，恢复时重核对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  <a:tr h="619125"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重复副作用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同一任务重复创建结果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  <a:tc>
                  <a:txBody>
                    <a:bodyPr wrap="square" lIns="152400" tIns="95250" rIns="11430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F2F6F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幂等标识、隔离与单任务锁</a:t>
                      </a:r>
                    </a:p>
                  </a:txBody>
                  <a:tcPr marL="91440" marR="91440" marT="45720" marB="45720" anchor="ctr">
                    <a:solidFill>
                      <a:srgbClr val="0B142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8323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-落地顺序">
            <a:extLst xmlns:a="http://schemas.openxmlformats.org/drawingml/2006/main">
              <a:ext uri="{FF2B5EF4-FFF2-40B4-BE49-F238E27FC236}">
                <a16:creationId xmlns:a16="http://schemas.microsoft.com/office/drawing/2014/main" id="{C7CD5FFB-47DC-410E-80F0-5560C365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落地顺序</a:t>
            </a:r>
          </a:p>
        </p:txBody>
      </p:sp>
      <p:sp>
        <p:nvSpPr>
          <p:cNvPr id="2" name="text-1-先稳定一个小任务，再把可">
            <a:extLst xmlns:a="http://schemas.openxmlformats.org/drawingml/2006/main">
              <a:ext uri="{FF2B5EF4-FFF2-40B4-BE49-F238E27FC236}">
                <a16:creationId xmlns:a16="http://schemas.microsoft.com/office/drawing/2014/main" id="{DEBBCB10-F035-49F4-8E66-A1BE55DF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先稳定一个小任务，再把可靠做法固化</a:t>
            </a:r>
          </a:p>
        </p:txBody>
      </p:sp>
      <p:sp>
        <p:nvSpPr>
          <p:cNvPr id="3" name="text-2-19">
            <a:extLst xmlns:a="http://schemas.openxmlformats.org/drawingml/2006/main">
              <a:ext uri="{FF2B5EF4-FFF2-40B4-BE49-F238E27FC236}">
                <a16:creationId xmlns:a16="http://schemas.microsoft.com/office/drawing/2014/main" id="{A151784E-555C-48FF-977F-DEA897A4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3-01">
            <a:extLst xmlns:a="http://schemas.openxmlformats.org/drawingml/2006/main">
              <a:ext uri="{FF2B5EF4-FFF2-40B4-BE49-F238E27FC236}">
                <a16:creationId xmlns:a16="http://schemas.microsoft.com/office/drawing/2014/main" id="{1BFE6F8D-9256-4627-B513-3465B556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-跑通一次人工流程">
            <a:extLst xmlns:a="http://schemas.openxmlformats.org/drawingml/2006/main">
              <a:ext uri="{FF2B5EF4-FFF2-40B4-BE49-F238E27FC236}">
                <a16:creationId xmlns:a16="http://schemas.microsoft.com/office/drawing/2014/main" id="{C708FF68-A228-48DD-B8D6-D38511D7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0977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跑通一次人工流程</a:t>
            </a:r>
          </a:p>
        </p:txBody>
      </p:sp>
      <p:sp>
        <p:nvSpPr>
          <p:cNvPr id="6" name="text-5-明确输入、工具、验收和输">
            <a:extLst xmlns:a="http://schemas.openxmlformats.org/drawingml/2006/main">
              <a:ext uri="{FF2B5EF4-FFF2-40B4-BE49-F238E27FC236}">
                <a16:creationId xmlns:a16="http://schemas.microsoft.com/office/drawing/2014/main" id="{6CDCAB6C-2D50-4BB6-8AC6-2CD3FF2B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4792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明确输入、工具、验收和输出证据。</a:t>
            </a:r>
          </a:p>
        </p:txBody>
      </p:sp>
      <p:sp>
        <p:nvSpPr>
          <p:cNvPr id="7" name="text-6-02">
            <a:extLst xmlns:a="http://schemas.openxmlformats.org/drawingml/2006/main">
              <a:ext uri="{FF2B5EF4-FFF2-40B4-BE49-F238E27FC236}">
                <a16:creationId xmlns:a16="http://schemas.microsoft.com/office/drawing/2014/main" id="{AE719BAF-8226-40E3-812C-DCE43576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9085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-固化为 Skill">
            <a:extLst xmlns:a="http://schemas.openxmlformats.org/drawingml/2006/main">
              <a:ext uri="{FF2B5EF4-FFF2-40B4-BE49-F238E27FC236}">
                <a16:creationId xmlns:a16="http://schemas.microsoft.com/office/drawing/2014/main" id="{23705A52-91C2-4781-9C61-03FE5C4F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908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固化为 Skill</a:t>
            </a:r>
          </a:p>
        </p:txBody>
      </p:sp>
      <p:sp>
        <p:nvSpPr>
          <p:cNvPr id="9" name="text-8-保存步骤、约束和失败处理">
            <a:extLst xmlns:a="http://schemas.openxmlformats.org/drawingml/2006/main">
              <a:ext uri="{FF2B5EF4-FFF2-40B4-BE49-F238E27FC236}">
                <a16:creationId xmlns:a16="http://schemas.microsoft.com/office/drawing/2014/main" id="{2A90E13D-D5D8-477E-8ABE-563754B3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29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保存步骤、约束和失败处理方法。</a:t>
            </a:r>
          </a:p>
        </p:txBody>
      </p:sp>
      <p:sp>
        <p:nvSpPr>
          <p:cNvPr id="10" name="text-9-03">
            <a:extLst xmlns:a="http://schemas.openxmlformats.org/drawingml/2006/main">
              <a:ext uri="{FF2B5EF4-FFF2-40B4-BE49-F238E27FC236}">
                <a16:creationId xmlns:a16="http://schemas.microsoft.com/office/drawing/2014/main" id="{C0AE228E-5615-40CA-AF3D-E2777B9A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-加入有限闭环">
            <a:extLst xmlns:a="http://schemas.openxmlformats.org/drawingml/2006/main">
              <a:ext uri="{FF2B5EF4-FFF2-40B4-BE49-F238E27FC236}">
                <a16:creationId xmlns:a16="http://schemas.microsoft.com/office/drawing/2014/main" id="{F9DF28E1-7C8E-471E-B42C-B4F4B32F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71925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加入有限闭环</a:t>
            </a:r>
          </a:p>
        </p:txBody>
      </p:sp>
      <p:sp>
        <p:nvSpPr>
          <p:cNvPr id="12" name="text-11-补上验证、状态、预算与人">
            <a:extLst xmlns:a="http://schemas.openxmlformats.org/drawingml/2006/main">
              <a:ext uri="{FF2B5EF4-FFF2-40B4-BE49-F238E27FC236}">
                <a16:creationId xmlns:a16="http://schemas.microsoft.com/office/drawing/2014/main" id="{E347660D-1E6C-4CDB-A88C-7F6E59AC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4100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补上验证、状态、预算与人工接手。</a:t>
            </a:r>
          </a:p>
        </p:txBody>
      </p:sp>
      <p:sp>
        <p:nvSpPr>
          <p:cNvPr id="13" name="text-12-04">
            <a:extLst xmlns:a="http://schemas.openxmlformats.org/drawingml/2006/main">
              <a:ext uri="{FF2B5EF4-FFF2-40B4-BE49-F238E27FC236}">
                <a16:creationId xmlns:a16="http://schemas.microsoft.com/office/drawing/2014/main" id="{C8363216-06A8-4591-A83B-23B8B70A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68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3-最后接入调度">
            <a:extLst xmlns:a="http://schemas.openxmlformats.org/drawingml/2006/main">
              <a:ext uri="{FF2B5EF4-FFF2-40B4-BE49-F238E27FC236}">
                <a16:creationId xmlns:a16="http://schemas.microsoft.com/office/drawing/2014/main" id="{09E80272-5692-4FFF-A31A-4C9E720A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最后接入调度</a:t>
            </a:r>
          </a:p>
        </p:txBody>
      </p:sp>
      <p:sp>
        <p:nvSpPr>
          <p:cNvPr id="15" name="text-14-观察验收成本与失败原因，">
            <a:extLst xmlns:a="http://schemas.openxmlformats.org/drawingml/2006/main">
              <a:ext uri="{FF2B5EF4-FFF2-40B4-BE49-F238E27FC236}">
                <a16:creationId xmlns:a16="http://schemas.microsoft.com/office/drawing/2014/main" id="{31B682DD-B600-42AE-B232-C7FE99F4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53911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观察验收成本与失败原因，再扩大范围。</a:t>
            </a:r>
          </a:p>
        </p:txBody>
      </p:sp>
    </p:spTree>
    <p:extLst>
      <p:ext uri="{BB962C8B-B14F-4D97-AF65-F5344CB8AC3E}">
        <p14:creationId xmlns:p14="http://schemas.microsoft.com/office/powerpoint/2010/main" val="5558426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-下一步：选择一个可验证的">
            <a:extLst xmlns:a="http://schemas.openxmlformats.org/drawingml/2006/main">
              <a:ext uri="{FF2B5EF4-FFF2-40B4-BE49-F238E27FC236}">
                <a16:creationId xmlns:a16="http://schemas.microsoft.com/office/drawing/2014/main" id="{578FE0F5-590D-4900-BA75-697B2708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下一步：选择一个可验证的小任务</a:t>
            </a:r>
          </a:p>
        </p:txBody>
      </p:sp>
      <p:sp>
        <p:nvSpPr>
          <p:cNvPr id="2" name="text-1-把闭环规格写清，再让 A">
            <a:extLst xmlns:a="http://schemas.openxmlformats.org/drawingml/2006/main">
              <a:ext uri="{FF2B5EF4-FFF2-40B4-BE49-F238E27FC236}">
                <a16:creationId xmlns:a16="http://schemas.microsoft.com/office/drawing/2014/main" id="{E74D2606-28F5-44AF-8563-F3D837E6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把闭环规格写清，再让 Agent 开始执行</a:t>
            </a:r>
          </a:p>
        </p:txBody>
      </p:sp>
      <p:sp>
        <p:nvSpPr>
          <p:cNvPr id="3" name="text-2-20">
            <a:extLst xmlns:a="http://schemas.openxmlformats.org/drawingml/2006/main">
              <a:ext uri="{FF2B5EF4-FFF2-40B4-BE49-F238E27FC236}">
                <a16:creationId xmlns:a16="http://schemas.microsoft.com/office/drawing/2014/main" id="{DE108B02-BDF1-4F3F-A02E-C2634F0C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text-3-完成凭什么判断？">
            <a:extLst xmlns:a="http://schemas.openxmlformats.org/drawingml/2006/main">
              <a:ext uri="{FF2B5EF4-FFF2-40B4-BE49-F238E27FC236}">
                <a16:creationId xmlns:a16="http://schemas.microsoft.com/office/drawing/2014/main" id="{78B5BF17-981F-44C2-8884-098823BF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5ADACB"/>
                </a:solidFill>
                <a:latin typeface="Microsoft YaHei"/>
                <a:ea typeface="Microsoft YaHei"/>
                <a:cs typeface="Microsoft YaHei"/>
              </a:rPr>
              <a:t>完成凭什么判断？</a:t>
            </a:r>
          </a:p>
        </p:txBody>
      </p:sp>
      <p:sp>
        <p:nvSpPr>
          <p:cNvPr id="5" name="text-4-失败之后如何变化？">
            <a:extLst xmlns:a="http://schemas.openxmlformats.org/drawingml/2006/main">
              <a:ext uri="{FF2B5EF4-FFF2-40B4-BE49-F238E27FC236}">
                <a16:creationId xmlns:a16="http://schemas.microsoft.com/office/drawing/2014/main" id="{7B811303-53AA-4346-8FFB-FF3E61FA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2F6FC"/>
                </a:solidFill>
                <a:latin typeface="Microsoft YaHei"/>
                <a:ea typeface="Microsoft YaHei"/>
                <a:cs typeface="Microsoft YaHei"/>
              </a:rPr>
              <a:t>失败之后如何变化？</a:t>
            </a:r>
          </a:p>
        </p:txBody>
      </p:sp>
      <p:sp>
        <p:nvSpPr>
          <p:cNvPr id="6" name="text-5-什么时候必须停？">
            <a:extLst xmlns:a="http://schemas.openxmlformats.org/drawingml/2006/main">
              <a:ext uri="{FF2B5EF4-FFF2-40B4-BE49-F238E27FC236}">
                <a16:creationId xmlns:a16="http://schemas.microsoft.com/office/drawing/2014/main" id="{F99A6D95-D7BF-4176-AEC8-B06D15B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6BE69"/>
                </a:solidFill>
                <a:latin typeface="Microsoft YaHei"/>
                <a:ea typeface="Microsoft YaHei"/>
                <a:cs typeface="Microsoft YaHei"/>
              </a:rPr>
              <a:t>什么时候必须停？</a:t>
            </a:r>
          </a:p>
        </p:txBody>
      </p:sp>
      <p:sp>
        <p:nvSpPr>
          <p:cNvPr id="7" name="text-6-交付目标：一个任务契约、">
            <a:extLst xmlns:a="http://schemas.openxmlformats.org/drawingml/2006/main">
              <a:ext uri="{FF2B5EF4-FFF2-40B4-BE49-F238E27FC236}">
                <a16:creationId xmlns:a16="http://schemas.microsoft.com/office/drawing/2014/main" id="{0588BBCF-61B7-430E-8B35-7CFD820A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864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DBBD0"/>
                </a:solidFill>
                <a:latin typeface="Microsoft YaHei"/>
                <a:ea typeface="Microsoft YaHei"/>
                <a:cs typeface="Microsoft YaHei"/>
              </a:rPr>
              <a:t>交付目标：一个任务契约、一条证据链、一个可恢复的闭环。</a:t>
            </a:r>
          </a:p>
        </p:txBody>
      </p:sp>
    </p:spTree>
    <p:extLst>
      <p:ext uri="{BB962C8B-B14F-4D97-AF65-F5344CB8AC3E}">
        <p14:creationId xmlns:p14="http://schemas.microsoft.com/office/powerpoint/2010/main" val="278549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2026-09-08T06:25:22.9960000Z</dcterms:created>
  <dcterms:modified xsi:type="dcterms:W3CDTF">2026-09-08T06:25:22.9960000Z</dcterms:modified>
</coreProperties>
</file>