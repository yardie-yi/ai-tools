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19a6fa3dec42fb" /><Relationship Type="http://schemas.openxmlformats.org/officeDocument/2006/relationships/extended-properties" Target="/docProps/app.xml" Id="R60810e1b24ab4b31" /><Relationship Type="http://schemas.openxmlformats.org/officeDocument/2006/relationships/officeDocument" Target="/ppt/presentation.xml" Id="R8f3735390ee94b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0c9ecacc0d4812"/>
  </p:sldMasterIdLst>
  <p:notesMasterIdLst>
    <p:notesMasterId xmlns:r="http://schemas.openxmlformats.org/officeDocument/2006/relationships" r:id="Re073da646c334dbe"/>
  </p:notesMasterIdLst>
  <p:sldIdLst>
    <p:sldId xmlns:r="http://schemas.openxmlformats.org/officeDocument/2006/relationships" id="256" r:id="Rf0a1864c118948d3"/>
    <p:sldId xmlns:r="http://schemas.openxmlformats.org/officeDocument/2006/relationships" id="257" r:id="R9958abdb50f84086"/>
    <p:sldId xmlns:r="http://schemas.openxmlformats.org/officeDocument/2006/relationships" id="258" r:id="Rf132dbf4718d4317"/>
    <p:sldId xmlns:r="http://schemas.openxmlformats.org/officeDocument/2006/relationships" id="259" r:id="R166693b1149e4abc"/>
    <p:sldId xmlns:r="http://schemas.openxmlformats.org/officeDocument/2006/relationships" id="260" r:id="R1e247841d3ef4638"/>
    <p:sldId xmlns:r="http://schemas.openxmlformats.org/officeDocument/2006/relationships" id="261" r:id="R6655f56e6da04928"/>
    <p:sldId xmlns:r="http://schemas.openxmlformats.org/officeDocument/2006/relationships" id="262" r:id="Ra936c9ab0b964852"/>
    <p:sldId xmlns:r="http://schemas.openxmlformats.org/officeDocument/2006/relationships" id="263" r:id="R57fd81c94cfd4fba"/>
    <p:sldId xmlns:r="http://schemas.openxmlformats.org/officeDocument/2006/relationships" id="264" r:id="Rc5e3c17e74a148e0"/>
    <p:sldId xmlns:r="http://schemas.openxmlformats.org/officeDocument/2006/relationships" id="265" r:id="Re94796da88e24a35"/>
    <p:sldId xmlns:r="http://schemas.openxmlformats.org/officeDocument/2006/relationships" id="266" r:id="Rc84e17c26b5145ef"/>
    <p:sldId xmlns:r="http://schemas.openxmlformats.org/officeDocument/2006/relationships" id="267" r:id="Rbad3cca7f1e44207"/>
    <p:sldId xmlns:r="http://schemas.openxmlformats.org/officeDocument/2006/relationships" id="268" r:id="R6707e11addbf433c"/>
    <p:sldId xmlns:r="http://schemas.openxmlformats.org/officeDocument/2006/relationships" id="269" r:id="R7950d1b88b634b5f"/>
    <p:sldId xmlns:r="http://schemas.openxmlformats.org/officeDocument/2006/relationships" id="270" r:id="Rbc7736b62b504570"/>
    <p:sldId xmlns:r="http://schemas.openxmlformats.org/officeDocument/2006/relationships" id="271" r:id="R43d1394493664d14"/>
    <p:sldId xmlns:r="http://schemas.openxmlformats.org/officeDocument/2006/relationships" id="272" r:id="Rdc734cce12364cbc"/>
    <p:sldId xmlns:r="http://schemas.openxmlformats.org/officeDocument/2006/relationships" id="273" r:id="R42b8abf5334443c1"/>
    <p:sldId xmlns:r="http://schemas.openxmlformats.org/officeDocument/2006/relationships" id="274" r:id="Rb937885e823c4212"/>
    <p:sldId xmlns:r="http://schemas.openxmlformats.org/officeDocument/2006/relationships" id="275" r:id="R69fdd78ba92845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d2d7ede6584931" /><Relationship Type="http://schemas.openxmlformats.org/officeDocument/2006/relationships/slideMaster" Target="/ppt/slideMasters/slideMaster1.xml" Id="Rfa0c9ecacc0d4812" /><Relationship Type="http://schemas.openxmlformats.org/officeDocument/2006/relationships/notesMaster" Target="/ppt/notesMasters/notesMaster1.xml" Id="Re073da646c334dbe" /><Relationship Type="http://schemas.openxmlformats.org/officeDocument/2006/relationships/presProps" Target="/ppt/presProps.xml" Id="Rc4ecf07f97ec4170" /><Relationship Type="http://schemas.openxmlformats.org/officeDocument/2006/relationships/tableStyles" Target="/ppt/tableStyles.xml" Id="Rda8e9354d0f64f7d" /><Relationship Type="http://schemas.openxmlformats.org/officeDocument/2006/relationships/slide" Target="/ppt/slides/slide1.xml" Id="Rf0a1864c118948d3" /><Relationship Type="http://schemas.openxmlformats.org/officeDocument/2006/relationships/slide" Target="/ppt/slides/slide2.xml" Id="R9958abdb50f84086" /><Relationship Type="http://schemas.openxmlformats.org/officeDocument/2006/relationships/slide" Target="/ppt/slides/slide3.xml" Id="Rf132dbf4718d4317" /><Relationship Type="http://schemas.openxmlformats.org/officeDocument/2006/relationships/slide" Target="/ppt/slides/slide4.xml" Id="R166693b1149e4abc" /><Relationship Type="http://schemas.openxmlformats.org/officeDocument/2006/relationships/slide" Target="/ppt/slides/slide5.xml" Id="R1e247841d3ef4638" /><Relationship Type="http://schemas.openxmlformats.org/officeDocument/2006/relationships/slide" Target="/ppt/slides/slide6.xml" Id="R6655f56e6da04928" /><Relationship Type="http://schemas.openxmlformats.org/officeDocument/2006/relationships/slide" Target="/ppt/slides/slide7.xml" Id="Ra936c9ab0b964852" /><Relationship Type="http://schemas.openxmlformats.org/officeDocument/2006/relationships/slide" Target="/ppt/slides/slide8.xml" Id="R57fd81c94cfd4fba" /><Relationship Type="http://schemas.openxmlformats.org/officeDocument/2006/relationships/slide" Target="/ppt/slides/slide9.xml" Id="Rc5e3c17e74a148e0" /><Relationship Type="http://schemas.openxmlformats.org/officeDocument/2006/relationships/slide" Target="/ppt/slides/slide10.xml" Id="Re94796da88e24a35" /><Relationship Type="http://schemas.openxmlformats.org/officeDocument/2006/relationships/slide" Target="/ppt/slides/slide11.xml" Id="Rc84e17c26b5145ef" /><Relationship Type="http://schemas.openxmlformats.org/officeDocument/2006/relationships/slide" Target="/ppt/slides/slide12.xml" Id="Rbad3cca7f1e44207" /><Relationship Type="http://schemas.openxmlformats.org/officeDocument/2006/relationships/slide" Target="/ppt/slides/slide13.xml" Id="R6707e11addbf433c" /><Relationship Type="http://schemas.openxmlformats.org/officeDocument/2006/relationships/slide" Target="/ppt/slides/slide14.xml" Id="R7950d1b88b634b5f" /><Relationship Type="http://schemas.openxmlformats.org/officeDocument/2006/relationships/slide" Target="/ppt/slides/slide15.xml" Id="Rbc7736b62b504570" /><Relationship Type="http://schemas.openxmlformats.org/officeDocument/2006/relationships/slide" Target="/ppt/slides/slide16.xml" Id="R43d1394493664d14" /><Relationship Type="http://schemas.openxmlformats.org/officeDocument/2006/relationships/slide" Target="/ppt/slides/slide17.xml" Id="Rdc734cce12364cbc" /><Relationship Type="http://schemas.openxmlformats.org/officeDocument/2006/relationships/slide" Target="/ppt/slides/slide18.xml" Id="R42b8abf5334443c1" /><Relationship Type="http://schemas.openxmlformats.org/officeDocument/2006/relationships/slide" Target="/ppt/slides/slide19.xml" Id="Rb937885e823c4212" /><Relationship Type="http://schemas.openxmlformats.org/officeDocument/2006/relationships/slide" Target="/ppt/slides/slide20.xml" Id="R69fdd78ba92845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d1190886f84c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35cfe3809b4332" /><Relationship Type="http://schemas.openxmlformats.org/officeDocument/2006/relationships/notesMaster" Target="/ppt/notesMasters/notesMaster1.xml" Id="R5bc0b694f9634f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c4b8ff4aaa4498" /><Relationship Type="http://schemas.openxmlformats.org/officeDocument/2006/relationships/notesMaster" Target="/ppt/notesMasters/notesMaster1.xml" Id="Ra087ab3a797244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d3d403e7fb4fab" /><Relationship Type="http://schemas.openxmlformats.org/officeDocument/2006/relationships/notesMaster" Target="/ppt/notesMasters/notesMaster1.xml" Id="R9984de98d5d84a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05ad43ac6a4617" /><Relationship Type="http://schemas.openxmlformats.org/officeDocument/2006/relationships/notesMaster" Target="/ppt/notesMasters/notesMaster1.xml" Id="R14ebf0952e0b42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9b5cd92d724710" /><Relationship Type="http://schemas.openxmlformats.org/officeDocument/2006/relationships/notesMaster" Target="/ppt/notesMasters/notesMaster1.xml" Id="R57fa545e46e945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4b868eb2f641c3" /><Relationship Type="http://schemas.openxmlformats.org/officeDocument/2006/relationships/notesMaster" Target="/ppt/notesMasters/notesMaster1.xml" Id="R18b34fc40e6749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b9458b97684c3d" /><Relationship Type="http://schemas.openxmlformats.org/officeDocument/2006/relationships/notesMaster" Target="/ppt/notesMasters/notesMaster1.xml" Id="Red25e4f4437549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d2a66665304511" /><Relationship Type="http://schemas.openxmlformats.org/officeDocument/2006/relationships/notesMaster" Target="/ppt/notesMasters/notesMaster1.xml" Id="Ra5bbb6ad1ea747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080ce5621b4f71" /><Relationship Type="http://schemas.openxmlformats.org/officeDocument/2006/relationships/notesMaster" Target="/ppt/notesMasters/notesMaster1.xml" Id="Rac66331f706e47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4e45bff9a9438c" /><Relationship Type="http://schemas.openxmlformats.org/officeDocument/2006/relationships/notesMaster" Target="/ppt/notesMasters/notesMaster1.xml" Id="Rfbc1d94ffa4e4c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922875698b44c2" /><Relationship Type="http://schemas.openxmlformats.org/officeDocument/2006/relationships/notesMaster" Target="/ppt/notesMasters/notesMaster1.xml" Id="R66464ad6f90148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d3eb30e1ef4fc1" /><Relationship Type="http://schemas.openxmlformats.org/officeDocument/2006/relationships/notesMaster" Target="/ppt/notesMasters/notesMaster1.xml" Id="R36060d294b7f49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a1220f75394ebb" /><Relationship Type="http://schemas.openxmlformats.org/officeDocument/2006/relationships/notesMaster" Target="/ppt/notesMasters/notesMaster1.xml" Id="R3ee1192720b341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6eed8f38804494" /><Relationship Type="http://schemas.openxmlformats.org/officeDocument/2006/relationships/notesMaster" Target="/ppt/notesMasters/notesMaster1.xml" Id="R46ff9bfc829e4e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87446619c04ae8" /><Relationship Type="http://schemas.openxmlformats.org/officeDocument/2006/relationships/notesMaster" Target="/ppt/notesMasters/notesMaster1.xml" Id="Rd4c91420e28d4a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333c473bdf4549" /><Relationship Type="http://schemas.openxmlformats.org/officeDocument/2006/relationships/notesMaster" Target="/ppt/notesMasters/notesMaster1.xml" Id="R515fa65260fc4b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04c0e536d643f7" /><Relationship Type="http://schemas.openxmlformats.org/officeDocument/2006/relationships/notesMaster" Target="/ppt/notesMasters/notesMaster1.xml" Id="Rec3ee047013d43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1ebe53c5574a78" /><Relationship Type="http://schemas.openxmlformats.org/officeDocument/2006/relationships/notesMaster" Target="/ppt/notesMasters/notesMaster1.xml" Id="R27769a34f21841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0f527214e794e35" /><Relationship Type="http://schemas.openxmlformats.org/officeDocument/2006/relationships/notesMaster" Target="/ppt/notesMasters/notesMaster1.xml" Id="R19ff52a518a240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4a5b6b628ec4bed" /><Relationship Type="http://schemas.openxmlformats.org/officeDocument/2006/relationships/notesMaster" Target="/ppt/notesMasters/notesMaster1.xml" Id="R883479201db244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建议分享时长约 20–25 分钟。内容包括闭环的定义、执行步骤、验证方法、状态记录和停止条件，最后用 UART 协议解析案例说明如何应用。案例中的协议要求、模拟执行结果和成本数字均为教学假设，未对真实项目执行测试。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指能够调用工具执行任务的 AI 程序。人先定义目标、允许的操作范围和验收标准。控制程序安排 Agent 执行任务，再读取测试或其他检查结果，决定下一步动作。多轮执行可以在一次任务内完成，不要求定时启动。重复执行不保证结果变好，每轮需要根据具体失败原因调整做法。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Discover 读取任务要求、当前代码和实际失败信息，核对历史记录是否仍然有效。Plan 确定本轮处理的一个具体问题，并说明修改范围和验证方法。Execute 修改代码或调用工具。Verify 按预先确定的验收标准检查修改结果。Iterate 保存检查结果，决定继续修改、结束任务或转交人工。一轮完整执行也称一次迭代。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Verify 用于检查代码或文件是否满足要求。State 保存下一轮需要读取的执行记录，不会改变模型参数。Stop 定义任务完成和无法继续时的处理方式。测试未执行、设备不可用或日志缺失时，检查结果应为未知。AI 自己声称完成不能代替实际检查。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重复频率用于估算搭建和维护流程是否值得，没有统一的每周次数要求。复杂的一次性任务也可以通过几轮修改和检查完成，但未必需要长期自动运行。检查依赖主观判断或所需工具不全时，可保留人工处理步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是发给模型的任务指令。Context 是模型本次能读取的信息。Harness 是运行 Agent 的配套环境，包括工具、权限、工作区隔离和操作限制。Loop 根据检查结果安排重复执行。Graph 用图表示多个任务之间的先后依赖和分支，一个任务内部也可以使用循环修改和验证。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触发器确定任务何时启动，可以手动启动，也可以响应事件或按时执行。Skill 是保存为文件的可复用操作说明。独立审查者读取修改内容并检查问题，仍需用实际测试核实判断。连接器提供访问仓库和设备等环境的接口，每次操作还应符合授权范围。执行记录由状态文件统一保存。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自检可以提出遗漏和潜在问题，但评分不能证明代码正确。软件验证应读取实际构建、测试和静态检查的结果。测试通过只说明已覆盖条件符合要求，不能证明所有条件都不存在缺陷。执行者不得为了让检查通过而删除失败测试或降低验收标准。每份报告需要记录代码版本、验收标准版本、配置和执行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文件保存任务进度、失败原因和下一轮要做的操作。除示例字段外，可以记录已用预算、验收标准版本和环境信息。恢复任务时重新核对代码和设备状态，避免使用过期报告。保存失败时停止修改并报告错误。状态记录供后续调用读取，不会训练模型。对可能重复提交的操作，可使用唯一操作编号识别并跳过重复请求，这称为幂等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SUCCESS 表示所有必需检查已执行且通过，报告对应当前代码版本。BUDGET 表示次数、总时长或费用达到上限。STALLED 表示连续多轮未解决问题，例如相同测试一直失败且没有新的可行修改方法。BLOCKED 表示缺少设备、权限或其他依赖，或无法取得完整检查结果。转交人工时列出已完成修改、剩余问题、检查报告和恢复所需条件。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这三页伪代码表达控制流程，不是可直接执行的程序。accept 保存本次使用的验收标准版本。limits 包含最大轮数、总时限和 token 或费用上限。persist_attempt 在调用前把本轮计数写入状态文件，避免进程中断后恢复时重复获得执行次数。每个工具和模型调用都要在执行前登记预留预算，并设置超时及取消机制。第三页继续说明如何处理检查结果。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safe_call 封装统一的调用处理：检查并预留预算、执行操作、记录实际消耗，超时后取消操作。若子进程未响应取消信号，运行环境还需要终止该进程并确认它已经停止。代码修改在独立工作区进行，保存修改前的失败信息和修改后的文件。检查工具使用预先确定的验收标准，返回通过、失败或未知，并附上检查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此处接着第 11 页成功取得 result 后的循环体执行。accepts 检查报告是否对应当前代码和验收标准，所有必需测试是否已经执行且通过。no_progress 根据相同标准下的代码差异、失败用例和已试方法判断是否连续多轮没有解决问题。atomic_save 先完整写入临时文件，再一次性替换旧状态文件，这称为原子保存。停止时保存状态并输出报告，保存失败时报告错误并停止修改。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本案例为教学假设，未对真实代码或硬件执行测试。分片指一帧的数据分多次到达，粘包指一次接收中含有多帧数据。协议假设包含两字节同步头、长度字段、可变载荷和两字节 CRC。实际 CRC 多项式、初值、反射设置、长度含义和最大载荷应在协议规格中确定，不能由模型猜测。中断服务程序向任务传递数据的过程，以及板端吞吐率，还需要单独测试。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第一轮处理未收齐的帧被丢弃的问题。第二轮在读取载荷或 CRC 前检查长度和缓冲区边界。第三轮处理错误帧后无法恢复解析的问题。每轮都重新运行分片、粘包和之前已通过的回归用例，防止新修改破坏原有功能。失败用例减少时，还要确认测试没有被删除或降低要求。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解析逻辑可以用主机侧测试检查。中断时序、DMA 缓冲区复用、任务同步和实际吞吐率，还需要在目标板运行测试。协议字节序、CRC 和内存访问边界也要在目标编译环境核对。没有板卡或测试适配器时，应记录“软件验证通过，板端待验证”。如果任务验收包含板端测试，整项任务仍未完成。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 是模型处理文本的计量单位。表中数字为教学假设，未对具体工具实测。假设调用五次，不使用缓存或压缩，只比较输入 token 数量。输出 token、工具运行和人工复核需要另外统计。实际费用取决于模型价格、缓存和调用次数。是否划算还应与任务价值和原来的人工成本比较，没有统一的验收通过率阈值。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同失败持续出现时，需要停止重复修改，检查原因或转交人工。执行过程中修改原定验收标准，需要单独审查。恢复任务时核对报告是否对应当前文件版本。多个任务同时工作时使用独立工作区，或按顺序执行。唯一操作编号用于识别重复请求，任务锁用于防止同一任务被同时执行。具体配置应按项目要求确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先选择修改范围小、容易验证的任务，例如修复某个模块的构建失败。手动完成一次执行、检查和错误处理，确认流程可以使用。然后把步骤写为 Skill 文件，再加入自动检查、状态保存和停止条件。多次运行可靠后，可以设置事件触发或定时启动。试运行时记录完成比例、每项完成任务的费用、人工处理次数和故障原因。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首次试运行需要明确验收检查、失败后的处理方法和停止条件。选择一个真实任务，写明输入、允许调用的工具、需要输出的文件和检查方法。执行结束后保存代码修改、检查报告及剩余问题。配套 HTML 包含步骤说明、模拟器、完整伪代码和配置清单。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dbc3c6d2843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79f2045ab4a9f" /><Relationship Type="http://schemas.openxmlformats.org/officeDocument/2006/relationships/slideLayout" Target="/ppt/slideLayouts/slideLayout1.xml" Id="Rc7e3aa7b72ff48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e3aa7b72ff48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44c07386e4360" /><Relationship Type="http://schemas.openxmlformats.org/officeDocument/2006/relationships/image" Target="/ppt/media/image.png" Id="R4cf2e3f4b55b4bbb" /><Relationship Type="http://schemas.openxmlformats.org/officeDocument/2006/relationships/notesSlide" Target="/ppt/notesSlides/notesSlide1.xml" Id="R6a107d2661944e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20f9c39e9445f" /><Relationship Type="http://schemas.openxmlformats.org/officeDocument/2006/relationships/notesSlide" Target="/ppt/notesSlides/notesSlide2.xml" Id="Rbbef67536bcf41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3bc208d8f4ed4" /><Relationship Type="http://schemas.openxmlformats.org/officeDocument/2006/relationships/notesSlide" Target="/ppt/notesSlides/notesSlide3.xml" Id="Ra1d6abf8838447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95eb90aca47dc" /><Relationship Type="http://schemas.openxmlformats.org/officeDocument/2006/relationships/notesSlide" Target="/ppt/notesSlides/notesSlide4.xml" Id="R552f242b829b44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5e1d7c313475c" /><Relationship Type="http://schemas.openxmlformats.org/officeDocument/2006/relationships/notesSlide" Target="/ppt/notesSlides/notesSlide5.xml" Id="R224b624197b844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f1ab368844c27" /><Relationship Type="http://schemas.openxmlformats.org/officeDocument/2006/relationships/notesSlide" Target="/ppt/notesSlides/notesSlide6.xml" Id="R79d713262de64f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6ec41450f452d" /><Relationship Type="http://schemas.openxmlformats.org/officeDocument/2006/relationships/notesSlide" Target="/ppt/notesSlides/notesSlide7.xml" Id="R63a8d8e04b924b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832a707c04323" /><Relationship Type="http://schemas.openxmlformats.org/officeDocument/2006/relationships/notesSlide" Target="/ppt/notesSlides/notesSlide8.xml" Id="R6e564555d27f49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fd7562f7c4480" /><Relationship Type="http://schemas.openxmlformats.org/officeDocument/2006/relationships/notesSlide" Target="/ppt/notesSlides/notesSlide9.xml" Id="R4ce191c2e17443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7673b74e34f2a" /><Relationship Type="http://schemas.openxmlformats.org/officeDocument/2006/relationships/notesSlide" Target="/ppt/notesSlides/notesSlide10.xml" Id="Reeb6d765820f47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d10eac62443b8" /><Relationship Type="http://schemas.openxmlformats.org/officeDocument/2006/relationships/notesSlide" Target="/ppt/notesSlides/notesSlide11.xml" Id="Rc38fe9d449bb45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1b110a7524888" /><Relationship Type="http://schemas.openxmlformats.org/officeDocument/2006/relationships/notesSlide" Target="/ppt/notesSlides/notesSlide12.xml" Id="Ra25dea4f510543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a1917f1dd43fd" /><Relationship Type="http://schemas.openxmlformats.org/officeDocument/2006/relationships/notesSlide" Target="/ppt/notesSlides/notesSlide13.xml" Id="Rc7eb1afe5f6341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ef87cff174ed3" /><Relationship Type="http://schemas.openxmlformats.org/officeDocument/2006/relationships/notesSlide" Target="/ppt/notesSlides/notesSlide14.xml" Id="R5d31b4b870bf48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182162e794ec8" /><Relationship Type="http://schemas.openxmlformats.org/officeDocument/2006/relationships/notesSlide" Target="/ppt/notesSlides/notesSlide15.xml" Id="R3572ff0a125241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1aaac71474aec" /><Relationship Type="http://schemas.openxmlformats.org/officeDocument/2006/relationships/notesSlide" Target="/ppt/notesSlides/notesSlide16.xml" Id="R06ec1a99d5cf49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01bde97d84dca" /><Relationship Type="http://schemas.openxmlformats.org/officeDocument/2006/relationships/notesSlide" Target="/ppt/notesSlides/notesSlide17.xml" Id="R063a24f275c44b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fe0560b8e4d90" /><Relationship Type="http://schemas.openxmlformats.org/officeDocument/2006/relationships/notesSlide" Target="/ppt/notesSlides/notesSlide18.xml" Id="Rcc0b861fb94044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cc56440e24392" /><Relationship Type="http://schemas.openxmlformats.org/officeDocument/2006/relationships/notesSlide" Target="/ppt/notesSlides/notesSlide19.xml" Id="R60ef1d374b1641f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65148ccae4bba" /><Relationship Type="http://schemas.openxmlformats.org/officeDocument/2006/relationships/notesSlide" Target="/ppt/notesSlides/notesSlide20.xml" Id="R68a7fdfdeb7645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2e3f4b55b4bb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-Loop">
            <a:extLst xmlns:a="http://schemas.openxmlformats.org/drawingml/2006/main">
              <a:ext uri="{FF2B5EF4-FFF2-40B4-BE49-F238E27FC236}">
                <a16:creationId xmlns:a16="http://schemas.microsoft.com/office/drawing/2014/main" id="{B17FE4DC-760D-4204-8356-96DEA583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Loop</a:t>
            </a:r>
          </a:p>
        </p:txBody>
      </p:sp>
      <p:sp>
        <p:nvSpPr>
          <p:cNvPr id="3" name="text-1-Engineering">
            <a:extLst xmlns:a="http://schemas.openxmlformats.org/drawingml/2006/main">
              <a:ext uri="{FF2B5EF4-FFF2-40B4-BE49-F238E27FC236}">
                <a16:creationId xmlns:a16="http://schemas.microsoft.com/office/drawing/2014/main" id="{7B9B3675-7E76-4D64-8717-5EB4BC8E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4" name="text-2-AI 任务的自动执行与验">
            <a:extLst xmlns:a="http://schemas.openxmlformats.org/drawingml/2006/main">
              <a:ext uri="{FF2B5EF4-FFF2-40B4-BE49-F238E27FC236}">
                <a16:creationId xmlns:a16="http://schemas.microsoft.com/office/drawing/2014/main" id="{3258F6EC-07CD-4772-A8CB-76F8126D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AI 任务的自动执行与验证</a:t>
            </a:r>
          </a:p>
        </p:txBody>
      </p:sp>
      <p:sp>
        <p:nvSpPr>
          <p:cNvPr id="5" name="text-3-闭环原理与嵌入式开发示例">
            <a:extLst xmlns:a="http://schemas.openxmlformats.org/drawingml/2006/main">
              <a:ext uri="{FF2B5EF4-FFF2-40B4-BE49-F238E27FC236}">
                <a16:creationId xmlns:a16="http://schemas.microsoft.com/office/drawing/2014/main" id="{93876A0E-8EB1-42D0-897E-59C75054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闭环原理与嵌入式开发示例</a:t>
            </a:r>
          </a:p>
        </p:txBody>
      </p:sp>
    </p:spTree>
    <p:extLst>
      <p:ext uri="{BB962C8B-B14F-4D97-AF65-F5344CB8AC3E}">
        <p14:creationId xmlns:p14="http://schemas.microsoft.com/office/powerpoint/2010/main" val="1640520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-Loop Enginee">
            <a:extLst xmlns:a="http://schemas.openxmlformats.org/drawingml/2006/main">
              <a:ext uri="{FF2B5EF4-FFF2-40B4-BE49-F238E27FC236}">
                <a16:creationId xmlns:a16="http://schemas.microsoft.com/office/drawing/2014/main" id="{5E8970A1-1EF4-461C-8DF1-56D44A0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Loop Engineering：任务闭环</a:t>
            </a:r>
          </a:p>
        </p:txBody>
      </p:sp>
      <p:sp>
        <p:nvSpPr>
          <p:cNvPr id="2" name="text-1-系统根据检查结果，决定继">
            <a:extLst xmlns:a="http://schemas.openxmlformats.org/drawingml/2006/main">
              <a:ext uri="{FF2B5EF4-FFF2-40B4-BE49-F238E27FC236}">
                <a16:creationId xmlns:a16="http://schemas.microsoft.com/office/drawing/2014/main" id="{1FE9FA28-690C-4192-ACDB-9DC3632A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系统根据检查结果，决定继续修改、完成任务或转交人工</a:t>
            </a:r>
          </a:p>
        </p:txBody>
      </p:sp>
      <p:sp>
        <p:nvSpPr>
          <p:cNvPr id="3" name="text-2-02">
            <a:extLst xmlns:a="http://schemas.openxmlformats.org/drawingml/2006/main">
              <a:ext uri="{FF2B5EF4-FFF2-40B4-BE49-F238E27FC236}">
                <a16:creationId xmlns:a16="http://schemas.microsoft.com/office/drawing/2014/main" id="{0FA355AE-60D5-466D-8F97-C256D0EA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3-任务目标、执行步骤、检查">
            <a:extLst xmlns:a="http://schemas.openxmlformats.org/drawingml/2006/main">
              <a:ext uri="{FF2B5EF4-FFF2-40B4-BE49-F238E27FC236}">
                <a16:creationId xmlns:a16="http://schemas.microsoft.com/office/drawing/2014/main" id="{18D60FB8-ECEF-4BB2-B82F-2C3CD418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任务目标、执行步骤、检查方法、停止条件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124200"/>
          <a:ext xmlns:a="http://schemas.openxmlformats.org/drawingml/2006/main" cx="10972800" cy="2114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524375"/>
                <a:gridCol w="4257675"/>
              </a:tblGrid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谁决定下一步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如何结束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逐次交互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人阅读结果后再下指令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人判断任务已完成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任务闭环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控制程序根据检查结果决定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验收通过或满足停止条件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6" name="text-4-控制程序安排步骤，AI ">
            <a:extLst xmlns:a="http://schemas.openxmlformats.org/drawingml/2006/main">
              <a:ext uri="{FF2B5EF4-FFF2-40B4-BE49-F238E27FC236}">
                <a16:creationId xmlns:a16="http://schemas.microsoft.com/office/drawing/2014/main" id="{1B290FCB-5D64-4DF8-A1CE-53B4089C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控制程序安排步骤，AI 生成方案，检查工具返回结果。</a:t>
            </a:r>
          </a:p>
        </p:txBody>
      </p:sp>
    </p:spTree>
    <p:extLst>
      <p:ext uri="{BB962C8B-B14F-4D97-AF65-F5344CB8AC3E}">
        <p14:creationId xmlns:p14="http://schemas.microsoft.com/office/powerpoint/2010/main" val="1189393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闭环的五个步骤">
            <a:extLst xmlns:a="http://schemas.openxmlformats.org/drawingml/2006/main">
              <a:ext uri="{FF2B5EF4-FFF2-40B4-BE49-F238E27FC236}">
                <a16:creationId xmlns:a16="http://schemas.microsoft.com/office/drawing/2014/main" id="{18475E23-B06A-4645-BB78-C752E34F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闭环的五个步骤</a:t>
            </a:r>
          </a:p>
        </p:txBody>
      </p:sp>
      <p:sp>
        <p:nvSpPr>
          <p:cNvPr id="2" name="text-1-验证未通过时，记录失败原">
            <a:extLst xmlns:a="http://schemas.openxmlformats.org/drawingml/2006/main">
              <a:ext uri="{FF2B5EF4-FFF2-40B4-BE49-F238E27FC236}">
                <a16:creationId xmlns:a16="http://schemas.microsoft.com/office/drawing/2014/main" id="{5A995A1F-1EB7-4B8B-8536-8426A156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验证未通过时，记录失败原因，下一轮针对这些原因修改</a:t>
            </a:r>
          </a:p>
        </p:txBody>
      </p:sp>
      <p:sp>
        <p:nvSpPr>
          <p:cNvPr id="3" name="text-2-03">
            <a:extLst xmlns:a="http://schemas.openxmlformats.org/drawingml/2006/main">
              <a:ext uri="{FF2B5EF4-FFF2-40B4-BE49-F238E27FC236}">
                <a16:creationId xmlns:a16="http://schemas.microsoft.com/office/drawing/2014/main" id="{939C3301-9C0A-43A9-A064-30AB04F6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4210050"/>
                <a:gridCol w="4191000"/>
              </a:tblGrid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输出记录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DISCOVER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读取任务要求与失败信息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修改前的代码、输入和失败项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PLAN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确定本轮要处理的问题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修改范围与验证方法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EXECUTE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修改代码或调用工具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修改后的代码或文件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 VERIFY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按验收标准检查修改结果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/ 失败 / 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 ITERATE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保存结果并决定下一步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继续修改 / 完成 / 转交人工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4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-验证、状态与停止条件">
            <a:extLst xmlns:a="http://schemas.openxmlformats.org/drawingml/2006/main">
              <a:ext uri="{FF2B5EF4-FFF2-40B4-BE49-F238E27FC236}">
                <a16:creationId xmlns:a16="http://schemas.microsoft.com/office/drawing/2014/main" id="{C25065FC-BAAB-49AF-829E-90279071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验证、状态与停止条件</a:t>
            </a:r>
          </a:p>
        </p:txBody>
      </p:sp>
      <p:sp>
        <p:nvSpPr>
          <p:cNvPr id="2" name="text-1-每轮检查修改结果，记录执">
            <a:extLst xmlns:a="http://schemas.openxmlformats.org/drawingml/2006/main">
              <a:ext uri="{FF2B5EF4-FFF2-40B4-BE49-F238E27FC236}">
                <a16:creationId xmlns:a16="http://schemas.microsoft.com/office/drawing/2014/main" id="{0713CE8E-89F7-47FE-BCF4-D2CA15C3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每轮检查修改结果，记录执行情况，并判断是否继续</a:t>
            </a:r>
          </a:p>
        </p:txBody>
      </p:sp>
      <p:sp>
        <p:nvSpPr>
          <p:cNvPr id="3" name="text-2-04">
            <a:extLst xmlns:a="http://schemas.openxmlformats.org/drawingml/2006/main">
              <a:ext uri="{FF2B5EF4-FFF2-40B4-BE49-F238E27FC236}">
                <a16:creationId xmlns:a16="http://schemas.microsoft.com/office/drawing/2014/main" id="{35AECBF4-0C64-49A9-BE41-90313616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9D265678-46E7-4C80-A841-23B0EB1A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Verify：验证">
            <a:extLst xmlns:a="http://schemas.openxmlformats.org/drawingml/2006/main">
              <a:ext uri="{FF2B5EF4-FFF2-40B4-BE49-F238E27FC236}">
                <a16:creationId xmlns:a16="http://schemas.microsoft.com/office/drawing/2014/main" id="{E18081F8-3E8E-4CDA-BAC8-2D4DC3CD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431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Verify：验证</a:t>
            </a:r>
          </a:p>
        </p:txBody>
      </p:sp>
      <p:sp>
        <p:nvSpPr>
          <p:cNvPr id="6" name="text-5-运行测试或其他检查，判断">
            <a:extLst xmlns:a="http://schemas.openxmlformats.org/drawingml/2006/main">
              <a:ext uri="{FF2B5EF4-FFF2-40B4-BE49-F238E27FC236}">
                <a16:creationId xmlns:a16="http://schemas.microsoft.com/office/drawing/2014/main" id="{7EB04EFF-C64D-424C-8902-0B0978B8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5812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运行测试或其他检查，判断本轮修改是否满足要求。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187B801A-B87D-4589-AC89-9A569E27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State：状态">
            <a:extLst xmlns:a="http://schemas.openxmlformats.org/drawingml/2006/main">
              <a:ext uri="{FF2B5EF4-FFF2-40B4-BE49-F238E27FC236}">
                <a16:creationId xmlns:a16="http://schemas.microsoft.com/office/drawing/2014/main" id="{00D0ECA3-4B49-446F-AAA6-8A609B5F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956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State：状态</a:t>
            </a:r>
          </a:p>
        </p:txBody>
      </p:sp>
      <p:sp>
        <p:nvSpPr>
          <p:cNvPr id="9" name="text-8-记录代码版本、失败用例、">
            <a:extLst xmlns:a="http://schemas.openxmlformats.org/drawingml/2006/main">
              <a:ext uri="{FF2B5EF4-FFF2-40B4-BE49-F238E27FC236}">
                <a16:creationId xmlns:a16="http://schemas.microsoft.com/office/drawing/2014/main" id="{FA55FCAC-5E6B-466B-AB67-955E45B3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338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记录代码版本、失败用例、已试方法和下一轮任务。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7A36EFEA-58B2-468D-BD9F-31584B67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Stop：停止">
            <a:extLst xmlns:a="http://schemas.openxmlformats.org/drawingml/2006/main">
              <a:ext uri="{FF2B5EF4-FFF2-40B4-BE49-F238E27FC236}">
                <a16:creationId xmlns:a16="http://schemas.microsoft.com/office/drawing/2014/main" id="{6E4D5A17-B2F6-4260-9A4A-4315BE4B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481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Stop：停止</a:t>
            </a:r>
          </a:p>
        </p:txBody>
      </p:sp>
      <p:sp>
        <p:nvSpPr>
          <p:cNvPr id="12" name="text-11-任务完成、资源耗尽、重复">
            <a:extLst xmlns:a="http://schemas.openxmlformats.org/drawingml/2006/main">
              <a:ext uri="{FF2B5EF4-FFF2-40B4-BE49-F238E27FC236}">
                <a16:creationId xmlns:a16="http://schemas.microsoft.com/office/drawing/2014/main" id="{0FF8E53B-CBD1-4C33-BCC1-756D0B36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86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任务完成、资源耗尽、重复失败或依赖缺失时停止。</a:t>
            </a:r>
          </a:p>
        </p:txBody>
      </p:sp>
    </p:spTree>
    <p:extLst>
      <p:ext uri="{BB962C8B-B14F-4D97-AF65-F5344CB8AC3E}">
        <p14:creationId xmlns:p14="http://schemas.microsoft.com/office/powerpoint/2010/main" val="253695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-使用条件">
            <a:extLst xmlns:a="http://schemas.openxmlformats.org/drawingml/2006/main">
              <a:ext uri="{FF2B5EF4-FFF2-40B4-BE49-F238E27FC236}">
                <a16:creationId xmlns:a16="http://schemas.microsoft.com/office/drawing/2014/main" id="{5C5DCF1E-A07E-431B-A51F-6533AE7E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使用条件</a:t>
            </a:r>
          </a:p>
        </p:txBody>
      </p:sp>
      <p:sp>
        <p:nvSpPr>
          <p:cNvPr id="2" name="text-1-根据任务特点和现有工具，">
            <a:extLst xmlns:a="http://schemas.openxmlformats.org/drawingml/2006/main">
              <a:ext uri="{FF2B5EF4-FFF2-40B4-BE49-F238E27FC236}">
                <a16:creationId xmlns:a16="http://schemas.microsoft.com/office/drawing/2014/main" id="{5214441C-EEB3-4787-8EF4-FA9C8BBC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根据任务特点和现有工具，选择自动化范围</a:t>
            </a:r>
          </a:p>
        </p:txBody>
      </p:sp>
      <p:sp>
        <p:nvSpPr>
          <p:cNvPr id="3" name="text-2-05">
            <a:extLst xmlns:a="http://schemas.openxmlformats.org/drawingml/2006/main">
              <a:ext uri="{FF2B5EF4-FFF2-40B4-BE49-F238E27FC236}">
                <a16:creationId xmlns:a16="http://schemas.microsoft.com/office/drawing/2014/main" id="{55927CC9-53F0-4F67-954F-AB902BAB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F756762D-54E1-4DCE-BA11-9F75F872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任务是否反复出现？">
            <a:extLst xmlns:a="http://schemas.openxmlformats.org/drawingml/2006/main">
              <a:ext uri="{FF2B5EF4-FFF2-40B4-BE49-F238E27FC236}">
                <a16:creationId xmlns:a16="http://schemas.microsoft.com/office/drawing/2014/main" id="{2C3F76BB-700A-4D00-BA6B-5DD807C2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526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任务是否反复出现？</a:t>
            </a:r>
          </a:p>
        </p:txBody>
      </p:sp>
      <p:sp>
        <p:nvSpPr>
          <p:cNvPr id="6" name="text-5-比较搭建、维护流程的成本">
            <a:extLst xmlns:a="http://schemas.openxmlformats.org/drawingml/2006/main">
              <a:ext uri="{FF2B5EF4-FFF2-40B4-BE49-F238E27FC236}">
                <a16:creationId xmlns:a16="http://schemas.microsoft.com/office/drawing/2014/main" id="{2B9BF4A9-3C39-4AB5-95F3-DA1F43C8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3907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比较搭建、维护流程的成本与节省的人工时间。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556C430F-2173-4804-BCB9-5F3C175A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检查能否发现错误输出？">
            <a:extLst xmlns:a="http://schemas.openxmlformats.org/drawingml/2006/main">
              <a:ext uri="{FF2B5EF4-FFF2-40B4-BE49-F238E27FC236}">
                <a16:creationId xmlns:a16="http://schemas.microsoft.com/office/drawing/2014/main" id="{A676C483-7951-40FB-B069-36436E52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432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检查能否发现错误输出？</a:t>
            </a:r>
          </a:p>
        </p:txBody>
      </p:sp>
      <p:sp>
        <p:nvSpPr>
          <p:cNvPr id="9" name="text-8-构建、测试或固定规则能够">
            <a:extLst xmlns:a="http://schemas.openxmlformats.org/drawingml/2006/main">
              <a:ext uri="{FF2B5EF4-FFF2-40B4-BE49-F238E27FC236}">
                <a16:creationId xmlns:a16="http://schemas.microsoft.com/office/drawing/2014/main" id="{9035C103-D2E8-4484-A405-46FE302F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3813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构建、测试或固定规则能够报告具体失败。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1942901B-6196-4F76-8D94-A861A408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Agent 是否具备完成">
            <a:extLst xmlns:a="http://schemas.openxmlformats.org/drawingml/2006/main">
              <a:ext uri="{FF2B5EF4-FFF2-40B4-BE49-F238E27FC236}">
                <a16:creationId xmlns:a16="http://schemas.microsoft.com/office/drawing/2014/main" id="{3364B074-9DBD-4A4C-A28C-4DB89237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338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Agent 是否具备完成任务的工具？</a:t>
            </a:r>
          </a:p>
        </p:txBody>
      </p:sp>
      <p:sp>
        <p:nvSpPr>
          <p:cNvPr id="12" name="text-11-能够运行构建、测试，并访">
            <a:extLst xmlns:a="http://schemas.openxmlformats.org/drawingml/2006/main">
              <a:ext uri="{FF2B5EF4-FFF2-40B4-BE49-F238E27FC236}">
                <a16:creationId xmlns:a16="http://schemas.microsoft.com/office/drawing/2014/main" id="{CE28FC3A-0122-408B-8F45-CDE24EE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3719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能够运行构建、测试，并访问任务所需接口。</a:t>
            </a:r>
          </a:p>
        </p:txBody>
      </p:sp>
      <p:sp>
        <p:nvSpPr>
          <p:cNvPr id="13" name="text-12-04">
            <a:extLst xmlns:a="http://schemas.openxmlformats.org/drawingml/2006/main">
              <a:ext uri="{FF2B5EF4-FFF2-40B4-BE49-F238E27FC236}">
                <a16:creationId xmlns:a16="http://schemas.microsoft.com/office/drawing/2014/main" id="{4DD734C1-8651-4039-A220-19E164A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3-完成标准是否足够客观？">
            <a:extLst xmlns:a="http://schemas.openxmlformats.org/drawingml/2006/main">
              <a:ext uri="{FF2B5EF4-FFF2-40B4-BE49-F238E27FC236}">
                <a16:creationId xmlns:a16="http://schemas.microsoft.com/office/drawing/2014/main" id="{4415046A-4A9F-4202-B7CF-E6DABA01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完成标准是否足够客观？</a:t>
            </a:r>
          </a:p>
        </p:txBody>
      </p:sp>
      <p:sp>
        <p:nvSpPr>
          <p:cNvPr id="15" name="text-14-能够提前写明验收条件，并">
            <a:extLst xmlns:a="http://schemas.openxmlformats.org/drawingml/2006/main">
              <a:ext uri="{FF2B5EF4-FFF2-40B4-BE49-F238E27FC236}">
                <a16:creationId xmlns:a16="http://schemas.microsoft.com/office/drawing/2014/main" id="{33254BB6-9FD9-4308-A69A-DBF3F38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3625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能够提前写明验收条件，并由他人重复检查。</a:t>
            </a:r>
          </a:p>
        </p:txBody>
      </p:sp>
    </p:spTree>
    <p:extLst>
      <p:ext uri="{BB962C8B-B14F-4D97-AF65-F5344CB8AC3E}">
        <p14:creationId xmlns:p14="http://schemas.microsoft.com/office/powerpoint/2010/main" val="1164231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Prompt、Conte">
            <a:extLst xmlns:a="http://schemas.openxmlformats.org/drawingml/2006/main">
              <a:ext uri="{FF2B5EF4-FFF2-40B4-BE49-F238E27FC236}">
                <a16:creationId xmlns:a16="http://schemas.microsoft.com/office/drawing/2014/main" id="{C96F4D49-39E4-4B7C-A500-FC4A9B6F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Prompt、Context、Harness 与 Loop</a:t>
            </a:r>
          </a:p>
        </p:txBody>
      </p:sp>
      <p:sp>
        <p:nvSpPr>
          <p:cNvPr id="2" name="text-1-分别说明任务指令、输入信">
            <a:extLst xmlns:a="http://schemas.openxmlformats.org/drawingml/2006/main">
              <a:ext uri="{FF2B5EF4-FFF2-40B4-BE49-F238E27FC236}">
                <a16:creationId xmlns:a16="http://schemas.microsoft.com/office/drawing/2014/main" id="{FC3E75FD-0BBC-4944-99C8-57E4F2E3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分别说明任务指令、输入信息、运行环境和循环控制</a:t>
            </a:r>
          </a:p>
        </p:txBody>
      </p:sp>
      <p:sp>
        <p:nvSpPr>
          <p:cNvPr id="3" name="text-2-06">
            <a:extLst xmlns:a="http://schemas.openxmlformats.org/drawingml/2006/main">
              <a:ext uri="{FF2B5EF4-FFF2-40B4-BE49-F238E27FC236}">
                <a16:creationId xmlns:a16="http://schemas.microsoft.com/office/drawing/2014/main" id="{765A9778-5438-4037-B99C-A82A3F9E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762500"/>
                <a:gridCol w="4019550"/>
              </a:tblGrid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主要问题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对应配置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本次要完成什么？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任务描述与输出要求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完成任务需要哪些信息？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规格、代码、日志与状态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有哪些工具，允许哪些操作？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工具、权限与运行环境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何时修改、重试或停止？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检查、状态保存与停止条件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Graph 表示任务之间">
            <a:extLst xmlns:a="http://schemas.openxmlformats.org/drawingml/2006/main">
              <a:ext uri="{FF2B5EF4-FFF2-40B4-BE49-F238E27FC236}">
                <a16:creationId xmlns:a16="http://schemas.microsoft.com/office/drawing/2014/main" id="{3727C370-5424-44C4-BA6D-AAA7DA89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Graph 表示任务之间的依赖；Loop 根据检查结果重复执行。</a:t>
            </a:r>
          </a:p>
        </p:txBody>
      </p:sp>
    </p:spTree>
    <p:extLst>
      <p:ext uri="{BB962C8B-B14F-4D97-AF65-F5344CB8AC3E}">
        <p14:creationId xmlns:p14="http://schemas.microsoft.com/office/powerpoint/2010/main" val="1439174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闭环系统的五个组成部分">
            <a:extLst xmlns:a="http://schemas.openxmlformats.org/drawingml/2006/main">
              <a:ext uri="{FF2B5EF4-FFF2-40B4-BE49-F238E27FC236}">
                <a16:creationId xmlns:a16="http://schemas.microsoft.com/office/drawing/2014/main" id="{99BCDFE5-695F-4DDA-9D08-DCE9BA15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闭环系统的五个组成部分</a:t>
            </a:r>
          </a:p>
        </p:txBody>
      </p:sp>
      <p:sp>
        <p:nvSpPr>
          <p:cNvPr id="2" name="text-1-分别负责启动任务、提供规">
            <a:extLst xmlns:a="http://schemas.openxmlformats.org/drawingml/2006/main">
              <a:ext uri="{FF2B5EF4-FFF2-40B4-BE49-F238E27FC236}">
                <a16:creationId xmlns:a16="http://schemas.microsoft.com/office/drawing/2014/main" id="{71B7D937-9762-42B9-8FFB-D548062E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分别负责启动任务、提供规则、执行操作和检查结果</a:t>
            </a:r>
          </a:p>
        </p:txBody>
      </p:sp>
      <p:sp>
        <p:nvSpPr>
          <p:cNvPr id="3" name="text-2-07">
            <a:extLst xmlns:a="http://schemas.openxmlformats.org/drawingml/2006/main">
              <a:ext uri="{FF2B5EF4-FFF2-40B4-BE49-F238E27FC236}">
                <a16:creationId xmlns:a16="http://schemas.microsoft.com/office/drawing/2014/main" id="{A3E51C65-5D31-4F11-9A65-A3BA92A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3448050"/>
                <a:gridCol w="4857750"/>
              </a:tblGrid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组成部分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在嵌入式开发中的用法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自动化 / 触发器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决定什么时候启动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 失败事件或定时检查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Skill / 规则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保存步骤与操作范围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构建步骤、代码规范、禁止修改区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执行者与检查者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分别修改和复核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生成代码修改并审查差异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连接器 / 工具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读取数据和执行操作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仓库、构建机、测试适配器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按验收标准报告结果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测试结果、静态检查、板端报告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165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验证方法及其适用范围">
            <a:extLst xmlns:a="http://schemas.openxmlformats.org/drawingml/2006/main">
              <a:ext uri="{FF2B5EF4-FFF2-40B4-BE49-F238E27FC236}">
                <a16:creationId xmlns:a16="http://schemas.microsoft.com/office/drawing/2014/main" id="{981D7C69-0602-497F-A989-B1F2FD50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验证方法及其适用范围</a:t>
            </a:r>
          </a:p>
        </p:txBody>
      </p:sp>
      <p:sp>
        <p:nvSpPr>
          <p:cNvPr id="2" name="text-1-在修改前确定验收标准，修">
            <a:extLst xmlns:a="http://schemas.openxmlformats.org/drawingml/2006/main">
              <a:ext uri="{FF2B5EF4-FFF2-40B4-BE49-F238E27FC236}">
                <a16:creationId xmlns:a16="http://schemas.microsoft.com/office/drawing/2014/main" id="{1552453B-8EE6-47C6-A2AB-11ECA245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在修改前确定验收标准，修改后按同一标准检查</a:t>
            </a:r>
          </a:p>
        </p:txBody>
      </p:sp>
      <p:sp>
        <p:nvSpPr>
          <p:cNvPr id="3" name="text-2-08">
            <a:extLst xmlns:a="http://schemas.openxmlformats.org/drawingml/2006/main">
              <a:ext uri="{FF2B5EF4-FFF2-40B4-BE49-F238E27FC236}">
                <a16:creationId xmlns:a16="http://schemas.microsoft.com/office/drawing/2014/main" id="{97ADEFE4-CFA9-49F4-9086-C243875C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05100"/>
                <a:gridCol w="4162425"/>
                <a:gridCol w="4105275"/>
              </a:tblGrid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结论的限制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自检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提出可能的问题与修改建议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评分不能证明测试通过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独立审查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检查遗漏与设计问题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判断还需实际检查结果支持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测试工具 / 固定规则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对当前代码运行可重复检查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结果仅说明已检查的条件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人工与实物验证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检查实际系统和设备行为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未执行时必须记录为未知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每份报告记录代码版本、验">
            <a:extLst xmlns:a="http://schemas.openxmlformats.org/drawingml/2006/main">
              <a:ext uri="{FF2B5EF4-FFF2-40B4-BE49-F238E27FC236}">
                <a16:creationId xmlns:a16="http://schemas.microsoft.com/office/drawing/2014/main" id="{549B016A-5175-4BF0-B3FB-CB226B30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245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每份报告记录代码版本、验收标准版本、测试配置和结果。</a:t>
            </a:r>
          </a:p>
        </p:txBody>
      </p:sp>
    </p:spTree>
    <p:extLst>
      <p:ext uri="{BB962C8B-B14F-4D97-AF65-F5344CB8AC3E}">
        <p14:creationId xmlns:p14="http://schemas.microsoft.com/office/powerpoint/2010/main" val="1880861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-状态记录与任务恢复">
            <a:extLst xmlns:a="http://schemas.openxmlformats.org/drawingml/2006/main">
              <a:ext uri="{FF2B5EF4-FFF2-40B4-BE49-F238E27FC236}">
                <a16:creationId xmlns:a16="http://schemas.microsoft.com/office/drawing/2014/main" id="{799A5160-6784-4247-AC13-B10633B8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状态记录与任务恢复</a:t>
            </a:r>
          </a:p>
        </p:txBody>
      </p:sp>
      <p:sp>
        <p:nvSpPr>
          <p:cNvPr id="2" name="text-1-保存后续执行所需信息，避">
            <a:extLst xmlns:a="http://schemas.openxmlformats.org/drawingml/2006/main">
              <a:ext uri="{FF2B5EF4-FFF2-40B4-BE49-F238E27FC236}">
                <a16:creationId xmlns:a16="http://schemas.microsoft.com/office/drawing/2014/main" id="{49BD7BD7-16E6-4FD5-896B-1A275EDD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保存后续执行所需信息，避免每轮重复读取全部历史</a:t>
            </a:r>
          </a:p>
        </p:txBody>
      </p:sp>
      <p:sp>
        <p:nvSpPr>
          <p:cNvPr id="3" name="text-2-09">
            <a:extLst xmlns:a="http://schemas.openxmlformats.org/drawingml/2006/main">
              <a:ext uri="{FF2B5EF4-FFF2-40B4-BE49-F238E27FC236}">
                <a16:creationId xmlns:a16="http://schemas.microsoft.com/office/drawing/2014/main" id="{732A592A-829D-4352-85F6-03EC8551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3-# 状态文件示例：记录当">
            <a:extLst xmlns:a="http://schemas.openxmlformats.org/drawingml/2006/main">
              <a:ext uri="{FF2B5EF4-FFF2-40B4-BE49-F238E27FC236}">
                <a16:creationId xmlns:a16="http://schemas.microsoft.com/office/drawing/2014/main" id="{567474CC-91B8-4C92-AB14-C33A8FCD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状态文件示例：记录当前结果和下一轮任务</a:t>
            </a:r>
          </a:p>
        </p:txBody>
      </p:sp>
      <p:sp>
        <p:nvSpPr>
          <p:cNvPr id="5" name="text-4-task_id: uar">
            <a:extLst xmlns:a="http://schemas.openxmlformats.org/drawingml/2006/main">
              <a:ext uri="{FF2B5EF4-FFF2-40B4-BE49-F238E27FC236}">
                <a16:creationId xmlns:a16="http://schemas.microsoft.com/office/drawing/2014/main" id="{BD679B73-4CC2-4F9B-A404-995A1A2F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task_id: uart_parser_fix       # 关联同一任务</a:t>
            </a:r>
          </a:p>
        </p:txBody>
      </p:sp>
      <p:sp>
        <p:nvSpPr>
          <p:cNvPr id="6" name="text-5-artifact_id:">
            <a:extLst xmlns:a="http://schemas.openxmlformats.org/drawingml/2006/main">
              <a:ext uri="{FF2B5EF4-FFF2-40B4-BE49-F238E27FC236}">
                <a16:creationId xmlns:a16="http://schemas.microsoft.com/office/drawing/2014/main" id="{6C373EBF-058A-4C6F-8F52-27E8ED75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artifact_id: candidate_hash    # 本轮修改后的文件版本</a:t>
            </a:r>
          </a:p>
        </p:txBody>
      </p:sp>
      <p:sp>
        <p:nvSpPr>
          <p:cNvPr id="7" name="text-6-acceptance_i">
            <a:extLst xmlns:a="http://schemas.openxmlformats.org/drawingml/2006/main">
              <a:ext uri="{FF2B5EF4-FFF2-40B4-BE49-F238E27FC236}">
                <a16:creationId xmlns:a16="http://schemas.microsoft.com/office/drawing/2014/main" id="{1FC42726-33EC-4838-BD3E-68B70E0A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acceptance_id: locked_spec     # 本次使用的验收标准版本</a:t>
            </a:r>
          </a:p>
        </p:txBody>
      </p:sp>
      <p:sp>
        <p:nvSpPr>
          <p:cNvPr id="8" name="text-7-attempt: 2  ">
            <a:extLst xmlns:a="http://schemas.openxmlformats.org/drawingml/2006/main">
              <a:ext uri="{FF2B5EF4-FFF2-40B4-BE49-F238E27FC236}">
                <a16:creationId xmlns:a16="http://schemas.microsoft.com/office/drawing/2014/main" id="{DE64A735-C119-4450-8E09-F2E51B56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attempt: 2                    # 已执行的迭代次数</a:t>
            </a:r>
          </a:p>
        </p:txBody>
      </p:sp>
      <p:sp>
        <p:nvSpPr>
          <p:cNvPr id="9" name="text-8-failed_check">
            <a:extLst xmlns:a="http://schemas.openxmlformats.org/drawingml/2006/main">
              <a:ext uri="{FF2B5EF4-FFF2-40B4-BE49-F238E27FC236}">
                <a16:creationId xmlns:a16="http://schemas.microsoft.com/office/drawing/2014/main" id="{CA11FCD8-5249-42D0-89A8-DC9C4B17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failed_checks: [fragmented]    # 当前仍然失败的检查项</a:t>
            </a:r>
          </a:p>
        </p:txBody>
      </p:sp>
      <p:sp>
        <p:nvSpPr>
          <p:cNvPr id="10" name="text-9-tried: [buff">
            <a:extLst xmlns:a="http://schemas.openxmlformats.org/drawingml/2006/main">
              <a:ext uri="{FF2B5EF4-FFF2-40B4-BE49-F238E27FC236}">
                <a16:creationId xmlns:a16="http://schemas.microsoft.com/office/drawing/2014/main" id="{EC17DB01-9ACB-4ADF-93D1-C1930B44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tried: [buffer_only]           # 已尝试的方法，避免重复</a:t>
            </a:r>
          </a:p>
        </p:txBody>
      </p:sp>
      <p:sp>
        <p:nvSpPr>
          <p:cNvPr id="11" name="text-10-next_step: p">
            <a:extLst xmlns:a="http://schemas.openxmlformats.org/drawingml/2006/main">
              <a:ext uri="{FF2B5EF4-FFF2-40B4-BE49-F238E27FC236}">
                <a16:creationId xmlns:a16="http://schemas.microsoft.com/office/drawing/2014/main" id="{B45A3BDB-38D6-43F1-8CCA-CE955AC1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next_step: preserve_tail       # 下一轮具体要做的修改</a:t>
            </a:r>
          </a:p>
        </p:txBody>
      </p:sp>
      <p:sp>
        <p:nvSpPr>
          <p:cNvPr id="12" name="text-11-evidence_pat">
            <a:extLst xmlns:a="http://schemas.openxmlformats.org/drawingml/2006/main">
              <a:ext uri="{FF2B5EF4-FFF2-40B4-BE49-F238E27FC236}">
                <a16:creationId xmlns:a16="http://schemas.microsoft.com/office/drawing/2014/main" id="{40FCC251-46CC-48F8-9230-2BCECE49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evidence_path: run_02/report   # 完整检查报告的保存位置</a:t>
            </a:r>
          </a:p>
        </p:txBody>
      </p:sp>
      <p:sp>
        <p:nvSpPr>
          <p:cNvPr id="13" name="text-12-status: RETR">
            <a:extLst xmlns:a="http://schemas.openxmlformats.org/drawingml/2006/main">
              <a:ext uri="{FF2B5EF4-FFF2-40B4-BE49-F238E27FC236}">
                <a16:creationId xmlns:a16="http://schemas.microsoft.com/office/drawing/2014/main" id="{3813BA40-3767-42C4-A947-1C4F2CD9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status: RETRY                 # 当前任务需要继续执行</a:t>
            </a:r>
          </a:p>
        </p:txBody>
      </p:sp>
      <p:sp>
        <p:nvSpPr>
          <p:cNvPr id="14" name="text-13-每轮读取相关摘要，需要定">
            <a:extLst xmlns:a="http://schemas.openxmlformats.org/drawingml/2006/main">
              <a:ext uri="{FF2B5EF4-FFF2-40B4-BE49-F238E27FC236}">
                <a16:creationId xmlns:a16="http://schemas.microsoft.com/office/drawing/2014/main" id="{460A5F53-4E6D-487E-A565-4D2DF3CD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每轮读取相关摘要，需要定位问题时再读取完整日志。</a:t>
            </a:r>
          </a:p>
        </p:txBody>
      </p:sp>
    </p:spTree>
    <p:extLst>
      <p:ext uri="{BB962C8B-B14F-4D97-AF65-F5344CB8AC3E}">
        <p14:creationId xmlns:p14="http://schemas.microsoft.com/office/powerpoint/2010/main" val="15915328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停止条件">
            <a:extLst xmlns:a="http://schemas.openxmlformats.org/drawingml/2006/main">
              <a:ext uri="{FF2B5EF4-FFF2-40B4-BE49-F238E27FC236}">
                <a16:creationId xmlns:a16="http://schemas.microsoft.com/office/drawing/2014/main" id="{3A70B273-8017-4F1C-90FC-7F915DF8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停止条件</a:t>
            </a:r>
          </a:p>
        </p:txBody>
      </p:sp>
      <p:sp>
        <p:nvSpPr>
          <p:cNvPr id="2" name="text-1-任务完成、达到资源上限或">
            <a:extLst xmlns:a="http://schemas.openxmlformats.org/drawingml/2006/main">
              <a:ext uri="{FF2B5EF4-FFF2-40B4-BE49-F238E27FC236}">
                <a16:creationId xmlns:a16="http://schemas.microsoft.com/office/drawing/2014/main" id="{E3DB52F2-F48F-4E67-81BA-0CD821CD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任务完成、达到资源上限或无法继续时，保存状态并停止</a:t>
            </a:r>
          </a:p>
        </p:txBody>
      </p:sp>
      <p:sp>
        <p:nvSpPr>
          <p:cNvPr id="3" name="text-2-10">
            <a:extLst xmlns:a="http://schemas.openxmlformats.org/drawingml/2006/main">
              <a:ext uri="{FF2B5EF4-FFF2-40B4-BE49-F238E27FC236}">
                <a16:creationId xmlns:a16="http://schemas.microsoft.com/office/drawing/2014/main" id="{62CA0301-52EA-4ADA-A8EE-0B953F7F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324350"/>
                <a:gridCol w="4267200"/>
              </a:tblGrid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停止原因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保存内容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SUCCESS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所有必需检查已执行且通过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修改后的文件与检查报告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BUDGET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次数、时长或成本达到上限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已完成步骤与剩余任务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STALLED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连续多轮未解决问题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重复失败项与已尝试方法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BLOCKED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依赖缺失或检查结果未知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缺失内容与恢复所需条件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比较每轮代码修改与测试结">
            <a:extLst xmlns:a="http://schemas.openxmlformats.org/drawingml/2006/main">
              <a:ext uri="{FF2B5EF4-FFF2-40B4-BE49-F238E27FC236}">
                <a16:creationId xmlns:a16="http://schemas.microsoft.com/office/drawing/2014/main" id="{B23521C9-46AB-4339-BC2F-6F593471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比较每轮代码修改与测试结果，判断是否真正解决了问题。</a:t>
            </a:r>
          </a:p>
        </p:txBody>
      </p:sp>
    </p:spTree>
    <p:extLst>
      <p:ext uri="{BB962C8B-B14F-4D97-AF65-F5344CB8AC3E}">
        <p14:creationId xmlns:p14="http://schemas.microsoft.com/office/powerpoint/2010/main" val="15124310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-伪代码：初始化与资源检查">
            <a:extLst xmlns:a="http://schemas.openxmlformats.org/drawingml/2006/main">
              <a:ext uri="{FF2B5EF4-FFF2-40B4-BE49-F238E27FC236}">
                <a16:creationId xmlns:a16="http://schemas.microsoft.com/office/drawing/2014/main" id="{95298D36-7F92-4741-B52F-4E16C959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伪代码：初始化与资源检查</a:t>
            </a:r>
          </a:p>
        </p:txBody>
      </p:sp>
      <p:sp>
        <p:nvSpPr>
          <p:cNvPr id="2" name="text-1-1 / 3  读取已保存">
            <a:extLst xmlns:a="http://schemas.openxmlformats.org/drawingml/2006/main">
              <a:ext uri="{FF2B5EF4-FFF2-40B4-BE49-F238E27FC236}">
                <a16:creationId xmlns:a16="http://schemas.microsoft.com/office/drawing/2014/main" id="{C8BE8539-5472-4259-81EF-1C0A5452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 / 3  读取已保存状态，在调用前检查剩余预算</a:t>
            </a:r>
          </a:p>
        </p:txBody>
      </p:sp>
      <p:sp>
        <p:nvSpPr>
          <p:cNvPr id="3" name="text-2-11">
            <a:extLst xmlns:a="http://schemas.openxmlformats.org/drawingml/2006/main">
              <a:ext uri="{FF2B5EF4-FFF2-40B4-BE49-F238E27FC236}">
                <a16:creationId xmlns:a16="http://schemas.microsoft.com/office/drawing/2014/main" id="{EC1A8B5A-F6C2-481D-8ABE-F3675388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3-# 读取已保存状态，核对">
            <a:extLst xmlns:a="http://schemas.openxmlformats.org/drawingml/2006/main">
              <a:ext uri="{FF2B5EF4-FFF2-40B4-BE49-F238E27FC236}">
                <a16:creationId xmlns:a16="http://schemas.microsoft.com/office/drawing/2014/main" id="{2543F4F8-2F8E-4B44-9627-4D68C7AC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读取已保存状态，核对当前代码和运行环境</a:t>
            </a:r>
          </a:p>
        </p:txBody>
      </p:sp>
      <p:sp>
        <p:nvSpPr>
          <p:cNvPr id="5" name="text-4-state = load">
            <a:extLst xmlns:a="http://schemas.openxmlformats.org/drawingml/2006/main">
              <a:ext uri="{FF2B5EF4-FFF2-40B4-BE49-F238E27FC236}">
                <a16:creationId xmlns:a16="http://schemas.microsoft.com/office/drawing/2014/main" id="{EF02D7B0-36B8-4C97-889E-FCFB75E7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state = load_and_reconcile(task_id)</a:t>
            </a:r>
          </a:p>
        </p:txBody>
      </p:sp>
      <p:sp>
        <p:nvSpPr>
          <p:cNvPr id="6" name="text-5-accept = loc">
            <a:extLst xmlns:a="http://schemas.openxmlformats.org/drawingml/2006/main">
              <a:ext uri="{FF2B5EF4-FFF2-40B4-BE49-F238E27FC236}">
                <a16:creationId xmlns:a16="http://schemas.microsoft.com/office/drawing/2014/main" id="{42A66137-9415-4950-9EC3-DE67E308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accept = lock_acceptance(spec)  # 执行期间不得降低验收标准</a:t>
            </a:r>
          </a:p>
        </p:txBody>
      </p:sp>
      <p:sp>
        <p:nvSpPr>
          <p:cNvPr id="7" name="text-6-for attempt ">
            <a:extLst xmlns:a="http://schemas.openxmlformats.org/drawingml/2006/main">
              <a:ext uri="{FF2B5EF4-FFF2-40B4-BE49-F238E27FC236}">
                <a16:creationId xmlns:a16="http://schemas.microsoft.com/office/drawing/2014/main" id="{C89134B7-0903-48B8-8910-20607394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for attempt in state.attempt + 1..limits.max_rounds:</a:t>
            </a:r>
          </a:p>
        </p:txBody>
      </p:sp>
      <p:sp>
        <p:nvSpPr>
          <p:cNvPr id="8" name="text-7-    if not b">
            <a:extLst xmlns:a="http://schemas.openxmlformats.org/drawingml/2006/main">
              <a:ext uri="{FF2B5EF4-FFF2-40B4-BE49-F238E27FC236}">
                <a16:creationId xmlns:a16="http://schemas.microsoft.com/office/drawing/2014/main" id="{9ABAE3E4-3FFC-4C90-BF0A-0189DD5D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not budget.can_start():  # 剩余额度不足时，不发起调用</a:t>
            </a:r>
          </a:p>
        </p:txBody>
      </p:sp>
      <p:sp>
        <p:nvSpPr>
          <p:cNvPr id="9" name="text-8-        retu">
            <a:extLst xmlns:a="http://schemas.openxmlformats.org/drawingml/2006/main">
              <a:ext uri="{FF2B5EF4-FFF2-40B4-BE49-F238E27FC236}">
                <a16:creationId xmlns:a16="http://schemas.microsoft.com/office/drawing/2014/main" id="{77BA9645-8BD4-491D-B7D3-2A24E2EF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stop_and_save(BUDGET, state)</a:t>
            </a:r>
          </a:p>
        </p:txBody>
      </p:sp>
      <p:sp>
        <p:nvSpPr>
          <p:cNvPr id="10" name="text-9-    try:">
            <a:extLst xmlns:a="http://schemas.openxmlformats.org/drawingml/2006/main">
              <a:ext uri="{FF2B5EF4-FFF2-40B4-BE49-F238E27FC236}">
                <a16:creationId xmlns:a16="http://schemas.microsoft.com/office/drawing/2014/main" id="{50C0DE52-4AC9-4FDF-8878-41CB659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try:</a:t>
            </a:r>
          </a:p>
        </p:txBody>
      </p:sp>
      <p:sp>
        <p:nvSpPr>
          <p:cNvPr id="11" name="text-10-        pers">
            <a:extLst xmlns:a="http://schemas.openxmlformats.org/drawingml/2006/main">
              <a:ext uri="{FF2B5EF4-FFF2-40B4-BE49-F238E27FC236}">
                <a16:creationId xmlns:a16="http://schemas.microsoft.com/office/drawing/2014/main" id="{D38C8427-0930-48A2-8022-F6BBA35A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persist_attempt(state, attempt)  # 调用前将轮次写入文件</a:t>
            </a:r>
          </a:p>
        </p:txBody>
      </p:sp>
      <p:sp>
        <p:nvSpPr>
          <p:cNvPr id="12" name="text-11-        resu">
            <a:extLst xmlns:a="http://schemas.openxmlformats.org/drawingml/2006/main">
              <a:ext uri="{FF2B5EF4-FFF2-40B4-BE49-F238E27FC236}">
                <a16:creationId xmlns:a16="http://schemas.microsoft.com/office/drawing/2014/main" id="{42CF6ACF-86F5-4AAF-8AB1-09856885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result = controlled_cycle(state, accept, limits)</a:t>
            </a:r>
          </a:p>
        </p:txBody>
      </p:sp>
      <p:sp>
        <p:nvSpPr>
          <p:cNvPr id="13" name="text-12-    catch Bu">
            <a:extLst xmlns:a="http://schemas.openxmlformats.org/drawingml/2006/main">
              <a:ext uri="{FF2B5EF4-FFF2-40B4-BE49-F238E27FC236}">
                <a16:creationId xmlns:a16="http://schemas.microsoft.com/office/drawing/2014/main" id="{BF2D13AD-243A-45C6-B418-6B8B825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catch BudgetLimit:         # 本轮中的某次调用所需额度不足</a:t>
            </a:r>
          </a:p>
        </p:txBody>
      </p:sp>
      <p:sp>
        <p:nvSpPr>
          <p:cNvPr id="14" name="text-13-        retu">
            <a:extLst xmlns:a="http://schemas.openxmlformats.org/drawingml/2006/main">
              <a:ext uri="{FF2B5EF4-FFF2-40B4-BE49-F238E27FC236}">
                <a16:creationId xmlns:a16="http://schemas.microsoft.com/office/drawing/2014/main" id="{C15351E7-2ED9-408A-8B95-8C69FD56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stop_and_save(BUDGET, state)</a:t>
            </a:r>
          </a:p>
        </p:txBody>
      </p:sp>
      <p:sp>
        <p:nvSpPr>
          <p:cNvPr id="15" name="text-14-    catch er">
            <a:extLst xmlns:a="http://schemas.openxmlformats.org/drawingml/2006/main">
              <a:ext uri="{FF2B5EF4-FFF2-40B4-BE49-F238E27FC236}">
                <a16:creationId xmlns:a16="http://schemas.microsoft.com/office/drawing/2014/main" id="{AA57B03F-938F-468A-8829-80E6794E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catch error:</a:t>
            </a:r>
          </a:p>
        </p:txBody>
      </p:sp>
      <p:sp>
        <p:nvSpPr>
          <p:cNvPr id="16" name="text-15-        retu">
            <a:extLst xmlns:a="http://schemas.openxmlformats.org/drawingml/2006/main">
              <a:ext uri="{FF2B5EF4-FFF2-40B4-BE49-F238E27FC236}">
                <a16:creationId xmlns:a16="http://schemas.microsoft.com/office/drawing/2014/main" id="{2DE5E537-693B-4B1C-AD4F-3F30101A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stop_and_save(BLOCKED, state, error)</a:t>
            </a:r>
          </a:p>
        </p:txBody>
      </p:sp>
    </p:spTree>
    <p:extLst>
      <p:ext uri="{BB962C8B-B14F-4D97-AF65-F5344CB8AC3E}">
        <p14:creationId xmlns:p14="http://schemas.microsoft.com/office/powerpoint/2010/main" val="7310444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-伪代码：执行与检查">
            <a:extLst xmlns:a="http://schemas.openxmlformats.org/drawingml/2006/main">
              <a:ext uri="{FF2B5EF4-FFF2-40B4-BE49-F238E27FC236}">
                <a16:creationId xmlns:a16="http://schemas.microsoft.com/office/drawing/2014/main" id="{513B9843-7F36-4534-AD3D-EC487DCB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伪代码：执行与检查</a:t>
            </a:r>
          </a:p>
        </p:txBody>
      </p:sp>
      <p:sp>
        <p:nvSpPr>
          <p:cNvPr id="2" name="text-1-2 / 3  每次工具和">
            <a:extLst xmlns:a="http://schemas.openxmlformats.org/drawingml/2006/main">
              <a:ext uri="{FF2B5EF4-FFF2-40B4-BE49-F238E27FC236}">
                <a16:creationId xmlns:a16="http://schemas.microsoft.com/office/drawing/2014/main" id="{A07FE6E0-6BA3-4016-9C7C-82FE3127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2 / 3  每次工具和模型调用都检查预算，并设置超时</a:t>
            </a:r>
          </a:p>
        </p:txBody>
      </p:sp>
      <p:sp>
        <p:nvSpPr>
          <p:cNvPr id="3" name="text-2-12">
            <a:extLst xmlns:a="http://schemas.openxmlformats.org/drawingml/2006/main">
              <a:ext uri="{FF2B5EF4-FFF2-40B4-BE49-F238E27FC236}">
                <a16:creationId xmlns:a16="http://schemas.microsoft.com/office/drawing/2014/main" id="{BEA721BE-793F-45F7-8B4F-8816A91E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-3-function con">
            <a:extLst xmlns:a="http://schemas.openxmlformats.org/drawingml/2006/main">
              <a:ext uri="{FF2B5EF4-FFF2-40B4-BE49-F238E27FC236}">
                <a16:creationId xmlns:a16="http://schemas.microsoft.com/office/drawing/2014/main" id="{3B8FE134-C105-4D3B-837B-987C1DE2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function controlled_cycle(state, accept, limits):</a:t>
            </a:r>
          </a:p>
        </p:txBody>
      </p:sp>
      <p:sp>
        <p:nvSpPr>
          <p:cNvPr id="5" name="text-4-    facts = ">
            <a:extLst xmlns:a="http://schemas.openxmlformats.org/drawingml/2006/main">
              <a:ext uri="{FF2B5EF4-FFF2-40B4-BE49-F238E27FC236}">
                <a16:creationId xmlns:a16="http://schemas.microsoft.com/office/drawing/2014/main" id="{F07DF1EB-90CE-40C4-A420-B33516C9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facts = safe_call(discover, state)  # 读取实际失败信息</a:t>
            </a:r>
          </a:p>
        </p:txBody>
      </p:sp>
      <p:sp>
        <p:nvSpPr>
          <p:cNvPr id="6" name="text-5-    plan = s">
            <a:extLst xmlns:a="http://schemas.openxmlformats.org/drawingml/2006/main">
              <a:ext uri="{FF2B5EF4-FFF2-40B4-BE49-F238E27FC236}">
                <a16:creationId xmlns:a16="http://schemas.microsoft.com/office/drawing/2014/main" id="{14A5F51F-49AE-4F71-A067-0AB0F54B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plan = safe_call(plan_next, facts)  # 确定本轮修改及验证方法</a:t>
            </a:r>
          </a:p>
        </p:txBody>
      </p:sp>
      <p:sp>
        <p:nvSpPr>
          <p:cNvPr id="7" name="text-6-    work = s">
            <a:extLst xmlns:a="http://schemas.openxmlformats.org/drawingml/2006/main">
              <a:ext uri="{FF2B5EF4-FFF2-40B4-BE49-F238E27FC236}">
                <a16:creationId xmlns:a16="http://schemas.microsoft.com/office/drawing/2014/main" id="{A7160AE6-F0B6-4121-965C-6C410C35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work = safe_call(execute, plan)    # 在独立工作区执行修改</a:t>
            </a:r>
          </a:p>
        </p:txBody>
      </p:sp>
      <p:sp>
        <p:nvSpPr>
          <p:cNvPr id="8" name="text-7-    verdict ">
            <a:extLst xmlns:a="http://schemas.openxmlformats.org/drawingml/2006/main">
              <a:ext uri="{FF2B5EF4-FFF2-40B4-BE49-F238E27FC236}">
                <a16:creationId xmlns:a16="http://schemas.microsoft.com/office/drawing/2014/main" id="{CB77D2D3-A9B2-4DC1-BF25-BF091404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verdict = safe_call(verify, work, accept)</a:t>
            </a:r>
          </a:p>
        </p:txBody>
      </p:sp>
      <p:sp>
        <p:nvSpPr>
          <p:cNvPr id="9" name="text-8-    # 每次 saf">
            <a:extLst xmlns:a="http://schemas.openxmlformats.org/drawingml/2006/main">
              <a:ext uri="{FF2B5EF4-FFF2-40B4-BE49-F238E27FC236}">
                <a16:creationId xmlns:a16="http://schemas.microsoft.com/office/drawing/2014/main" id="{DDA703D5-4745-4093-8348-D3CF2A2A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每次 safe_call 都按以下规则执行</a:t>
            </a:r>
          </a:p>
        </p:txBody>
      </p:sp>
      <p:sp>
        <p:nvSpPr>
          <p:cNvPr id="10" name="text-9-    # 调用前保存预">
            <a:extLst xmlns:a="http://schemas.openxmlformats.org/drawingml/2006/main">
              <a:ext uri="{FF2B5EF4-FFF2-40B4-BE49-F238E27FC236}">
                <a16:creationId xmlns:a16="http://schemas.microsoft.com/office/drawing/2014/main" id="{D65AE632-038F-4271-8A55-15D5DC8E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调用前保存预留额度，设置截止时间，并传递取消信号</a:t>
            </a:r>
          </a:p>
        </p:txBody>
      </p:sp>
      <p:sp>
        <p:nvSpPr>
          <p:cNvPr id="11" name="text-10-    # 调用后记录实">
            <a:extLst xmlns:a="http://schemas.openxmlformats.org/drawingml/2006/main">
              <a:ext uri="{FF2B5EF4-FFF2-40B4-BE49-F238E27FC236}">
                <a16:creationId xmlns:a16="http://schemas.microsoft.com/office/drawing/2014/main" id="{7AF569BF-5888-452F-86BF-562734D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调用后记录实际消耗，超时或故障时返回异常</a:t>
            </a:r>
          </a:p>
        </p:txBody>
      </p:sp>
      <p:sp>
        <p:nvSpPr>
          <p:cNvPr id="12" name="text-11-    # verify">
            <a:extLst xmlns:a="http://schemas.openxmlformats.org/drawingml/2006/main">
              <a:ext uri="{FF2B5EF4-FFF2-40B4-BE49-F238E27FC236}">
                <a16:creationId xmlns:a16="http://schemas.microsoft.com/office/drawing/2014/main" id="{710CF0F7-48EF-49E5-94C6-FE2138DE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verify 返回通过、失败或未知，并附上检查报告</a:t>
            </a:r>
          </a:p>
        </p:txBody>
      </p:sp>
      <p:sp>
        <p:nvSpPr>
          <p:cNvPr id="13" name="text-12-    return {">
            <a:extLst xmlns:a="http://schemas.openxmlformats.org/drawingml/2006/main">
              <a:ext uri="{FF2B5EF4-FFF2-40B4-BE49-F238E27FC236}">
                <a16:creationId xmlns:a16="http://schemas.microsoft.com/office/drawing/2014/main" id="{AD0C123C-3438-4085-B789-652B12BB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return {work, verdict}            # 返回修改内容和检查结果</a:t>
            </a:r>
          </a:p>
        </p:txBody>
      </p:sp>
    </p:spTree>
    <p:extLst>
      <p:ext uri="{BB962C8B-B14F-4D97-AF65-F5344CB8AC3E}">
        <p14:creationId xmlns:p14="http://schemas.microsoft.com/office/powerpoint/2010/main" val="8325267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-伪代码：保存状态与判断停">
            <a:extLst xmlns:a="http://schemas.openxmlformats.org/drawingml/2006/main">
              <a:ext uri="{FF2B5EF4-FFF2-40B4-BE49-F238E27FC236}">
                <a16:creationId xmlns:a16="http://schemas.microsoft.com/office/drawing/2014/main" id="{9C0981A7-A834-467C-B913-F600AAFA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伪代码：保存状态与判断停止</a:t>
            </a:r>
          </a:p>
        </p:txBody>
      </p:sp>
      <p:sp>
        <p:nvSpPr>
          <p:cNvPr id="2" name="text-1-3 / 3  保存检查结">
            <a:extLst xmlns:a="http://schemas.openxmlformats.org/drawingml/2006/main">
              <a:ext uri="{FF2B5EF4-FFF2-40B4-BE49-F238E27FC236}">
                <a16:creationId xmlns:a16="http://schemas.microsoft.com/office/drawing/2014/main" id="{2ACD7170-EDE1-4029-84B7-9326F20F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3 / 3  保存检查结果，并确定继续修改还是停止</a:t>
            </a:r>
          </a:p>
        </p:txBody>
      </p:sp>
      <p:sp>
        <p:nvSpPr>
          <p:cNvPr id="3" name="text-2-13">
            <a:extLst xmlns:a="http://schemas.openxmlformats.org/drawingml/2006/main">
              <a:ext uri="{FF2B5EF4-FFF2-40B4-BE49-F238E27FC236}">
                <a16:creationId xmlns:a16="http://schemas.microsoft.com/office/drawing/2014/main" id="{31F2CC6D-8CD1-4B5C-B224-1AE0E3AB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-3-    state = ">
            <a:extLst xmlns:a="http://schemas.openxmlformats.org/drawingml/2006/main">
              <a:ext uri="{FF2B5EF4-FFF2-40B4-BE49-F238E27FC236}">
                <a16:creationId xmlns:a16="http://schemas.microsoft.com/office/drawing/2014/main" id="{8DEC0072-C071-4B6D-9D7E-1876D1A0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state = merge(state, result, attempt)  # 记录检查结果与轮次</a:t>
            </a:r>
          </a:p>
        </p:txBody>
      </p:sp>
      <p:sp>
        <p:nvSpPr>
          <p:cNvPr id="5" name="text-4-    atomic_s">
            <a:extLst xmlns:a="http://schemas.openxmlformats.org/drawingml/2006/main">
              <a:ext uri="{FF2B5EF4-FFF2-40B4-BE49-F238E27FC236}">
                <a16:creationId xmlns:a16="http://schemas.microsoft.com/office/drawing/2014/main" id="{C16F7266-5A02-473B-A5AA-78DE9796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atomic_save(state)                    # 先写临时文件，再替换</a:t>
            </a:r>
          </a:p>
        </p:txBody>
      </p:sp>
      <p:sp>
        <p:nvSpPr>
          <p:cNvPr id="6" name="text-5-    if accep">
            <a:extLst xmlns:a="http://schemas.openxmlformats.org/drawingml/2006/main">
              <a:ext uri="{FF2B5EF4-FFF2-40B4-BE49-F238E27FC236}">
                <a16:creationId xmlns:a16="http://schemas.microsoft.com/office/drawing/2014/main" id="{40F6E650-F6CA-45B3-BE9F-2DAD53EB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accepts(result, accept):           # 所有必需检查已经通过</a:t>
            </a:r>
          </a:p>
        </p:txBody>
      </p:sp>
      <p:sp>
        <p:nvSpPr>
          <p:cNvPr id="7" name="text-6-        retu">
            <a:extLst xmlns:a="http://schemas.openxmlformats.org/drawingml/2006/main">
              <a:ext uri="{FF2B5EF4-FFF2-40B4-BE49-F238E27FC236}">
                <a16:creationId xmlns:a16="http://schemas.microsoft.com/office/drawing/2014/main" id="{CB3297CC-A3E7-4954-9DC8-6568C8F8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stop_and_save(SUCCESS, state)</a:t>
            </a:r>
          </a:p>
        </p:txBody>
      </p:sp>
      <p:sp>
        <p:nvSpPr>
          <p:cNvPr id="8" name="text-7-    if resul">
            <a:extLst xmlns:a="http://schemas.openxmlformats.org/drawingml/2006/main">
              <a:ext uri="{FF2B5EF4-FFF2-40B4-BE49-F238E27FC236}">
                <a16:creationId xmlns:a16="http://schemas.microsoft.com/office/drawing/2014/main" id="{3F1E8112-53CA-4F5D-A61A-CBE4415D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result.verdict == UNKNOWN:         # 未执行不能算通过</a:t>
            </a:r>
          </a:p>
        </p:txBody>
      </p:sp>
      <p:sp>
        <p:nvSpPr>
          <p:cNvPr id="9" name="text-8-        retu">
            <a:extLst xmlns:a="http://schemas.openxmlformats.org/drawingml/2006/main">
              <a:ext uri="{FF2B5EF4-FFF2-40B4-BE49-F238E27FC236}">
                <a16:creationId xmlns:a16="http://schemas.microsoft.com/office/drawing/2014/main" id="{A6AA9B1E-0046-4F64-8929-85C4B74F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stop_and_save(BLOCKED, state)</a:t>
            </a:r>
          </a:p>
        </p:txBody>
      </p:sp>
      <p:sp>
        <p:nvSpPr>
          <p:cNvPr id="10" name="text-9-    if no_pr">
            <a:extLst xmlns:a="http://schemas.openxmlformats.org/drawingml/2006/main">
              <a:ext uri="{FF2B5EF4-FFF2-40B4-BE49-F238E27FC236}">
                <a16:creationId xmlns:a16="http://schemas.microsoft.com/office/drawing/2014/main" id="{FE875D42-1E58-40CB-85EC-ADAA9AA4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no_progress(state):                # 连续多轮未解决问题</a:t>
            </a:r>
          </a:p>
        </p:txBody>
      </p:sp>
      <p:sp>
        <p:nvSpPr>
          <p:cNvPr id="11" name="text-10-        retu">
            <a:extLst xmlns:a="http://schemas.openxmlformats.org/drawingml/2006/main">
              <a:ext uri="{FF2B5EF4-FFF2-40B4-BE49-F238E27FC236}">
                <a16:creationId xmlns:a16="http://schemas.microsoft.com/office/drawing/2014/main" id="{5DD965F6-69BB-42D9-BB5C-6998C516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stop_and_save(STALLED, state)</a:t>
            </a:r>
          </a:p>
        </p:txBody>
      </p:sp>
      <p:sp>
        <p:nvSpPr>
          <p:cNvPr id="12" name="text-11-    # 否则，下一轮">
            <a:extLst xmlns:a="http://schemas.openxmlformats.org/drawingml/2006/main">
              <a:ext uri="{FF2B5EF4-FFF2-40B4-BE49-F238E27FC236}">
                <a16:creationId xmlns:a16="http://schemas.microsoft.com/office/drawing/2014/main" id="{14054D9D-A6D9-4616-9E10-7648F0E0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否则，下一轮根据失败原因确定修改内容</a:t>
            </a:r>
          </a:p>
        </p:txBody>
      </p:sp>
      <p:sp>
        <p:nvSpPr>
          <p:cNvPr id="13" name="text-12-return stop_">
            <a:extLst xmlns:a="http://schemas.openxmlformats.org/drawingml/2006/main">
              <a:ext uri="{FF2B5EF4-FFF2-40B4-BE49-F238E27FC236}">
                <a16:creationId xmlns:a16="http://schemas.microsoft.com/office/drawing/2014/main" id="{B3F578A7-097B-4AA9-849E-43896712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return stop_and_save(BUDGET, state)        # 轮次耗尽也保存</a:t>
            </a:r>
          </a:p>
        </p:txBody>
      </p:sp>
      <p:sp>
        <p:nvSpPr>
          <p:cNvPr id="14" name="text-13-# stop_and_s">
            <a:extLst xmlns:a="http://schemas.openxmlformats.org/drawingml/2006/main">
              <a:ext uri="{FF2B5EF4-FFF2-40B4-BE49-F238E27FC236}">
                <a16:creationId xmlns:a16="http://schemas.microsoft.com/office/drawing/2014/main" id="{5264ED63-AC01-4D58-998C-F32E8111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stop_and_save：保存状态，报告结果和下一步建议</a:t>
            </a:r>
          </a:p>
        </p:txBody>
      </p:sp>
    </p:spTree>
    <p:extLst>
      <p:ext uri="{BB962C8B-B14F-4D97-AF65-F5344CB8AC3E}">
        <p14:creationId xmlns:p14="http://schemas.microsoft.com/office/powerpoint/2010/main" val="11032367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教学案例：UART 流式">
            <a:extLst xmlns:a="http://schemas.openxmlformats.org/drawingml/2006/main">
              <a:ext uri="{FF2B5EF4-FFF2-40B4-BE49-F238E27FC236}">
                <a16:creationId xmlns:a16="http://schemas.microsoft.com/office/drawing/2014/main" id="{1E6FA0A8-3CD6-448C-9662-447CF8C6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教学案例：UART 流式协议解析</a:t>
            </a:r>
          </a:p>
        </p:txBody>
      </p:sp>
      <p:sp>
        <p:nvSpPr>
          <p:cNvPr id="2" name="text-1-目标：按既定协议正确处理">
            <a:extLst xmlns:a="http://schemas.openxmlformats.org/drawingml/2006/main">
              <a:ext uri="{FF2B5EF4-FFF2-40B4-BE49-F238E27FC236}">
                <a16:creationId xmlns:a16="http://schemas.microsoft.com/office/drawing/2014/main" id="{91E94438-54DE-4093-AE35-7759D437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目标：按既定协议正确处理分片输入和连续多帧输入</a:t>
            </a:r>
          </a:p>
        </p:txBody>
      </p:sp>
      <p:sp>
        <p:nvSpPr>
          <p:cNvPr id="3" name="text-2-14">
            <a:extLst xmlns:a="http://schemas.openxmlformats.org/drawingml/2006/main">
              <a:ext uri="{FF2B5EF4-FFF2-40B4-BE49-F238E27FC236}">
                <a16:creationId xmlns:a16="http://schemas.microsoft.com/office/drawing/2014/main" id="{13AEBEFC-748F-4E0C-8610-273D2E2B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305800"/>
              </a:tblGrid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具体要求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输入格式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字节同步头 + 长度 + 载荷 + 2 字节 CRC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正常输入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未收齐的帧继续等待，连续完整帧逐个输出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异常输入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拒绝长度越界与 CRC 错误，按规格恢复同步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验收条件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既定用例与构建通过，相关回归无新增失败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允许修改范围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限定解析模块，保持既有协议与接口不变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CRC 参数、字节序和最">
            <a:extLst xmlns:a="http://schemas.openxmlformats.org/drawingml/2006/main">
              <a:ext uri="{FF2B5EF4-FFF2-40B4-BE49-F238E27FC236}">
                <a16:creationId xmlns:a16="http://schemas.microsoft.com/office/drawing/2014/main" id="{052559DE-E42C-49EE-BB04-F5538111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CRC 参数、字节序和最大载荷需在协议规格中提前确定。</a:t>
            </a:r>
          </a:p>
        </p:txBody>
      </p:sp>
    </p:spTree>
    <p:extLst>
      <p:ext uri="{BB962C8B-B14F-4D97-AF65-F5344CB8AC3E}">
        <p14:creationId xmlns:p14="http://schemas.microsoft.com/office/powerpoint/2010/main" val="2088323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UART 示例：三轮修改">
            <a:extLst xmlns:a="http://schemas.openxmlformats.org/drawingml/2006/main">
              <a:ext uri="{FF2B5EF4-FFF2-40B4-BE49-F238E27FC236}">
                <a16:creationId xmlns:a16="http://schemas.microsoft.com/office/drawing/2014/main" id="{57E3659D-1EEA-40D6-A3B3-0A22B3D9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UART 示例：三轮修改过程</a:t>
            </a:r>
          </a:p>
        </p:txBody>
      </p:sp>
      <p:sp>
        <p:nvSpPr>
          <p:cNvPr id="2" name="text-1-按失败原因逐项修改，每轮">
            <a:extLst xmlns:a="http://schemas.openxmlformats.org/drawingml/2006/main">
              <a:ext uri="{FF2B5EF4-FFF2-40B4-BE49-F238E27FC236}">
                <a16:creationId xmlns:a16="http://schemas.microsoft.com/office/drawing/2014/main" id="{5D6C262D-68E0-4C79-930F-29FFEA07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按失败原因逐项修改，每轮重新运行测试（教学假设）</a:t>
            </a:r>
          </a:p>
        </p:txBody>
      </p:sp>
      <p:sp>
        <p:nvSpPr>
          <p:cNvPr id="3" name="text-2-15">
            <a:extLst xmlns:a="http://schemas.openxmlformats.org/drawingml/2006/main">
              <a:ext uri="{FF2B5EF4-FFF2-40B4-BE49-F238E27FC236}">
                <a16:creationId xmlns:a16="http://schemas.microsoft.com/office/drawing/2014/main" id="{1880A5FB-DFE6-4EA7-B978-FDF78F5D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952500"/>
                <a:gridCol w="3048000"/>
                <a:gridCol w="3429000"/>
                <a:gridCol w="3543300"/>
              </a:tblGrid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本轮问题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修改内容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本轮验证内容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未收齐的帧被丢弃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保留未收齐的帧数据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分片用例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异常长度未正确拒绝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先检查长度与缓存边界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长度边界及原有用例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错误帧后无法恢复解析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跳过错误字节并恢复同步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CRC、恢复及完整回归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每轮记录代码修改、测试结">
            <a:extLst xmlns:a="http://schemas.openxmlformats.org/drawingml/2006/main">
              <a:ext uri="{FF2B5EF4-FFF2-40B4-BE49-F238E27FC236}">
                <a16:creationId xmlns:a16="http://schemas.microsoft.com/office/drawing/2014/main" id="{68D43D37-99A1-49C9-AF57-35A6C7E2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每轮记录代码修改、测试结果、剩余问题和下一轮任务。</a:t>
            </a:r>
          </a:p>
        </p:txBody>
      </p:sp>
    </p:spTree>
    <p:extLst>
      <p:ext uri="{BB962C8B-B14F-4D97-AF65-F5344CB8AC3E}">
        <p14:creationId xmlns:p14="http://schemas.microsoft.com/office/powerpoint/2010/main" val="10645783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-主机测试与板端测试">
            <a:extLst xmlns:a="http://schemas.openxmlformats.org/drawingml/2006/main">
              <a:ext uri="{FF2B5EF4-FFF2-40B4-BE49-F238E27FC236}">
                <a16:creationId xmlns:a16="http://schemas.microsoft.com/office/drawing/2014/main" id="{F9A23B67-D48A-4A76-9ABC-B48F7932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主机测试与板端测试</a:t>
            </a:r>
          </a:p>
        </p:txBody>
      </p:sp>
      <p:sp>
        <p:nvSpPr>
          <p:cNvPr id="2" name="text-1-主机测试检查解析逻辑，板">
            <a:extLst xmlns:a="http://schemas.openxmlformats.org/drawingml/2006/main">
              <a:ext uri="{FF2B5EF4-FFF2-40B4-BE49-F238E27FC236}">
                <a16:creationId xmlns:a16="http://schemas.microsoft.com/office/drawing/2014/main" id="{EB778585-C02E-49B6-8DA7-746C27A2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主机测试检查解析逻辑，板端测试检查实际设备行为</a:t>
            </a:r>
          </a:p>
        </p:txBody>
      </p:sp>
      <p:sp>
        <p:nvSpPr>
          <p:cNvPr id="3" name="text-2-16">
            <a:extLst xmlns:a="http://schemas.openxmlformats.org/drawingml/2006/main">
              <a:ext uri="{FF2B5EF4-FFF2-40B4-BE49-F238E27FC236}">
                <a16:creationId xmlns:a16="http://schemas.microsoft.com/office/drawing/2014/main" id="{2B08E539-E36C-4131-9D32-127E6B9F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-3-主机侧检查内容">
            <a:extLst xmlns:a="http://schemas.openxmlformats.org/drawingml/2006/main">
              <a:ext uri="{FF2B5EF4-FFF2-40B4-BE49-F238E27FC236}">
                <a16:creationId xmlns:a16="http://schemas.microsoft.com/office/drawing/2014/main" id="{1D0939E4-A79F-4C24-A919-49F8C31A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主机侧检查内容</a:t>
            </a:r>
          </a:p>
        </p:txBody>
      </p:sp>
      <p:sp>
        <p:nvSpPr>
          <p:cNvPr id="5" name="text-4-分片、粘包与非法输入&#10;内">
            <a:extLst xmlns:a="http://schemas.openxmlformats.org/drawingml/2006/main">
              <a:ext uri="{FF2B5EF4-FFF2-40B4-BE49-F238E27FC236}">
                <a16:creationId xmlns:a16="http://schemas.microsoft.com/office/drawing/2014/main" id="{6849AB1B-4B9E-4FC5-BDAE-D3BE2685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分片、粘包与非法输入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内存边界与协议回归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构建与静态检查</a:t>
            </a:r>
          </a:p>
        </p:txBody>
      </p:sp>
      <p:sp>
        <p:nvSpPr>
          <p:cNvPr id="6" name="text-5-板端检查内容">
            <a:extLst xmlns:a="http://schemas.openxmlformats.org/drawingml/2006/main">
              <a:ext uri="{FF2B5EF4-FFF2-40B4-BE49-F238E27FC236}">
                <a16:creationId xmlns:a16="http://schemas.microsoft.com/office/drawing/2014/main" id="{D0E3DB11-AE85-408C-9DDA-3564B007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板端检查内容</a:t>
            </a:r>
          </a:p>
        </p:txBody>
      </p:sp>
      <p:sp>
        <p:nvSpPr>
          <p:cNvPr id="7" name="text-6-中断与任务之间的数据传递">
            <a:extLst xmlns:a="http://schemas.openxmlformats.org/drawingml/2006/main">
              <a:ext uri="{FF2B5EF4-FFF2-40B4-BE49-F238E27FC236}">
                <a16:creationId xmlns:a16="http://schemas.microsoft.com/office/drawing/2014/main" id="{CDA67845-8E22-496B-9FDD-D0621899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中断与任务之间的数据传递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DMA / 缓冲区并发行为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复位恢复、吞吐与时序</a:t>
            </a:r>
          </a:p>
        </p:txBody>
      </p:sp>
      <p:sp>
        <p:nvSpPr>
          <p:cNvPr id="8" name="text-7-设备不可用时，保存软件测">
            <a:extLst xmlns:a="http://schemas.openxmlformats.org/drawingml/2006/main">
              <a:ext uri="{FF2B5EF4-FFF2-40B4-BE49-F238E27FC236}">
                <a16:creationId xmlns:a16="http://schemas.microsoft.com/office/drawing/2014/main" id="{699AF785-7CFF-4E4E-8E98-13A884AC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915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设备不可用时，保存软件测试报告，并列出待执行的板端检查。</a:t>
            </a:r>
          </a:p>
        </p:txBody>
      </p:sp>
    </p:spTree>
    <p:extLst>
      <p:ext uri="{BB962C8B-B14F-4D97-AF65-F5344CB8AC3E}">
        <p14:creationId xmlns:p14="http://schemas.microsoft.com/office/powerpoint/2010/main" val="8958145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-循环执行的成本">
            <a:extLst xmlns:a="http://schemas.openxmlformats.org/drawingml/2006/main">
              <a:ext uri="{FF2B5EF4-FFF2-40B4-BE49-F238E27FC236}">
                <a16:creationId xmlns:a16="http://schemas.microsoft.com/office/drawing/2014/main" id="{76DFFD53-6679-4266-96D9-422C4987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循环执行的成本</a:t>
            </a:r>
          </a:p>
        </p:txBody>
      </p:sp>
      <p:sp>
        <p:nvSpPr>
          <p:cNvPr id="2" name="text-1-统计模型、工具和人工费用">
            <a:extLst xmlns:a="http://schemas.openxmlformats.org/drawingml/2006/main">
              <a:ext uri="{FF2B5EF4-FFF2-40B4-BE49-F238E27FC236}">
                <a16:creationId xmlns:a16="http://schemas.microsoft.com/office/drawing/2014/main" id="{962A78A7-1ACF-4643-82DA-5DE18B4B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统计模型、工具和人工费用，再计算每项完成任务的成本</a:t>
            </a:r>
          </a:p>
        </p:txBody>
      </p:sp>
      <p:sp>
        <p:nvSpPr>
          <p:cNvPr id="3" name="text-2-17">
            <a:extLst xmlns:a="http://schemas.openxmlformats.org/drawingml/2006/main">
              <a:ext uri="{FF2B5EF4-FFF2-40B4-BE49-F238E27FC236}">
                <a16:creationId xmlns:a16="http://schemas.microsoft.com/office/drawing/2014/main" id="{83CBF094-B0C7-4355-8B28-78D18E5B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152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5353050"/>
                <a:gridCol w="2476500"/>
              </a:tblGrid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每轮输入的组织方式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至 5 次调用，千 token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累计输入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每轮保留全部历史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12 / 16 / 20 / 24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 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每轮使用固定长度摘要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8 / 8 / 8 / 8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教学假设：5 次调用，仅">
            <a:extLst xmlns:a="http://schemas.openxmlformats.org/drawingml/2006/main">
              <a:ext uri="{FF2B5EF4-FFF2-40B4-BE49-F238E27FC236}">
                <a16:creationId xmlns:a16="http://schemas.microsoft.com/office/drawing/2014/main" id="{E80A49A8-4155-49E1-BE4F-B7324A0C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1091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教学假设：5 次调用，仅计算输入，不含缓存、输出与工具。</a:t>
            </a:r>
          </a:p>
        </p:txBody>
      </p:sp>
      <p:sp>
        <p:nvSpPr>
          <p:cNvPr id="6" name="text-4-每项完成任务的成本 =（">
            <a:extLst xmlns:a="http://schemas.openxmlformats.org/drawingml/2006/main">
              <a:ext uri="{FF2B5EF4-FFF2-40B4-BE49-F238E27FC236}">
                <a16:creationId xmlns:a16="http://schemas.microsoft.com/office/drawing/2014/main" id="{11BBB9A0-EDE7-4D6D-A2BD-0142D984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每项完成任务的成本 =（模型 + 工具 + 人工费用）÷ 完成任务数</a:t>
            </a:r>
          </a:p>
        </p:txBody>
      </p:sp>
    </p:spTree>
    <p:extLst>
      <p:ext uri="{BB962C8B-B14F-4D97-AF65-F5344CB8AC3E}">
        <p14:creationId xmlns:p14="http://schemas.microsoft.com/office/powerpoint/2010/main" val="9622193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常见问题与处理方法">
            <a:extLst xmlns:a="http://schemas.openxmlformats.org/drawingml/2006/main">
              <a:ext uri="{FF2B5EF4-FFF2-40B4-BE49-F238E27FC236}">
                <a16:creationId xmlns:a16="http://schemas.microsoft.com/office/drawing/2014/main" id="{EA5C3ADE-18EA-4F91-B51D-C0C78DDD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常见问题与处理方法</a:t>
            </a:r>
          </a:p>
        </p:txBody>
      </p:sp>
      <p:sp>
        <p:nvSpPr>
          <p:cNvPr id="2" name="text-1-根据具体问题，修改检查、">
            <a:extLst xmlns:a="http://schemas.openxmlformats.org/drawingml/2006/main">
              <a:ext uri="{FF2B5EF4-FFF2-40B4-BE49-F238E27FC236}">
                <a16:creationId xmlns:a16="http://schemas.microsoft.com/office/drawing/2014/main" id="{30A79AEC-7321-4A48-B5D6-439862FB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根据具体问题，修改检查、重试或恢复方式</a:t>
            </a:r>
          </a:p>
        </p:txBody>
      </p:sp>
      <p:sp>
        <p:nvSpPr>
          <p:cNvPr id="3" name="text-2-18">
            <a:extLst xmlns:a="http://schemas.openxmlformats.org/drawingml/2006/main">
              <a:ext uri="{FF2B5EF4-FFF2-40B4-BE49-F238E27FC236}">
                <a16:creationId xmlns:a16="http://schemas.microsoft.com/office/drawing/2014/main" id="{DCF66A5D-6D2B-4A34-A277-0C2D7308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524375"/>
                <a:gridCol w="4067175"/>
              </a:tblGrid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具体表现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未检查就报告完成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说完成，测试没有执行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必须读取实际检查结果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重复修改无效果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多轮修改后，相同用例仍失败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达到次数上限后转交人工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降低验收标准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删除用例或放宽阈值后通过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保持原标准，单独审查变更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使用过期报告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报告与当前代码版本不一致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记录版本，恢复时重新核对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重复执行操作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重复创建工单或提交相同结果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用唯一编号去重，防止并发执行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8269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-闭环的搭建顺序">
            <a:extLst xmlns:a="http://schemas.openxmlformats.org/drawingml/2006/main">
              <a:ext uri="{FF2B5EF4-FFF2-40B4-BE49-F238E27FC236}">
                <a16:creationId xmlns:a16="http://schemas.microsoft.com/office/drawing/2014/main" id="{4A11FAC6-5388-4FE3-92EA-014C8200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闭环的搭建顺序</a:t>
            </a:r>
          </a:p>
        </p:txBody>
      </p:sp>
      <p:sp>
        <p:nvSpPr>
          <p:cNvPr id="2" name="text-1-先手动验证完整流程，再配">
            <a:extLst xmlns:a="http://schemas.openxmlformats.org/drawingml/2006/main">
              <a:ext uri="{FF2B5EF4-FFF2-40B4-BE49-F238E27FC236}">
                <a16:creationId xmlns:a16="http://schemas.microsoft.com/office/drawing/2014/main" id="{AE8AB19E-0E43-40DA-BA86-F59562CB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先手动验证完整流程，再配置循环执行与定时启动</a:t>
            </a:r>
          </a:p>
        </p:txBody>
      </p:sp>
      <p:sp>
        <p:nvSpPr>
          <p:cNvPr id="3" name="text-2-19">
            <a:extLst xmlns:a="http://schemas.openxmlformats.org/drawingml/2006/main">
              <a:ext uri="{FF2B5EF4-FFF2-40B4-BE49-F238E27FC236}">
                <a16:creationId xmlns:a16="http://schemas.microsoft.com/office/drawing/2014/main" id="{F9485B68-107A-411C-9276-8049627F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DB25C39F-C17C-4DBB-84A7-3B9501A5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手动完成一次任务">
            <a:extLst xmlns:a="http://schemas.openxmlformats.org/drawingml/2006/main">
              <a:ext uri="{FF2B5EF4-FFF2-40B4-BE49-F238E27FC236}">
                <a16:creationId xmlns:a16="http://schemas.microsoft.com/office/drawing/2014/main" id="{65483468-11D3-4547-A807-52DBAB6C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97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手动完成一次任务</a:t>
            </a:r>
          </a:p>
        </p:txBody>
      </p:sp>
      <p:sp>
        <p:nvSpPr>
          <p:cNvPr id="6" name="text-5-明确输入、操作步骤和验收">
            <a:extLst xmlns:a="http://schemas.openxmlformats.org/drawingml/2006/main">
              <a:ext uri="{FF2B5EF4-FFF2-40B4-BE49-F238E27FC236}">
                <a16:creationId xmlns:a16="http://schemas.microsoft.com/office/drawing/2014/main" id="{7A819899-D43E-40E3-A725-09557E35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479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明确输入、操作步骤和验收方法，保存检查报告。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787D54D7-2BC0-41B2-A28D-714320B5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将步骤写为 Skill">
            <a:extLst xmlns:a="http://schemas.openxmlformats.org/drawingml/2006/main">
              <a:ext uri="{FF2B5EF4-FFF2-40B4-BE49-F238E27FC236}">
                <a16:creationId xmlns:a16="http://schemas.microsoft.com/office/drawing/2014/main" id="{848A5467-BC55-4014-8CFD-44043065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908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将步骤写为 Skill</a:t>
            </a:r>
          </a:p>
        </p:txBody>
      </p:sp>
      <p:sp>
        <p:nvSpPr>
          <p:cNvPr id="9" name="text-8-保存可复用步骤、允许的操">
            <a:extLst xmlns:a="http://schemas.openxmlformats.org/drawingml/2006/main">
              <a:ext uri="{FF2B5EF4-FFF2-40B4-BE49-F238E27FC236}">
                <a16:creationId xmlns:a16="http://schemas.microsoft.com/office/drawing/2014/main" id="{CC7CA75F-314A-410D-844B-FCD9E3E0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290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保存可复用步骤、允许的操作范围和错误处理方法。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6B96A4CE-41EA-4041-90F2-4AA6BAD6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配置循环执行与停止条件">
            <a:extLst xmlns:a="http://schemas.openxmlformats.org/drawingml/2006/main">
              <a:ext uri="{FF2B5EF4-FFF2-40B4-BE49-F238E27FC236}">
                <a16:creationId xmlns:a16="http://schemas.microsoft.com/office/drawing/2014/main" id="{5E96FC55-E925-493B-9BCB-A96427D3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719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配置循环执行与停止条件</a:t>
            </a:r>
          </a:p>
        </p:txBody>
      </p:sp>
      <p:sp>
        <p:nvSpPr>
          <p:cNvPr id="12" name="text-11-加入检查、状态保存、资源">
            <a:extLst xmlns:a="http://schemas.openxmlformats.org/drawingml/2006/main">
              <a:ext uri="{FF2B5EF4-FFF2-40B4-BE49-F238E27FC236}">
                <a16:creationId xmlns:a16="http://schemas.microsoft.com/office/drawing/2014/main" id="{2BBD20C6-CCDA-4EF8-81A3-553510B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100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加入检查、状态保存、资源限制和人工处理步骤。</a:t>
            </a:r>
          </a:p>
        </p:txBody>
      </p:sp>
      <p:sp>
        <p:nvSpPr>
          <p:cNvPr id="13" name="text-12-04">
            <a:extLst xmlns:a="http://schemas.openxmlformats.org/drawingml/2006/main">
              <a:ext uri="{FF2B5EF4-FFF2-40B4-BE49-F238E27FC236}">
                <a16:creationId xmlns:a16="http://schemas.microsoft.com/office/drawing/2014/main" id="{94A777F0-E2CA-401F-A589-59B957E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3-设置事件触发或定时启动">
            <a:extLst xmlns:a="http://schemas.openxmlformats.org/drawingml/2006/main">
              <a:ext uri="{FF2B5EF4-FFF2-40B4-BE49-F238E27FC236}">
                <a16:creationId xmlns:a16="http://schemas.microsoft.com/office/drawing/2014/main" id="{6375F3AF-8EB7-4FCD-8201-C0729467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530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设置事件触发或定时启动</a:t>
            </a:r>
          </a:p>
        </p:txBody>
      </p:sp>
      <p:sp>
        <p:nvSpPr>
          <p:cNvPr id="15" name="text-14-连续试运行，记录完成情况">
            <a:extLst xmlns:a="http://schemas.openxmlformats.org/drawingml/2006/main">
              <a:ext uri="{FF2B5EF4-FFF2-40B4-BE49-F238E27FC236}">
                <a16:creationId xmlns:a16="http://schemas.microsoft.com/office/drawing/2014/main" id="{67687867-FEFE-40FC-AC91-4B85BEC0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3911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连续试运行，记录完成情况、费用和失败原因。</a:t>
            </a:r>
          </a:p>
        </p:txBody>
      </p:sp>
    </p:spTree>
    <p:extLst>
      <p:ext uri="{BB962C8B-B14F-4D97-AF65-F5344CB8AC3E}">
        <p14:creationId xmlns:p14="http://schemas.microsoft.com/office/powerpoint/2010/main" val="696375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-首次试运行的配置内容">
            <a:extLst xmlns:a="http://schemas.openxmlformats.org/drawingml/2006/main">
              <a:ext uri="{FF2B5EF4-FFF2-40B4-BE49-F238E27FC236}">
                <a16:creationId xmlns:a16="http://schemas.microsoft.com/office/drawing/2014/main" id="{825BA1F1-9B43-4471-9262-41C7A4A9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首次试运行的配置内容</a:t>
            </a:r>
          </a:p>
        </p:txBody>
      </p:sp>
      <p:sp>
        <p:nvSpPr>
          <p:cNvPr id="2" name="text-1-选择一个具体任务，明确验">
            <a:extLst xmlns:a="http://schemas.openxmlformats.org/drawingml/2006/main">
              <a:ext uri="{FF2B5EF4-FFF2-40B4-BE49-F238E27FC236}">
                <a16:creationId xmlns:a16="http://schemas.microsoft.com/office/drawing/2014/main" id="{3CD8F8F2-C96A-416E-8219-E0DE35BB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选择一个具体任务，明确验收标准、重试方式和停止条件</a:t>
            </a:r>
          </a:p>
        </p:txBody>
      </p:sp>
      <p:sp>
        <p:nvSpPr>
          <p:cNvPr id="3" name="text-2-20">
            <a:extLst xmlns:a="http://schemas.openxmlformats.org/drawingml/2006/main">
              <a:ext uri="{FF2B5EF4-FFF2-40B4-BE49-F238E27FC236}">
                <a16:creationId xmlns:a16="http://schemas.microsoft.com/office/drawing/2014/main" id="{2B4256A0-FE6A-443F-A6FC-92D228B0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text-3-验收：运行哪些检查，怎样">
            <a:extLst xmlns:a="http://schemas.openxmlformats.org/drawingml/2006/main">
              <a:ext uri="{FF2B5EF4-FFF2-40B4-BE49-F238E27FC236}">
                <a16:creationId xmlns:a16="http://schemas.microsoft.com/office/drawing/2014/main" id="{6227FBB5-462E-42BF-B162-714C8DF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验收：运行哪些检查，怎样算通过</a:t>
            </a:r>
          </a:p>
        </p:txBody>
      </p:sp>
      <p:sp>
        <p:nvSpPr>
          <p:cNvPr id="5" name="text-4-重试：根据失败原因确定下">
            <a:extLst xmlns:a="http://schemas.openxmlformats.org/drawingml/2006/main">
              <a:ext uri="{FF2B5EF4-FFF2-40B4-BE49-F238E27FC236}">
                <a16:creationId xmlns:a16="http://schemas.microsoft.com/office/drawing/2014/main" id="{7C7CC1B5-4FDC-4DEF-9CE8-4771E803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重试：根据失败原因确定下一轮修改</a:t>
            </a:r>
          </a:p>
        </p:txBody>
      </p:sp>
      <p:sp>
        <p:nvSpPr>
          <p:cNvPr id="6" name="text-5-停止：定义次数、时间和资">
            <a:extLst xmlns:a="http://schemas.openxmlformats.org/drawingml/2006/main">
              <a:ext uri="{FF2B5EF4-FFF2-40B4-BE49-F238E27FC236}">
                <a16:creationId xmlns:a16="http://schemas.microsoft.com/office/drawing/2014/main" id="{72DBA730-8F61-47A1-A5BF-B6903928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停止：定义次数、时间和资源上限</a:t>
            </a:r>
          </a:p>
        </p:txBody>
      </p:sp>
      <p:sp>
        <p:nvSpPr>
          <p:cNvPr id="7" name="text-6-执行后保存修改内容、检查">
            <a:extLst xmlns:a="http://schemas.openxmlformats.org/drawingml/2006/main">
              <a:ext uri="{FF2B5EF4-FFF2-40B4-BE49-F238E27FC236}">
                <a16:creationId xmlns:a16="http://schemas.microsoft.com/office/drawing/2014/main" id="{E650A9E3-9049-4112-8F5B-DECFF816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8642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执行后保存修改内容、检查报告、剩余问题和下一步操作。</a:t>
            </a:r>
          </a:p>
        </p:txBody>
      </p:sp>
    </p:spTree>
    <p:extLst>
      <p:ext uri="{BB962C8B-B14F-4D97-AF65-F5344CB8AC3E}">
        <p14:creationId xmlns:p14="http://schemas.microsoft.com/office/powerpoint/2010/main" val="901649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2026-09-08T07:11:05.9870000Z</dcterms:created>
  <dcterms:modified xsi:type="dcterms:W3CDTF">2026-09-08T07:11:05.9870000Z</dcterms:modified>
</coreProperties>
</file>